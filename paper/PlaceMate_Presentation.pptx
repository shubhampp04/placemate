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Calibri"/>
              </a:defRPr>
            </a:pPr>
            <a:r>
              <a:rPr sz="1300" b="0" i="0" u="none" strike="noStrike">
                <a:solidFill>
                  <a:srgbClr val="FFFFFF"/>
                </a:solidFill>
                <a:latin typeface="Calibri"/>
              </a:rPr>
              <a:t>Initial JavaScript payload (kB)</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F87171"/>
            </a:solidFill>
            <a:effectLst/>
          </c:spPr>
          <c:invertIfNegative val="0"/>
          <c:dLbls>
            <c:numFmt formatCode="#,##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Entry, raw</c:v>
                  </c:pt>
                  <c:pt idx="1">
                    <c:v>Entry, gzip</c:v>
                  </c:pt>
                </c:lvl>
              </c:multiLvlStrCache>
            </c:multiLvlStrRef>
          </c:cat>
          <c:val>
            <c:numRef>
              <c:f>Sheet1!$B$2:$B$3</c:f>
              <c:numCache>
                <c:formatCode>General</c:formatCode>
                <c:ptCount val="2"/>
                <c:pt idx="0">
                  <c:v>740</c:v>
                </c:pt>
                <c:pt idx="1">
                  <c:v>206</c:v>
                </c:pt>
              </c:numCache>
            </c:numRef>
          </c:val>
        </c:ser>
        <c:ser>
          <c:idx val="1"/>
          <c:order val="1"/>
          <c:tx>
            <c:strRef>
              <c:f>Sheet1!$C$1</c:f>
              <c:strCache>
                <c:ptCount val="1"/>
                <c:pt idx="0">
                  <c:v>After</c:v>
                </c:pt>
              </c:strCache>
            </c:strRef>
          </c:tx>
          <c:spPr>
            <a:solidFill>
              <a:srgbClr val="22C55E"/>
            </a:solidFill>
            <a:effectLst/>
          </c:spPr>
          <c:invertIfNegative val="0"/>
          <c:dLbls>
            <c:numFmt formatCode="#,##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Entry, raw</c:v>
                  </c:pt>
                  <c:pt idx="1">
                    <c:v>Entry, gzip</c:v>
                  </c:pt>
                </c:lvl>
              </c:multiLvlStrCache>
            </c:multiLvlStrRef>
          </c:cat>
          <c:val>
            <c:numRef>
              <c:f>Sheet1!$C$2:$C$3</c:f>
              <c:numCache>
                <c:formatCode>General</c:formatCode>
                <c:ptCount val="2"/>
                <c:pt idx="0">
                  <c:v>336</c:v>
                </c:pt>
                <c:pt idx="1">
                  <c:v>91</c:v>
                </c:pt>
              </c:numCache>
            </c:numRef>
          </c:val>
        </c:ser>
        <c:dLbls>
          <c:numFmt formatCode="#,##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8BDB2"/>
                </a:solidFill>
                <a:latin typeface="Calibri"/>
              </a:defRPr>
            </a:pPr>
            <a:endParaRPr lang="en-US"/>
          </a:p>
        </c:txPr>
        <c:crossAx val="2094734552"/>
        <c:crosses val="autoZero"/>
        <c:auto val="1"/>
        <c:lblAlgn val="ctr"/>
        <c:noMultiLvlLbl val="1"/>
      </c:catAx>
      <c:valAx>
        <c:axId val="2094734552"/>
        <c:scaling>
          <c:orientation val="minMax"/>
          <c:max val="800"/>
        </c:scaling>
        <c:delete val="0"/>
        <c:axPos val="l"/>
        <c:majorGridlines>
          <c:spPr>
            <a:ln w="6350" cap="flat">
              <a:solidFill>
                <a:srgbClr val="274A3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8BDB2"/>
                </a:solidFill>
                <a:latin typeface="Calibri"/>
              </a:defRPr>
            </a:pPr>
            <a:endParaRPr lang="en-US"/>
          </a:p>
        </c:txPr>
        <c:crossAx val="2094734554"/>
        <c:crosses val="autoZero"/>
        <c:crossBetween val="between"/>
      </c:valAx>
      <c:spPr>
        <a:solidFill>
          <a:srgbClr val="132A20"/>
        </a:solidFill>
        <a:ln>
          <a:noFill/>
        </a:ln>
        <a:effectLst/>
      </c:spPr>
    </c:plotArea>
    <c:legend>
      <c:legendPos val="b"/>
      <c:overlay val="0"/>
      <c:txPr>
        <a:bodyPr/>
        <a:lstStyle/>
        <a:p>
          <a:pPr>
            <a:defRPr sz="1100">
              <a:solidFill>
                <a:srgbClr val="A8BDB2"/>
              </a:solidFill>
              <a:latin typeface="Calibri"/>
              <a:cs typeface="Calibri"/>
            </a:defRPr>
          </a:pPr>
          <a:endParaRPr lang="en-US"/>
        </a:p>
      </c:txPr>
    </c:legend>
    <c:plotVisOnly val="1"/>
    <c:dispBlanksAs val="span"/>
  </c:chart>
  <c:spPr>
    <a:solidFill>
      <a:srgbClr val="132A2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Tushar Kumar, BCA, Maharaja Surajmal Institute. My project is PlaceMate, a placement cell management system.
The one-line pitch: colleges still run placement season on spreadsheets, and PlaceMate replaces that with a system where every eligibility rule lives on the server, every offer is recorded as data, and every decision is logged.
I will show you two portals that are actually built and working — the student portal and the placement-cell (admin) portal — plus the design decisions and the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talk. Design first, then the two portals in detail since that is what you will want to see, then the measurements and the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the placement office's own terms. The volume is not the hard part; the hard part is that the rules are enforced by whoever is editing the sheet that day.
Three consequences I want you to remember, because the design answers each one: rules drift, decisions are unauditable, and there is no policy protecting a student who already holds an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deliverables. Emphasise that one function owning the rules is a design decision with a testable consequence — the admin badge and the student button are computed by the same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on purpose: a JSON REST API in Flask over PostgreSQL, consumed by a React single-page app. The interesting engineering is in the rules and the audit trail, not the stack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SPA never decides anything, it renders what the API returns. The API is three blueprints behind one role decorator. The two extra tables on the right are the ones this project adds to the conventional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one API. The student portal is a read-and-apply surface; the admin portal is the operations console.
A note on naming: the project brief groups the placement officer and faculty coordinators together, so the 'teacher portal' is the admin role in this system. Same login system, role field on the user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six tables are the conventional part. The two in the same visual weight at the bottom are the contribution: offers exist as their own records rather than as a status flag, and history exists as an append-only log.
Point at the unique constraint on (student, drive) — it enforces the no-duplicate rule in the database, which also settles a race between two simultaneous apply requests without application-level 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decision: the interface may render whatever it likes, but only the API decides. Four call sites share this one function, so the student's button and the officer's badge are computed by the same code.
Because the reason string comes from the function that made the decision, the student reads 'Needs CGPA &gt;= 7' rather than a generic failure. In practice that answers most of the queries that would otherwise reach the placement office.
Be precise if asked: the offer ladder is a second, separate check applied at apply time, and an admin can still change a status without eligibility being re-evaluated. That is deliberate — the office overrides rules in real cases — but it means 'one function' describes eligibility, not every decision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an application off selected deletes the placement record, so the offer table and the application states cannot disagree for long.
The 2.0 LPA increment is a named constant in the code, so the institution can tune the policy without touching logic.
Known limitation to admit if asked: the ladder trusts the advertised package until the cell overrides it, so an inflated listing temporarily admits students the rule would otherwise exclude.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placement systems I surveyed describe an application-level history. This is the feature the placement office actually asked for, because it answers the awkward question: why was this student rejected, and who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would happily be questioned on. SameSite=None is not a preference, it is a consequence of deploying the SPA and the API as separate services — and it widens the CSRF surface, because CORS cannot stop a simple form post.
So the server verifies the origin of every state-changing request. In development the check is skipped so the Vite proxy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build itself. Student side first — four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/api/portal/summary returns profile, application counts, upcoming deadlines and latest notices in one request — the home screen makes a single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itself is the explanation. A student sees who pays what, what the minimum is, and either a button or the exact reason they cannot press it.
Opening a card gives the drive detail route with the same verdict plus company website and eligible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rendered from the append-only table, not from a status field — which is why it can show two shortlisted events in sequence rather than one overwritten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plainly: there is no student self-registration. The placement cell is the source of truth for who exists, which is what an institutional tool should do. Passwords are never derived from roll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placement cell side. This is the console the office works in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office needs for a morning briefing: volumes, the trend, where candidates drop out of the funnel, which skills recruiters are asking for, and how each department is doing.
Highest and average package read from actual placement records when they exist and fall back to advertised drive figures otherwise — so the numbers stay honest once the cell overrides a CTC.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formula-injection guard sounds fussy until you remember export files get opened in Excel by office staff — a student whose name begins with '=' should not run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per-drive eligible programs and departments are what make one eligibility function work for every company — the rules are data attached to the drive, not code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call sites of the eligibility function appear on this one screen: the badge on each row, and the underlying decision if the cell tries to act on an ineligible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Advertised packages and actual CTCs differ once bonuses are settled — that is why the offer is a record with an editable figure rather than a copy of the drive's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is not a nice-to-have: the placement office has to file reports to the university. The formula guard exists because those files get opened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if asked what exactly the student cannot do. The point is that the API enforces it — a student who crafts a request to an admin endpoint gets a 403 from the role decorator, not a hidden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'does it actually work'. It is not unit tests on helper functions; it drives the real HTTP surface, which is why it caught things like the offer not disappearing when a decision was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is objective — it is the build output. Screens were re-checked afterwards to confirm nothing looked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these are counts from one development machine, not a distributed benchmark. The payload numbers are exact; the query numbers are structural — N-plus-one became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raise these than be caught by them. The two I would fix first are the logout cookie and rate limiting.
On the programme configuration: this was developed as a BCA project, but the current prototype's student records and programme list are configured for B.Tech, which is what the seeded demonstration data reflects. The engine takes eligible programs and departments per drive as data, so adding BCA is a configuration change rather than a code change — but I want to be clear that the running prototype today is a B.Tech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follows directly from a limitation on the previous slide — that ordering is deliberate, not a wish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version, then hand over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and offer the live demo. Likely questions: why no self-registration, how the ladder increment is configured, and whether the rules can differ per company — all three are answered in the design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814"/>
        </a:solidFill>
      </p:bgPr>
    </p:bg>
    <p:spTree>
      <p:nvGrpSpPr>
        <p:cNvPr id="1" name=""/>
        <p:cNvGrpSpPr/>
        <p:nvPr/>
      </p:nvGrpSpPr>
      <p:grpSpPr>
        <a:xfrm>
          <a:off x="0" y="0"/>
          <a:ext cx="0" cy="0"/>
          <a:chOff x="0" y="0"/>
          <a:chExt cx="0" cy="0"/>
        </a:xfrm>
      </p:grpSpPr>
      <p:sp>
        <p:nvSpPr>
          <p:cNvPr id="2" name="Shape 0"/>
          <p:cNvSpPr/>
          <p:nvPr/>
        </p:nvSpPr>
        <p:spPr>
          <a:xfrm>
            <a:off x="7680960" y="-2194560"/>
            <a:ext cx="6766560" cy="6766560"/>
          </a:xfrm>
          <a:prstGeom prst="ellipse">
            <a:avLst/>
          </a:prstGeom>
          <a:solidFill>
            <a:srgbClr val="1D4B36"/>
          </a:solidFill>
          <a:ln w="12700">
            <a:solidFill>
              <a:srgbClr val="1D4B36"/>
            </a:solidFill>
            <a:prstDash val="solid"/>
          </a:ln>
        </p:spPr>
      </p:sp>
      <p:sp>
        <p:nvSpPr>
          <p:cNvPr id="3" name="Shape 1"/>
          <p:cNvSpPr/>
          <p:nvPr/>
        </p:nvSpPr>
        <p:spPr>
          <a:xfrm>
            <a:off x="9692640" y="2926080"/>
            <a:ext cx="5120640" cy="5120640"/>
          </a:xfrm>
          <a:prstGeom prst="ellipse">
            <a:avLst/>
          </a:prstGeom>
          <a:solidFill>
            <a:srgbClr val="16382A"/>
          </a:solidFill>
          <a:ln w="12700">
            <a:solidFill>
              <a:srgbClr val="16382A"/>
            </a:solidFill>
            <a:prstDash val="solid"/>
          </a:ln>
        </p:spPr>
      </p:sp>
      <p:sp>
        <p:nvSpPr>
          <p:cNvPr id="4" name="Text 2"/>
          <p:cNvSpPr/>
          <p:nvPr/>
        </p:nvSpPr>
        <p:spPr>
          <a:xfrm>
            <a:off x="566928" y="1225296"/>
            <a:ext cx="7863840" cy="274320"/>
          </a:xfrm>
          <a:prstGeom prst="rect">
            <a:avLst/>
          </a:prstGeom>
          <a:noFill/>
          <a:ln/>
        </p:spPr>
        <p:txBody>
          <a:bodyPr wrap="square" lIns="0" tIns="0" rIns="0" bIns="0" rtlCol="0" anchor="ctr"/>
          <a:lstStyle/>
          <a:p>
            <a:pPr indent="0" marL="0">
              <a:buNone/>
            </a:pPr>
            <a:r>
              <a:rPr lang="en-US" sz="1200" b="1" spc="240" kern="0" dirty="0">
                <a:solidFill>
                  <a:srgbClr val="D3EF4C"/>
                </a:solidFill>
                <a:latin typeface="Calibri" pitchFamily="34" charset="0"/>
                <a:ea typeface="Calibri" pitchFamily="34" charset="-122"/>
                <a:cs typeface="Calibri" pitchFamily="34" charset="-120"/>
              </a:rPr>
              <a:t>MAJOR PROJECT  ·  DEPARTMENT OF COMPUTER APPLICATIONS (BCA)</a:t>
            </a:r>
            <a:endParaRPr lang="en-US" sz="1200" dirty="0"/>
          </a:p>
        </p:txBody>
      </p:sp>
      <p:sp>
        <p:nvSpPr>
          <p:cNvPr id="5" name="Text 3"/>
          <p:cNvSpPr/>
          <p:nvPr/>
        </p:nvSpPr>
        <p:spPr>
          <a:xfrm>
            <a:off x="566928" y="1572768"/>
            <a:ext cx="80467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PlaceMate</a:t>
            </a:r>
            <a:endParaRPr lang="en-US" sz="5400" dirty="0"/>
          </a:p>
        </p:txBody>
      </p:sp>
      <p:sp>
        <p:nvSpPr>
          <p:cNvPr id="6" name="Text 4"/>
          <p:cNvSpPr/>
          <p:nvPr/>
        </p:nvSpPr>
        <p:spPr>
          <a:xfrm>
            <a:off x="566928" y="2487168"/>
            <a:ext cx="8046720" cy="914400"/>
          </a:xfrm>
          <a:prstGeom prst="rect">
            <a:avLst/>
          </a:prstGeom>
          <a:noFill/>
          <a:ln/>
        </p:spPr>
        <p:txBody>
          <a:bodyPr wrap="square" lIns="0" tIns="0" rIns="0" bIns="0" rtlCol="0" anchor="ctr"/>
          <a:lstStyle/>
          <a:p>
            <a:pPr indent="0" marL="0">
              <a:lnSpc>
                <a:spcPts val="2700"/>
              </a:lnSpc>
              <a:buNone/>
            </a:pPr>
            <a:r>
              <a:rPr lang="en-US" sz="2000" dirty="0">
                <a:solidFill>
                  <a:srgbClr val="A8BDB2"/>
                </a:solidFill>
                <a:latin typeface="Calibri" pitchFamily="34" charset="0"/>
                <a:ea typeface="Calibri" pitchFamily="34" charset="-122"/>
                <a:cs typeface="Calibri" pitchFamily="34" charset="-120"/>
              </a:rPr>
              <a:t>A Full-Stack Placement Cell Management System</a:t>
            </a:r>
            <a:endParaRPr lang="en-US" sz="2000" dirty="0"/>
          </a:p>
          <a:p>
            <a:pPr indent="0" marL="0">
              <a:lnSpc>
                <a:spcPts val="2700"/>
              </a:lnSpc>
              <a:buNone/>
            </a:pPr>
            <a:r>
              <a:rPr lang="en-US" sz="2000" dirty="0">
                <a:solidFill>
                  <a:srgbClr val="A8BDB2"/>
                </a:solidFill>
                <a:latin typeface="Calibri" pitchFamily="34" charset="0"/>
                <a:ea typeface="Calibri" pitchFamily="34" charset="-122"/>
                <a:cs typeface="Calibri" pitchFamily="34" charset="-120"/>
              </a:rPr>
              <a:t>with Server-Side Policy Enforcement</a:t>
            </a:r>
            <a:endParaRPr lang="en-US" sz="2000" dirty="0"/>
          </a:p>
        </p:txBody>
      </p:sp>
      <p:sp>
        <p:nvSpPr>
          <p:cNvPr id="7" name="Shape 5"/>
          <p:cNvSpPr/>
          <p:nvPr/>
        </p:nvSpPr>
        <p:spPr>
          <a:xfrm>
            <a:off x="566928" y="3584448"/>
            <a:ext cx="4480560" cy="2084832"/>
          </a:xfrm>
          <a:prstGeom prst="roundRect">
            <a:avLst>
              <a:gd name="adj" fmla="val 438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22960" y="3785616"/>
            <a:ext cx="4023360" cy="219456"/>
          </a:xfrm>
          <a:prstGeom prst="rect">
            <a:avLst/>
          </a:prstGeom>
          <a:noFill/>
          <a:ln/>
        </p:spPr>
        <p:txBody>
          <a:bodyPr wrap="square" lIns="0" tIns="0" rIns="0" bIns="0" rtlCol="0" anchor="ctr"/>
          <a:lstStyle/>
          <a:p>
            <a:pPr indent="0" marL="0">
              <a:buNone/>
            </a:pPr>
            <a:r>
              <a:rPr lang="en-US" sz="1100" b="1" spc="160" kern="0" dirty="0">
                <a:solidFill>
                  <a:srgbClr val="D3EF4C"/>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822960" y="4041648"/>
            <a:ext cx="402336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Tushar Kumar</a:t>
            </a:r>
            <a:endParaRPr lang="en-US" sz="2100" dirty="0"/>
          </a:p>
        </p:txBody>
      </p:sp>
      <p:sp>
        <p:nvSpPr>
          <p:cNvPr id="10" name="Text 8"/>
          <p:cNvSpPr/>
          <p:nvPr/>
        </p:nvSpPr>
        <p:spPr>
          <a:xfrm>
            <a:off x="822960" y="4407408"/>
            <a:ext cx="4023360" cy="109728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Department of Computer Applications (BCA)</a:t>
            </a:r>
            <a:endParaRPr lang="en-US" sz="1150" dirty="0"/>
          </a:p>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Maharaja Surajmal Institute, C-4 Janakpuri,</a:t>
            </a:r>
            <a:endParaRPr lang="en-US" sz="1150" dirty="0"/>
          </a:p>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New Delhi – 110058</a:t>
            </a:r>
            <a:endParaRPr lang="en-US" sz="1150" dirty="0"/>
          </a:p>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Affiliated to Guru Gobind Singh Indraprastha</a:t>
            </a:r>
            <a:endParaRPr lang="en-US" sz="1150" dirty="0"/>
          </a:p>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University, Delhi</a:t>
            </a:r>
            <a:endParaRPr lang="en-US" sz="1150" dirty="0"/>
          </a:p>
        </p:txBody>
      </p:sp>
      <p:sp>
        <p:nvSpPr>
          <p:cNvPr id="11" name="Shape 9"/>
          <p:cNvSpPr/>
          <p:nvPr/>
        </p:nvSpPr>
        <p:spPr>
          <a:xfrm>
            <a:off x="5394960" y="3639312"/>
            <a:ext cx="1627632" cy="530352"/>
          </a:xfrm>
          <a:prstGeom prst="roundRect">
            <a:avLst>
              <a:gd name="adj" fmla="val 50000"/>
            </a:avLst>
          </a:prstGeom>
          <a:solidFill>
            <a:srgbClr val="173328"/>
          </a:solidFill>
          <a:ln w="9525">
            <a:solidFill>
              <a:srgbClr val="274A3C"/>
            </a:solidFill>
            <a:prstDash val="solid"/>
          </a:ln>
        </p:spPr>
      </p:sp>
      <p:sp>
        <p:nvSpPr>
          <p:cNvPr id="12" name="Text 10"/>
          <p:cNvSpPr/>
          <p:nvPr/>
        </p:nvSpPr>
        <p:spPr>
          <a:xfrm>
            <a:off x="5394960" y="3785616"/>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Flask 3</a:t>
            </a:r>
            <a:endParaRPr lang="en-US" sz="1200" dirty="0"/>
          </a:p>
        </p:txBody>
      </p:sp>
      <p:sp>
        <p:nvSpPr>
          <p:cNvPr id="13" name="Shape 11"/>
          <p:cNvSpPr/>
          <p:nvPr/>
        </p:nvSpPr>
        <p:spPr>
          <a:xfrm>
            <a:off x="7205472" y="3639312"/>
            <a:ext cx="1627632" cy="530352"/>
          </a:xfrm>
          <a:prstGeom prst="roundRect">
            <a:avLst>
              <a:gd name="adj" fmla="val 50000"/>
            </a:avLst>
          </a:prstGeom>
          <a:solidFill>
            <a:srgbClr val="173328"/>
          </a:solidFill>
          <a:ln w="9525">
            <a:solidFill>
              <a:srgbClr val="274A3C"/>
            </a:solidFill>
            <a:prstDash val="solid"/>
          </a:ln>
        </p:spPr>
      </p:sp>
      <p:sp>
        <p:nvSpPr>
          <p:cNvPr id="14" name="Text 12"/>
          <p:cNvSpPr/>
          <p:nvPr/>
        </p:nvSpPr>
        <p:spPr>
          <a:xfrm>
            <a:off x="7205472" y="3785616"/>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React 19</a:t>
            </a:r>
            <a:endParaRPr lang="en-US" sz="1200" dirty="0"/>
          </a:p>
        </p:txBody>
      </p:sp>
      <p:sp>
        <p:nvSpPr>
          <p:cNvPr id="15" name="Shape 13"/>
          <p:cNvSpPr/>
          <p:nvPr/>
        </p:nvSpPr>
        <p:spPr>
          <a:xfrm>
            <a:off x="5394960" y="4334256"/>
            <a:ext cx="1627632" cy="530352"/>
          </a:xfrm>
          <a:prstGeom prst="roundRect">
            <a:avLst>
              <a:gd name="adj" fmla="val 50000"/>
            </a:avLst>
          </a:prstGeom>
          <a:solidFill>
            <a:srgbClr val="173328"/>
          </a:solidFill>
          <a:ln w="9525">
            <a:solidFill>
              <a:srgbClr val="274A3C"/>
            </a:solidFill>
            <a:prstDash val="solid"/>
          </a:ln>
        </p:spPr>
      </p:sp>
      <p:sp>
        <p:nvSpPr>
          <p:cNvPr id="16" name="Text 14"/>
          <p:cNvSpPr/>
          <p:nvPr/>
        </p:nvSpPr>
        <p:spPr>
          <a:xfrm>
            <a:off x="5394960" y="4480560"/>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PostgreSQL</a:t>
            </a:r>
            <a:endParaRPr lang="en-US" sz="1200" dirty="0"/>
          </a:p>
        </p:txBody>
      </p:sp>
      <p:sp>
        <p:nvSpPr>
          <p:cNvPr id="17" name="Shape 15"/>
          <p:cNvSpPr/>
          <p:nvPr/>
        </p:nvSpPr>
        <p:spPr>
          <a:xfrm>
            <a:off x="7205472" y="4334256"/>
            <a:ext cx="1627632" cy="530352"/>
          </a:xfrm>
          <a:prstGeom prst="roundRect">
            <a:avLst>
              <a:gd name="adj" fmla="val 50000"/>
            </a:avLst>
          </a:prstGeom>
          <a:solidFill>
            <a:srgbClr val="173328"/>
          </a:solidFill>
          <a:ln w="9525">
            <a:solidFill>
              <a:srgbClr val="274A3C"/>
            </a:solidFill>
            <a:prstDash val="solid"/>
          </a:ln>
        </p:spPr>
      </p:sp>
      <p:sp>
        <p:nvSpPr>
          <p:cNvPr id="18" name="Text 16"/>
          <p:cNvSpPr/>
          <p:nvPr/>
        </p:nvSpPr>
        <p:spPr>
          <a:xfrm>
            <a:off x="7205472" y="4480560"/>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Vite + Tailwind 4</a:t>
            </a:r>
            <a:endParaRPr lang="en-US" sz="1200" dirty="0"/>
          </a:p>
        </p:txBody>
      </p:sp>
      <p:sp>
        <p:nvSpPr>
          <p:cNvPr id="19" name="Shape 17"/>
          <p:cNvSpPr/>
          <p:nvPr/>
        </p:nvSpPr>
        <p:spPr>
          <a:xfrm>
            <a:off x="5394960" y="5029200"/>
            <a:ext cx="1627632" cy="530352"/>
          </a:xfrm>
          <a:prstGeom prst="roundRect">
            <a:avLst>
              <a:gd name="adj" fmla="val 50000"/>
            </a:avLst>
          </a:prstGeom>
          <a:solidFill>
            <a:srgbClr val="173328"/>
          </a:solidFill>
          <a:ln w="9525">
            <a:solidFill>
              <a:srgbClr val="274A3C"/>
            </a:solidFill>
            <a:prstDash val="solid"/>
          </a:ln>
        </p:spPr>
      </p:sp>
      <p:sp>
        <p:nvSpPr>
          <p:cNvPr id="20" name="Text 18"/>
          <p:cNvSpPr/>
          <p:nvPr/>
        </p:nvSpPr>
        <p:spPr>
          <a:xfrm>
            <a:off x="5394960" y="5175504"/>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Recharts</a:t>
            </a:r>
            <a:endParaRPr lang="en-US" sz="1200" dirty="0"/>
          </a:p>
        </p:txBody>
      </p:sp>
      <p:sp>
        <p:nvSpPr>
          <p:cNvPr id="21" name="Shape 19"/>
          <p:cNvSpPr/>
          <p:nvPr/>
        </p:nvSpPr>
        <p:spPr>
          <a:xfrm>
            <a:off x="7205472" y="5029200"/>
            <a:ext cx="1627632" cy="530352"/>
          </a:xfrm>
          <a:prstGeom prst="roundRect">
            <a:avLst>
              <a:gd name="adj" fmla="val 50000"/>
            </a:avLst>
          </a:prstGeom>
          <a:solidFill>
            <a:srgbClr val="173328"/>
          </a:solidFill>
          <a:ln w="9525">
            <a:solidFill>
              <a:srgbClr val="274A3C"/>
            </a:solidFill>
            <a:prstDash val="solid"/>
          </a:ln>
        </p:spPr>
      </p:sp>
      <p:sp>
        <p:nvSpPr>
          <p:cNvPr id="22" name="Text 20"/>
          <p:cNvSpPr/>
          <p:nvPr/>
        </p:nvSpPr>
        <p:spPr>
          <a:xfrm>
            <a:off x="7205472" y="5175504"/>
            <a:ext cx="1627632"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Vercel + Neon</a:t>
            </a:r>
            <a:endParaRPr lang="en-US" sz="1200" dirty="0"/>
          </a:p>
        </p:txBody>
      </p:sp>
      <p:sp>
        <p:nvSpPr>
          <p:cNvPr id="23" name="Text 21"/>
          <p:cNvSpPr/>
          <p:nvPr/>
        </p:nvSpPr>
        <p:spPr>
          <a:xfrm>
            <a:off x="566928" y="5907024"/>
            <a:ext cx="5486400" cy="274320"/>
          </a:xfrm>
          <a:prstGeom prst="rect">
            <a:avLst/>
          </a:prstGeom>
          <a:noFill/>
          <a:ln/>
        </p:spPr>
        <p:txBody>
          <a:bodyPr wrap="square" lIns="0" tIns="0" rIns="0" bIns="0" rtlCol="0" anchor="ctr"/>
          <a:lstStyle/>
          <a:p>
            <a:pPr indent="0" marL="0">
              <a:buNone/>
            </a:pPr>
            <a:r>
              <a:rPr lang="en-US" sz="1200" dirty="0">
                <a:solidFill>
                  <a:srgbClr val="5C7A6B"/>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AGENDA</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this presentation covers</a:t>
            </a:r>
            <a:endParaRPr lang="en-US" sz="3100" dirty="0"/>
          </a:p>
        </p:txBody>
      </p:sp>
      <p:sp>
        <p:nvSpPr>
          <p:cNvPr id="4" name="Text 2"/>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5" name="Text 3"/>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66928" y="1389888"/>
            <a:ext cx="11057839" cy="603504"/>
          </a:xfrm>
          <a:prstGeom prst="roundRect">
            <a:avLst>
              <a:gd name="adj" fmla="val 15152"/>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7" name="Text 5"/>
          <p:cNvSpPr/>
          <p:nvPr/>
        </p:nvSpPr>
        <p:spPr>
          <a:xfrm>
            <a:off x="804672" y="1545336"/>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01</a:t>
            </a:r>
            <a:endParaRPr lang="en-US" sz="1700" dirty="0"/>
          </a:p>
        </p:txBody>
      </p:sp>
      <p:sp>
        <p:nvSpPr>
          <p:cNvPr id="8" name="Text 6"/>
          <p:cNvSpPr/>
          <p:nvPr/>
        </p:nvSpPr>
        <p:spPr>
          <a:xfrm>
            <a:off x="1499616" y="1490472"/>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Problem &amp; motivation</a:t>
            </a:r>
            <a:endParaRPr lang="en-US" sz="1450" dirty="0"/>
          </a:p>
        </p:txBody>
      </p:sp>
      <p:sp>
        <p:nvSpPr>
          <p:cNvPr id="9" name="Text 7"/>
          <p:cNvSpPr/>
          <p:nvPr/>
        </p:nvSpPr>
        <p:spPr>
          <a:xfrm>
            <a:off x="5321808" y="1490472"/>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Why placement season breaks down on spreadsheets</a:t>
            </a:r>
            <a:endParaRPr lang="en-US" sz="1250" dirty="0"/>
          </a:p>
        </p:txBody>
      </p:sp>
      <p:sp>
        <p:nvSpPr>
          <p:cNvPr id="10" name="Shape 8"/>
          <p:cNvSpPr/>
          <p:nvPr/>
        </p:nvSpPr>
        <p:spPr>
          <a:xfrm>
            <a:off x="566928" y="2093976"/>
            <a:ext cx="11057839" cy="603504"/>
          </a:xfrm>
          <a:prstGeom prst="roundRect">
            <a:avLst>
              <a:gd name="adj" fmla="val 1515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804672" y="2249424"/>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02</a:t>
            </a:r>
            <a:endParaRPr lang="en-US" sz="1700" dirty="0"/>
          </a:p>
        </p:txBody>
      </p:sp>
      <p:sp>
        <p:nvSpPr>
          <p:cNvPr id="12" name="Text 10"/>
          <p:cNvSpPr/>
          <p:nvPr/>
        </p:nvSpPr>
        <p:spPr>
          <a:xfrm>
            <a:off x="1499616" y="2194560"/>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Objectives</a:t>
            </a:r>
            <a:endParaRPr lang="en-US" sz="1450" dirty="0"/>
          </a:p>
        </p:txBody>
      </p:sp>
      <p:sp>
        <p:nvSpPr>
          <p:cNvPr id="13" name="Text 11"/>
          <p:cNvSpPr/>
          <p:nvPr/>
        </p:nvSpPr>
        <p:spPr>
          <a:xfrm>
            <a:off x="5321808" y="2194560"/>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The four contributions this project makes</a:t>
            </a:r>
            <a:endParaRPr lang="en-US" sz="1250" dirty="0"/>
          </a:p>
        </p:txBody>
      </p:sp>
      <p:sp>
        <p:nvSpPr>
          <p:cNvPr id="14" name="Shape 12"/>
          <p:cNvSpPr/>
          <p:nvPr/>
        </p:nvSpPr>
        <p:spPr>
          <a:xfrm>
            <a:off x="566928" y="2798064"/>
            <a:ext cx="11057839" cy="603504"/>
          </a:xfrm>
          <a:prstGeom prst="roundRect">
            <a:avLst>
              <a:gd name="adj" fmla="val 15152"/>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5" name="Text 13"/>
          <p:cNvSpPr/>
          <p:nvPr/>
        </p:nvSpPr>
        <p:spPr>
          <a:xfrm>
            <a:off x="804672" y="2953512"/>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03</a:t>
            </a:r>
            <a:endParaRPr lang="en-US" sz="1700" dirty="0"/>
          </a:p>
        </p:txBody>
      </p:sp>
      <p:sp>
        <p:nvSpPr>
          <p:cNvPr id="16" name="Text 14"/>
          <p:cNvSpPr/>
          <p:nvPr/>
        </p:nvSpPr>
        <p:spPr>
          <a:xfrm>
            <a:off x="1499616" y="2898648"/>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System design</a:t>
            </a:r>
            <a:endParaRPr lang="en-US" sz="1450" dirty="0"/>
          </a:p>
        </p:txBody>
      </p:sp>
      <p:sp>
        <p:nvSpPr>
          <p:cNvPr id="17" name="Text 15"/>
          <p:cNvSpPr/>
          <p:nvPr/>
        </p:nvSpPr>
        <p:spPr>
          <a:xfrm>
            <a:off x="5321808" y="2898648"/>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Architecture, data model, eligibility engine, offer policy</a:t>
            </a:r>
            <a:endParaRPr lang="en-US" sz="1250" dirty="0"/>
          </a:p>
        </p:txBody>
      </p:sp>
      <p:sp>
        <p:nvSpPr>
          <p:cNvPr id="18" name="Shape 16"/>
          <p:cNvSpPr/>
          <p:nvPr/>
        </p:nvSpPr>
        <p:spPr>
          <a:xfrm>
            <a:off x="566928" y="3502152"/>
            <a:ext cx="11057839" cy="603504"/>
          </a:xfrm>
          <a:prstGeom prst="roundRect">
            <a:avLst>
              <a:gd name="adj" fmla="val 1515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9" name="Text 17"/>
          <p:cNvSpPr/>
          <p:nvPr/>
        </p:nvSpPr>
        <p:spPr>
          <a:xfrm>
            <a:off x="804672" y="3657600"/>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04</a:t>
            </a:r>
            <a:endParaRPr lang="en-US" sz="1700" dirty="0"/>
          </a:p>
        </p:txBody>
      </p:sp>
      <p:sp>
        <p:nvSpPr>
          <p:cNvPr id="20" name="Text 18"/>
          <p:cNvSpPr/>
          <p:nvPr/>
        </p:nvSpPr>
        <p:spPr>
          <a:xfrm>
            <a:off x="1499616" y="3602736"/>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Student portal</a:t>
            </a:r>
            <a:endParaRPr lang="en-US" sz="1450" dirty="0"/>
          </a:p>
        </p:txBody>
      </p:sp>
      <p:sp>
        <p:nvSpPr>
          <p:cNvPr id="21" name="Text 19"/>
          <p:cNvSpPr/>
          <p:nvPr/>
        </p:nvSpPr>
        <p:spPr>
          <a:xfrm>
            <a:off x="5321808" y="3602736"/>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Every screen a student uses, end to end</a:t>
            </a:r>
            <a:endParaRPr lang="en-US" sz="1250" dirty="0"/>
          </a:p>
        </p:txBody>
      </p:sp>
      <p:sp>
        <p:nvSpPr>
          <p:cNvPr id="22" name="Shape 20"/>
          <p:cNvSpPr/>
          <p:nvPr/>
        </p:nvSpPr>
        <p:spPr>
          <a:xfrm>
            <a:off x="566928" y="4206240"/>
            <a:ext cx="11057839" cy="603504"/>
          </a:xfrm>
          <a:prstGeom prst="roundRect">
            <a:avLst>
              <a:gd name="adj" fmla="val 15152"/>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Text 21"/>
          <p:cNvSpPr/>
          <p:nvPr/>
        </p:nvSpPr>
        <p:spPr>
          <a:xfrm>
            <a:off x="804672" y="4361688"/>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05</a:t>
            </a:r>
            <a:endParaRPr lang="en-US" sz="1700" dirty="0"/>
          </a:p>
        </p:txBody>
      </p:sp>
      <p:sp>
        <p:nvSpPr>
          <p:cNvPr id="24" name="Text 22"/>
          <p:cNvSpPr/>
          <p:nvPr/>
        </p:nvSpPr>
        <p:spPr>
          <a:xfrm>
            <a:off x="1499616" y="4306824"/>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Teacher / admin portal</a:t>
            </a:r>
            <a:endParaRPr lang="en-US" sz="1450" dirty="0"/>
          </a:p>
        </p:txBody>
      </p:sp>
      <p:sp>
        <p:nvSpPr>
          <p:cNvPr id="25" name="Text 23"/>
          <p:cNvSpPr/>
          <p:nvPr/>
        </p:nvSpPr>
        <p:spPr>
          <a:xfrm>
            <a:off x="5321808" y="4306824"/>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Every screen the placement cell uses, end to end</a:t>
            </a:r>
            <a:endParaRPr lang="en-US" sz="1250" dirty="0"/>
          </a:p>
        </p:txBody>
      </p:sp>
      <p:sp>
        <p:nvSpPr>
          <p:cNvPr id="26" name="Shape 24"/>
          <p:cNvSpPr/>
          <p:nvPr/>
        </p:nvSpPr>
        <p:spPr>
          <a:xfrm>
            <a:off x="566928" y="4910328"/>
            <a:ext cx="11057839" cy="603504"/>
          </a:xfrm>
          <a:prstGeom prst="roundRect">
            <a:avLst>
              <a:gd name="adj" fmla="val 1515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7" name="Text 25"/>
          <p:cNvSpPr/>
          <p:nvPr/>
        </p:nvSpPr>
        <p:spPr>
          <a:xfrm>
            <a:off x="804672" y="5065776"/>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06</a:t>
            </a:r>
            <a:endParaRPr lang="en-US" sz="1700" dirty="0"/>
          </a:p>
        </p:txBody>
      </p:sp>
      <p:sp>
        <p:nvSpPr>
          <p:cNvPr id="28" name="Text 26"/>
          <p:cNvSpPr/>
          <p:nvPr/>
        </p:nvSpPr>
        <p:spPr>
          <a:xfrm>
            <a:off x="1499616" y="5010912"/>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Evaluation</a:t>
            </a:r>
            <a:endParaRPr lang="en-US" sz="1450" dirty="0"/>
          </a:p>
        </p:txBody>
      </p:sp>
      <p:sp>
        <p:nvSpPr>
          <p:cNvPr id="29" name="Text 27"/>
          <p:cNvSpPr/>
          <p:nvPr/>
        </p:nvSpPr>
        <p:spPr>
          <a:xfrm>
            <a:off x="5321808" y="5010912"/>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23 functional assertions, payload and query measurements</a:t>
            </a:r>
            <a:endParaRPr lang="en-US" sz="1250" dirty="0"/>
          </a:p>
        </p:txBody>
      </p:sp>
      <p:sp>
        <p:nvSpPr>
          <p:cNvPr id="30" name="Shape 28"/>
          <p:cNvSpPr/>
          <p:nvPr/>
        </p:nvSpPr>
        <p:spPr>
          <a:xfrm>
            <a:off x="566928" y="5614416"/>
            <a:ext cx="11057839" cy="603504"/>
          </a:xfrm>
          <a:prstGeom prst="roundRect">
            <a:avLst>
              <a:gd name="adj" fmla="val 15152"/>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1" name="Text 29"/>
          <p:cNvSpPr/>
          <p:nvPr/>
        </p:nvSpPr>
        <p:spPr>
          <a:xfrm>
            <a:off x="804672" y="5769864"/>
            <a:ext cx="640080" cy="310896"/>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07</a:t>
            </a:r>
            <a:endParaRPr lang="en-US" sz="1700" dirty="0"/>
          </a:p>
        </p:txBody>
      </p:sp>
      <p:sp>
        <p:nvSpPr>
          <p:cNvPr id="32" name="Text 30"/>
          <p:cNvSpPr/>
          <p:nvPr/>
        </p:nvSpPr>
        <p:spPr>
          <a:xfrm>
            <a:off x="1499616" y="5715000"/>
            <a:ext cx="37490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Limitations &amp; future work</a:t>
            </a:r>
            <a:endParaRPr lang="en-US" sz="1450" dirty="0"/>
          </a:p>
        </p:txBody>
      </p:sp>
      <p:sp>
        <p:nvSpPr>
          <p:cNvPr id="33" name="Text 31"/>
          <p:cNvSpPr/>
          <p:nvPr/>
        </p:nvSpPr>
        <p:spPr>
          <a:xfrm>
            <a:off x="5321808" y="5715000"/>
            <a:ext cx="6028639" cy="402336"/>
          </a:xfrm>
          <a:prstGeom prst="rect">
            <a:avLst/>
          </a:prstGeom>
          <a:noFill/>
          <a:ln/>
        </p:spPr>
        <p:txBody>
          <a:bodyPr wrap="square" lIns="0" tIns="0" rIns="0" bIns="0" rtlCol="0" anchor="ctr"/>
          <a:lstStyle/>
          <a:p>
            <a:pPr indent="0" marL="0">
              <a:buNone/>
            </a:pPr>
            <a:r>
              <a:rPr lang="en-US" sz="1250" dirty="0">
                <a:solidFill>
                  <a:srgbClr val="A8BDB2"/>
                </a:solidFill>
                <a:latin typeface="Calibri" pitchFamily="34" charset="0"/>
                <a:ea typeface="Calibri" pitchFamily="34" charset="-122"/>
                <a:cs typeface="Calibri" pitchFamily="34" charset="-120"/>
              </a:rPr>
              <a:t>Honest gaps and the roadmap that follows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PROBLEM STATEMENT</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Placement season is a small operations centre</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Hundreds of students, dozens of drives, rules that do not bend — coordinated by hand.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66928" y="1389888"/>
            <a:ext cx="3466490" cy="4224528"/>
          </a:xfrm>
          <a:prstGeom prst="roundRect">
            <a:avLst>
              <a:gd name="adj" fmla="val 263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04672" y="1664208"/>
            <a:ext cx="2991002" cy="475488"/>
          </a:xfrm>
          <a:prstGeom prst="roundRect">
            <a:avLst>
              <a:gd name="adj" fmla="val 23077"/>
            </a:avLst>
          </a:prstGeom>
          <a:solidFill>
            <a:srgbClr val="22C55E"/>
          </a:solidFill>
          <a:ln w="12700">
            <a:solidFill>
              <a:srgbClr val="22C55E"/>
            </a:solidFill>
            <a:prstDash val="solid"/>
          </a:ln>
        </p:spPr>
      </p:sp>
      <p:sp>
        <p:nvSpPr>
          <p:cNvPr id="9" name="Text 7"/>
          <p:cNvSpPr/>
          <p:nvPr/>
        </p:nvSpPr>
        <p:spPr>
          <a:xfrm>
            <a:off x="804672" y="1792224"/>
            <a:ext cx="2991002" cy="256032"/>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The load</a:t>
            </a:r>
            <a:endParaRPr lang="en-US" sz="1400" dirty="0"/>
          </a:p>
        </p:txBody>
      </p:sp>
      <p:sp>
        <p:nvSpPr>
          <p:cNvPr id="10" name="Text 8"/>
          <p:cNvSpPr/>
          <p:nvPr/>
        </p:nvSpPr>
        <p:spPr>
          <a:xfrm>
            <a:off x="804672" y="2322576"/>
            <a:ext cx="2991002" cy="3017520"/>
          </a:xfrm>
          <a:prstGeom prst="rect">
            <a:avLst/>
          </a:prstGeom>
          <a:noFill/>
          <a:ln/>
        </p:spPr>
        <p:txBody>
          <a:bodyPr wrap="square" lIns="0" tIns="0" rIns="0" bIns="0" rtlCol="0" anchor="t"/>
          <a:lstStyle/>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Several hundred final-year students</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A few dozen visiting companies</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A rolling calendar of recruitment drives</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Minimum CGPA, department limits, deadlines</a:t>
            </a:r>
            <a:endParaRPr lang="en-US" sz="1300" dirty="0"/>
          </a:p>
        </p:txBody>
      </p:sp>
      <p:sp>
        <p:nvSpPr>
          <p:cNvPr id="11" name="Shape 9"/>
          <p:cNvSpPr/>
          <p:nvPr/>
        </p:nvSpPr>
        <p:spPr>
          <a:xfrm>
            <a:off x="4362602" y="1389888"/>
            <a:ext cx="3466490" cy="4224528"/>
          </a:xfrm>
          <a:prstGeom prst="roundRect">
            <a:avLst>
              <a:gd name="adj" fmla="val 263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2" name="Shape 10"/>
          <p:cNvSpPr/>
          <p:nvPr/>
        </p:nvSpPr>
        <p:spPr>
          <a:xfrm>
            <a:off x="4600346" y="1664208"/>
            <a:ext cx="2991002" cy="475488"/>
          </a:xfrm>
          <a:prstGeom prst="roundRect">
            <a:avLst>
              <a:gd name="adj" fmla="val 23077"/>
            </a:avLst>
          </a:prstGeom>
          <a:solidFill>
            <a:srgbClr val="F87171"/>
          </a:solidFill>
          <a:ln w="12700">
            <a:solidFill>
              <a:srgbClr val="F87171"/>
            </a:solidFill>
            <a:prstDash val="solid"/>
          </a:ln>
        </p:spPr>
      </p:sp>
      <p:sp>
        <p:nvSpPr>
          <p:cNvPr id="13" name="Text 11"/>
          <p:cNvSpPr/>
          <p:nvPr/>
        </p:nvSpPr>
        <p:spPr>
          <a:xfrm>
            <a:off x="4600346" y="1792224"/>
            <a:ext cx="2991002" cy="256032"/>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What goes wrong</a:t>
            </a:r>
            <a:endParaRPr lang="en-US" sz="1400" dirty="0"/>
          </a:p>
        </p:txBody>
      </p:sp>
      <p:sp>
        <p:nvSpPr>
          <p:cNvPr id="14" name="Text 12"/>
          <p:cNvSpPr/>
          <p:nvPr/>
        </p:nvSpPr>
        <p:spPr>
          <a:xfrm>
            <a:off x="4600346" y="2322576"/>
            <a:ext cx="2991002" cy="3017520"/>
          </a:xfrm>
          <a:prstGeom prst="rect">
            <a:avLst/>
          </a:prstGeom>
          <a:noFill/>
          <a:ln/>
        </p:spPr>
        <p:txBody>
          <a:bodyPr wrap="square" lIns="0" tIns="0" rIns="0" bIns="0" rtlCol="0" anchor="t"/>
          <a:lstStyle/>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Spreadsheets drift out of date as staff edit in turns</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Nobody can say later why a student was rejected</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Students hear about drives days late, apply by email</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The office re-enters every application by hand</a:t>
            </a:r>
            <a:endParaRPr lang="en-US" sz="1300" dirty="0"/>
          </a:p>
        </p:txBody>
      </p:sp>
      <p:sp>
        <p:nvSpPr>
          <p:cNvPr id="15" name="Shape 13"/>
          <p:cNvSpPr/>
          <p:nvPr/>
        </p:nvSpPr>
        <p:spPr>
          <a:xfrm>
            <a:off x="8158277" y="1389888"/>
            <a:ext cx="3466490" cy="4224528"/>
          </a:xfrm>
          <a:prstGeom prst="roundRect">
            <a:avLst>
              <a:gd name="adj" fmla="val 263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6" name="Shape 14"/>
          <p:cNvSpPr/>
          <p:nvPr/>
        </p:nvSpPr>
        <p:spPr>
          <a:xfrm>
            <a:off x="8396021" y="1664208"/>
            <a:ext cx="2991002" cy="475488"/>
          </a:xfrm>
          <a:prstGeom prst="roundRect">
            <a:avLst>
              <a:gd name="adj" fmla="val 23077"/>
            </a:avLst>
          </a:prstGeom>
          <a:solidFill>
            <a:srgbClr val="D9A13B"/>
          </a:solidFill>
          <a:ln w="12700">
            <a:solidFill>
              <a:srgbClr val="D9A13B"/>
            </a:solidFill>
            <a:prstDash val="solid"/>
          </a:ln>
        </p:spPr>
      </p:sp>
      <p:sp>
        <p:nvSpPr>
          <p:cNvPr id="17" name="Text 15"/>
          <p:cNvSpPr/>
          <p:nvPr/>
        </p:nvSpPr>
        <p:spPr>
          <a:xfrm>
            <a:off x="8396021" y="1792224"/>
            <a:ext cx="2991002" cy="256032"/>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What is missing</a:t>
            </a:r>
            <a:endParaRPr lang="en-US" sz="1400" dirty="0"/>
          </a:p>
        </p:txBody>
      </p:sp>
      <p:sp>
        <p:nvSpPr>
          <p:cNvPr id="18" name="Text 16"/>
          <p:cNvSpPr/>
          <p:nvPr/>
        </p:nvSpPr>
        <p:spPr>
          <a:xfrm>
            <a:off x="8396021" y="2322576"/>
            <a:ext cx="2991002" cy="3017520"/>
          </a:xfrm>
          <a:prstGeom prst="rect">
            <a:avLst/>
          </a:prstGeom>
          <a:noFill/>
          <a:ln/>
        </p:spPr>
        <p:txBody>
          <a:bodyPr wrap="square" lIns="0" tIns="0" rIns="0" bIns="0" rtlCol="0" anchor="t"/>
          <a:lstStyle/>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No single place that decides eligibility</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No record of who changed a decision, or when</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No protection against a student taking a worse offer</a:t>
            </a:r>
            <a:endParaRPr lang="en-US" sz="1300" dirty="0"/>
          </a:p>
          <a:p>
            <a:pPr marL="342900" indent="-342900">
              <a:lnSpc>
                <a:spcPts val="1900"/>
              </a:lnSpc>
              <a:spcAft>
                <a:spcPts val="1300"/>
              </a:spcAft>
              <a:buSzPct val="100000"/>
              <a:buChar char="●"/>
            </a:pPr>
            <a:r>
              <a:rPr lang="en-US" sz="1300" dirty="0">
                <a:solidFill>
                  <a:srgbClr val="FFFFFF"/>
                </a:solidFill>
                <a:latin typeface="Calibri" pitchFamily="34" charset="0"/>
                <a:ea typeface="Calibri" pitchFamily="34" charset="-122"/>
                <a:cs typeface="Calibri" pitchFamily="34" charset="-120"/>
              </a:rPr>
              <a:t>No live picture of the season for the cell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OBJECTIVES</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Four contributions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Each one is implemented and verified, not proposed.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66928" y="1389888"/>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41248" y="1682496"/>
            <a:ext cx="566928" cy="566928"/>
          </a:xfrm>
          <a:prstGeom prst="ellipse">
            <a:avLst/>
          </a:prstGeom>
          <a:solidFill>
            <a:srgbClr val="22C55E"/>
          </a:solidFill>
          <a:ln w="12700">
            <a:solidFill>
              <a:srgbClr val="22C55E"/>
            </a:solidFill>
            <a:prstDash val="solid"/>
          </a:ln>
        </p:spPr>
      </p:sp>
      <p:sp>
        <p:nvSpPr>
          <p:cNvPr id="9" name="Text 7"/>
          <p:cNvSpPr/>
          <p:nvPr/>
        </p:nvSpPr>
        <p:spPr>
          <a:xfrm>
            <a:off x="841248" y="1819656"/>
            <a:ext cx="566928" cy="292608"/>
          </a:xfrm>
          <a:prstGeom prst="rect">
            <a:avLst/>
          </a:prstGeom>
          <a:noFill/>
          <a:ln/>
        </p:spPr>
        <p:txBody>
          <a:bodyPr wrap="square" lIns="0" tIns="0" rIns="0" bIns="0" rtlCol="0" anchor="ctr"/>
          <a:lstStyle/>
          <a:p>
            <a:pPr algn="ctr" indent="0" marL="0">
              <a:buNone/>
            </a:pPr>
            <a:r>
              <a:rPr lang="en-US" sz="1500" b="1" dirty="0">
                <a:solidFill>
                  <a:srgbClr val="0B1814"/>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1572768" y="1773936"/>
            <a:ext cx="4084168"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One eligibility engine</a:t>
            </a:r>
            <a:endParaRPr lang="en-US" sz="1900" dirty="0"/>
          </a:p>
        </p:txBody>
      </p:sp>
      <p:sp>
        <p:nvSpPr>
          <p:cNvPr id="11" name="Text 9"/>
          <p:cNvSpPr/>
          <p:nvPr/>
        </p:nvSpPr>
        <p:spPr>
          <a:xfrm>
            <a:off x="841248" y="2414016"/>
            <a:ext cx="4815688" cy="877824"/>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Eligibility rules live in a single server-side function used by four call sites, so the student view and the admin view cannot disagree.</a:t>
            </a:r>
            <a:endParaRPr lang="en-US" sz="1250" dirty="0"/>
          </a:p>
        </p:txBody>
      </p:sp>
      <p:sp>
        <p:nvSpPr>
          <p:cNvPr id="12" name="Shape 10"/>
          <p:cNvSpPr/>
          <p:nvPr/>
        </p:nvSpPr>
        <p:spPr>
          <a:xfrm>
            <a:off x="6260440" y="1389888"/>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6534760" y="1682496"/>
            <a:ext cx="566928" cy="566928"/>
          </a:xfrm>
          <a:prstGeom prst="ellipse">
            <a:avLst/>
          </a:prstGeom>
          <a:solidFill>
            <a:srgbClr val="22C55E"/>
          </a:solidFill>
          <a:ln w="12700">
            <a:solidFill>
              <a:srgbClr val="22C55E"/>
            </a:solidFill>
            <a:prstDash val="solid"/>
          </a:ln>
        </p:spPr>
      </p:sp>
      <p:sp>
        <p:nvSpPr>
          <p:cNvPr id="14" name="Text 12"/>
          <p:cNvSpPr/>
          <p:nvPr/>
        </p:nvSpPr>
        <p:spPr>
          <a:xfrm>
            <a:off x="6534760" y="1819656"/>
            <a:ext cx="566928" cy="292608"/>
          </a:xfrm>
          <a:prstGeom prst="rect">
            <a:avLst/>
          </a:prstGeom>
          <a:noFill/>
          <a:ln/>
        </p:spPr>
        <p:txBody>
          <a:bodyPr wrap="square" lIns="0" tIns="0" rIns="0" bIns="0" rtlCol="0" anchor="ctr"/>
          <a:lstStyle/>
          <a:p>
            <a:pPr algn="ctr" indent="0" marL="0">
              <a:buNone/>
            </a:pPr>
            <a:r>
              <a:rPr lang="en-US" sz="1500" b="1" dirty="0">
                <a:solidFill>
                  <a:srgbClr val="0B1814"/>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7266280" y="1773936"/>
            <a:ext cx="4084168"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Offer ladder policy</a:t>
            </a:r>
            <a:endParaRPr lang="en-US" sz="1900" dirty="0"/>
          </a:p>
        </p:txBody>
      </p:sp>
      <p:sp>
        <p:nvSpPr>
          <p:cNvPr id="16" name="Text 14"/>
          <p:cNvSpPr/>
          <p:nvPr/>
        </p:nvSpPr>
        <p:spPr>
          <a:xfrm>
            <a:off x="6534760" y="2414016"/>
            <a:ext cx="4815688" cy="877824"/>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An automatically maintained placement-record table stops a placed student from sitting for a lower-paying drive.</a:t>
            </a:r>
            <a:endParaRPr lang="en-US" sz="1250" dirty="0"/>
          </a:p>
        </p:txBody>
      </p:sp>
      <p:sp>
        <p:nvSpPr>
          <p:cNvPr id="17" name="Shape 15"/>
          <p:cNvSpPr/>
          <p:nvPr/>
        </p:nvSpPr>
        <p:spPr>
          <a:xfrm>
            <a:off x="566928" y="3621024"/>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8" name="Shape 16"/>
          <p:cNvSpPr/>
          <p:nvPr/>
        </p:nvSpPr>
        <p:spPr>
          <a:xfrm>
            <a:off x="841248" y="3913632"/>
            <a:ext cx="566928" cy="566928"/>
          </a:xfrm>
          <a:prstGeom prst="ellipse">
            <a:avLst/>
          </a:prstGeom>
          <a:solidFill>
            <a:srgbClr val="22C55E"/>
          </a:solidFill>
          <a:ln w="12700">
            <a:solidFill>
              <a:srgbClr val="22C55E"/>
            </a:solidFill>
            <a:prstDash val="solid"/>
          </a:ln>
        </p:spPr>
      </p:sp>
      <p:sp>
        <p:nvSpPr>
          <p:cNvPr id="19" name="Text 17"/>
          <p:cNvSpPr/>
          <p:nvPr/>
        </p:nvSpPr>
        <p:spPr>
          <a:xfrm>
            <a:off x="841248" y="4050792"/>
            <a:ext cx="566928" cy="292608"/>
          </a:xfrm>
          <a:prstGeom prst="rect">
            <a:avLst/>
          </a:prstGeom>
          <a:noFill/>
          <a:ln/>
        </p:spPr>
        <p:txBody>
          <a:bodyPr wrap="square" lIns="0" tIns="0" rIns="0" bIns="0" rtlCol="0" anchor="ctr"/>
          <a:lstStyle/>
          <a:p>
            <a:pPr algn="ctr" indent="0" marL="0">
              <a:buNone/>
            </a:pPr>
            <a:r>
              <a:rPr lang="en-US" sz="1500" b="1" dirty="0">
                <a:solidFill>
                  <a:srgbClr val="0B1814"/>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1572768" y="4005072"/>
            <a:ext cx="4084168"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Append-only audit trail</a:t>
            </a:r>
            <a:endParaRPr lang="en-US" sz="1900" dirty="0"/>
          </a:p>
        </p:txBody>
      </p:sp>
      <p:sp>
        <p:nvSpPr>
          <p:cNvPr id="21" name="Text 19"/>
          <p:cNvSpPr/>
          <p:nvPr/>
        </p:nvSpPr>
        <p:spPr>
          <a:xfrm>
            <a:off x="841248" y="4645152"/>
            <a:ext cx="4815688" cy="877824"/>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Every status transition appends a row: stage, note, acting user, timestamp. Decisions can be replayed.</a:t>
            </a:r>
            <a:endParaRPr lang="en-US" sz="1250" dirty="0"/>
          </a:p>
        </p:txBody>
      </p:sp>
      <p:sp>
        <p:nvSpPr>
          <p:cNvPr id="22" name="Shape 20"/>
          <p:cNvSpPr/>
          <p:nvPr/>
        </p:nvSpPr>
        <p:spPr>
          <a:xfrm>
            <a:off x="6260440" y="3621024"/>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Shape 21"/>
          <p:cNvSpPr/>
          <p:nvPr/>
        </p:nvSpPr>
        <p:spPr>
          <a:xfrm>
            <a:off x="6534760" y="3913632"/>
            <a:ext cx="566928" cy="566928"/>
          </a:xfrm>
          <a:prstGeom prst="ellipse">
            <a:avLst/>
          </a:prstGeom>
          <a:solidFill>
            <a:srgbClr val="22C55E"/>
          </a:solidFill>
          <a:ln w="12700">
            <a:solidFill>
              <a:srgbClr val="22C55E"/>
            </a:solidFill>
            <a:prstDash val="solid"/>
          </a:ln>
        </p:spPr>
      </p:sp>
      <p:sp>
        <p:nvSpPr>
          <p:cNvPr id="24" name="Text 22"/>
          <p:cNvSpPr/>
          <p:nvPr/>
        </p:nvSpPr>
        <p:spPr>
          <a:xfrm>
            <a:off x="6534760" y="4050792"/>
            <a:ext cx="566928" cy="292608"/>
          </a:xfrm>
          <a:prstGeom prst="rect">
            <a:avLst/>
          </a:prstGeom>
          <a:noFill/>
          <a:ln/>
        </p:spPr>
        <p:txBody>
          <a:bodyPr wrap="square" lIns="0" tIns="0" rIns="0" bIns="0" rtlCol="0" anchor="ctr"/>
          <a:lstStyle/>
          <a:p>
            <a:pPr algn="ctr" indent="0" marL="0">
              <a:buNone/>
            </a:pPr>
            <a:r>
              <a:rPr lang="en-US" sz="1500" b="1" dirty="0">
                <a:solidFill>
                  <a:srgbClr val="0B1814"/>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7266280" y="4005072"/>
            <a:ext cx="4084168"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Measured performance</a:t>
            </a:r>
            <a:endParaRPr lang="en-US" sz="1900" dirty="0"/>
          </a:p>
        </p:txBody>
      </p:sp>
      <p:sp>
        <p:nvSpPr>
          <p:cNvPr id="26" name="Text 24"/>
          <p:cNvSpPr/>
          <p:nvPr/>
        </p:nvSpPr>
        <p:spPr>
          <a:xfrm>
            <a:off x="6534760" y="4645152"/>
            <a:ext cx="4815688" cy="877824"/>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Code splitting plus joined queries cut the first payload by more than half and removed per-row database work.</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TECHNOLOGY</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Stack and deployment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A conventional three-tier web application, deliberately.</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66928" y="1389888"/>
            <a:ext cx="11057839" cy="932688"/>
          </a:xfrm>
          <a:prstGeom prst="roundRect">
            <a:avLst>
              <a:gd name="adj" fmla="val 98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786384" y="1609344"/>
            <a:ext cx="1481328" cy="493776"/>
          </a:xfrm>
          <a:prstGeom prst="roundRect">
            <a:avLst>
              <a:gd name="adj" fmla="val 18519"/>
            </a:avLst>
          </a:prstGeom>
          <a:solidFill>
            <a:srgbClr val="22C55E"/>
          </a:solidFill>
          <a:ln w="12700">
            <a:solidFill>
              <a:srgbClr val="22C55E"/>
            </a:solidFill>
            <a:prstDash val="solid"/>
          </a:ln>
        </p:spPr>
      </p:sp>
      <p:sp>
        <p:nvSpPr>
          <p:cNvPr id="9" name="Text 7"/>
          <p:cNvSpPr/>
          <p:nvPr/>
        </p:nvSpPr>
        <p:spPr>
          <a:xfrm>
            <a:off x="786384" y="1719072"/>
            <a:ext cx="1481328" cy="274320"/>
          </a:xfrm>
          <a:prstGeom prst="rect">
            <a:avLst/>
          </a:prstGeom>
          <a:noFill/>
          <a:ln/>
        </p:spPr>
        <p:txBody>
          <a:bodyPr wrap="square" lIns="0" tIns="0" rIns="0" bIns="0" rtlCol="0" anchor="ctr"/>
          <a:lstStyle/>
          <a:p>
            <a:pPr algn="ctr" indent="0" marL="0">
              <a:buNone/>
            </a:pPr>
            <a:r>
              <a:rPr lang="en-US" sz="1350" b="1" dirty="0">
                <a:solidFill>
                  <a:srgbClr val="0B1814"/>
                </a:solidFill>
                <a:latin typeface="Calibri" pitchFamily="34" charset="0"/>
                <a:ea typeface="Calibri" pitchFamily="34" charset="-122"/>
                <a:cs typeface="Calibri" pitchFamily="34" charset="-120"/>
              </a:rPr>
              <a:t>Frontend</a:t>
            </a:r>
            <a:endParaRPr lang="en-US" sz="1350" dirty="0"/>
          </a:p>
        </p:txBody>
      </p:sp>
      <p:sp>
        <p:nvSpPr>
          <p:cNvPr id="10" name="Text 8"/>
          <p:cNvSpPr/>
          <p:nvPr/>
        </p:nvSpPr>
        <p:spPr>
          <a:xfrm>
            <a:off x="2450592" y="1536192"/>
            <a:ext cx="8863279"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React 19 · Vite · Tailwind CSS 4 · React Router · Recharts</a:t>
            </a:r>
            <a:endParaRPr lang="en-US" sz="1350" dirty="0"/>
          </a:p>
        </p:txBody>
      </p:sp>
      <p:sp>
        <p:nvSpPr>
          <p:cNvPr id="11" name="Text 9"/>
          <p:cNvSpPr/>
          <p:nvPr/>
        </p:nvSpPr>
        <p:spPr>
          <a:xfrm>
            <a:off x="2450592" y="1865376"/>
            <a:ext cx="8863279" cy="32918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Role-guarded routes, lazy-loaded dashboard, compositor-only animation</a:t>
            </a:r>
            <a:endParaRPr lang="en-US" sz="1150" dirty="0"/>
          </a:p>
        </p:txBody>
      </p:sp>
      <p:sp>
        <p:nvSpPr>
          <p:cNvPr id="12" name="Shape 10"/>
          <p:cNvSpPr/>
          <p:nvPr/>
        </p:nvSpPr>
        <p:spPr>
          <a:xfrm>
            <a:off x="566928" y="2478024"/>
            <a:ext cx="11057839" cy="932688"/>
          </a:xfrm>
          <a:prstGeom prst="roundRect">
            <a:avLst>
              <a:gd name="adj" fmla="val 980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786384" y="2697480"/>
            <a:ext cx="1481328" cy="493776"/>
          </a:xfrm>
          <a:prstGeom prst="roundRect">
            <a:avLst>
              <a:gd name="adj" fmla="val 18519"/>
            </a:avLst>
          </a:prstGeom>
          <a:solidFill>
            <a:srgbClr val="D3EF4C"/>
          </a:solidFill>
          <a:ln w="12700">
            <a:solidFill>
              <a:srgbClr val="D3EF4C"/>
            </a:solidFill>
            <a:prstDash val="solid"/>
          </a:ln>
        </p:spPr>
      </p:sp>
      <p:sp>
        <p:nvSpPr>
          <p:cNvPr id="14" name="Text 12"/>
          <p:cNvSpPr/>
          <p:nvPr/>
        </p:nvSpPr>
        <p:spPr>
          <a:xfrm>
            <a:off x="786384" y="2807208"/>
            <a:ext cx="1481328" cy="274320"/>
          </a:xfrm>
          <a:prstGeom prst="rect">
            <a:avLst/>
          </a:prstGeom>
          <a:noFill/>
          <a:ln/>
        </p:spPr>
        <p:txBody>
          <a:bodyPr wrap="square" lIns="0" tIns="0" rIns="0" bIns="0" rtlCol="0" anchor="ctr"/>
          <a:lstStyle/>
          <a:p>
            <a:pPr algn="ctr" indent="0" marL="0">
              <a:buNone/>
            </a:pPr>
            <a:r>
              <a:rPr lang="en-US" sz="1350" b="1" dirty="0">
                <a:solidFill>
                  <a:srgbClr val="0B1814"/>
                </a:solidFill>
                <a:latin typeface="Calibri" pitchFamily="34" charset="0"/>
                <a:ea typeface="Calibri" pitchFamily="34" charset="-122"/>
                <a:cs typeface="Calibri" pitchFamily="34" charset="-120"/>
              </a:rPr>
              <a:t>Backend</a:t>
            </a:r>
            <a:endParaRPr lang="en-US" sz="1350" dirty="0"/>
          </a:p>
        </p:txBody>
      </p:sp>
      <p:sp>
        <p:nvSpPr>
          <p:cNvPr id="15" name="Text 13"/>
          <p:cNvSpPr/>
          <p:nvPr/>
        </p:nvSpPr>
        <p:spPr>
          <a:xfrm>
            <a:off x="2450592" y="2624328"/>
            <a:ext cx="8863279"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Python 3 · Flask 3 application factory · Flask-SQLAlchemy · Flask-CORS</a:t>
            </a:r>
            <a:endParaRPr lang="en-US" sz="1350" dirty="0"/>
          </a:p>
        </p:txBody>
      </p:sp>
      <p:sp>
        <p:nvSpPr>
          <p:cNvPr id="16" name="Text 14"/>
          <p:cNvSpPr/>
          <p:nvPr/>
        </p:nvSpPr>
        <p:spPr>
          <a:xfrm>
            <a:off x="2450592" y="2953512"/>
            <a:ext cx="8863279" cy="32918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Three blueprints: auth, admin, portal. Role-checking decorator on every route</a:t>
            </a:r>
            <a:endParaRPr lang="en-US" sz="1150" dirty="0"/>
          </a:p>
        </p:txBody>
      </p:sp>
      <p:sp>
        <p:nvSpPr>
          <p:cNvPr id="17" name="Shape 15"/>
          <p:cNvSpPr/>
          <p:nvPr/>
        </p:nvSpPr>
        <p:spPr>
          <a:xfrm>
            <a:off x="566928" y="3566160"/>
            <a:ext cx="11057839" cy="932688"/>
          </a:xfrm>
          <a:prstGeom prst="roundRect">
            <a:avLst>
              <a:gd name="adj" fmla="val 98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8" name="Shape 16"/>
          <p:cNvSpPr/>
          <p:nvPr/>
        </p:nvSpPr>
        <p:spPr>
          <a:xfrm>
            <a:off x="786384" y="3785616"/>
            <a:ext cx="1481328" cy="493776"/>
          </a:xfrm>
          <a:prstGeom prst="roundRect">
            <a:avLst>
              <a:gd name="adj" fmla="val 18519"/>
            </a:avLst>
          </a:prstGeom>
          <a:solidFill>
            <a:srgbClr val="D9A13B"/>
          </a:solidFill>
          <a:ln w="12700">
            <a:solidFill>
              <a:srgbClr val="D9A13B"/>
            </a:solidFill>
            <a:prstDash val="solid"/>
          </a:ln>
        </p:spPr>
      </p:sp>
      <p:sp>
        <p:nvSpPr>
          <p:cNvPr id="19" name="Text 17"/>
          <p:cNvSpPr/>
          <p:nvPr/>
        </p:nvSpPr>
        <p:spPr>
          <a:xfrm>
            <a:off x="786384" y="3895344"/>
            <a:ext cx="1481328" cy="274320"/>
          </a:xfrm>
          <a:prstGeom prst="rect">
            <a:avLst/>
          </a:prstGeom>
          <a:noFill/>
          <a:ln/>
        </p:spPr>
        <p:txBody>
          <a:bodyPr wrap="square" lIns="0" tIns="0" rIns="0" bIns="0" rtlCol="0" anchor="ctr"/>
          <a:lstStyle/>
          <a:p>
            <a:pPr algn="ctr" indent="0" marL="0">
              <a:buNone/>
            </a:pPr>
            <a:r>
              <a:rPr lang="en-US" sz="1350" b="1" dirty="0">
                <a:solidFill>
                  <a:srgbClr val="0B1814"/>
                </a:solidFill>
                <a:latin typeface="Calibri" pitchFamily="34" charset="0"/>
                <a:ea typeface="Calibri" pitchFamily="34" charset="-122"/>
                <a:cs typeface="Calibri" pitchFamily="34" charset="-120"/>
              </a:rPr>
              <a:t>Data</a:t>
            </a:r>
            <a:endParaRPr lang="en-US" sz="1350" dirty="0"/>
          </a:p>
        </p:txBody>
      </p:sp>
      <p:sp>
        <p:nvSpPr>
          <p:cNvPr id="20" name="Text 18"/>
          <p:cNvSpPr/>
          <p:nvPr/>
        </p:nvSpPr>
        <p:spPr>
          <a:xfrm>
            <a:off x="2450592" y="3712464"/>
            <a:ext cx="8863279"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PostgreSQL via psycopg · SQLAlchemy ORM · pandas aggregation</a:t>
            </a:r>
            <a:endParaRPr lang="en-US" sz="1350" dirty="0"/>
          </a:p>
        </p:txBody>
      </p:sp>
      <p:sp>
        <p:nvSpPr>
          <p:cNvPr id="21" name="Text 19"/>
          <p:cNvSpPr/>
          <p:nvPr/>
        </p:nvSpPr>
        <p:spPr>
          <a:xfrm>
            <a:off x="2450592" y="4041648"/>
            <a:ext cx="8863279" cy="32918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Neon serverless Postgres in production; unique constraints enforce core rules</a:t>
            </a:r>
            <a:endParaRPr lang="en-US" sz="1150" dirty="0"/>
          </a:p>
        </p:txBody>
      </p:sp>
      <p:sp>
        <p:nvSpPr>
          <p:cNvPr id="22" name="Shape 20"/>
          <p:cNvSpPr/>
          <p:nvPr/>
        </p:nvSpPr>
        <p:spPr>
          <a:xfrm>
            <a:off x="566928" y="4654296"/>
            <a:ext cx="11057839" cy="932688"/>
          </a:xfrm>
          <a:prstGeom prst="roundRect">
            <a:avLst>
              <a:gd name="adj" fmla="val 980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Shape 21"/>
          <p:cNvSpPr/>
          <p:nvPr/>
        </p:nvSpPr>
        <p:spPr>
          <a:xfrm>
            <a:off x="786384" y="4873752"/>
            <a:ext cx="1481328" cy="493776"/>
          </a:xfrm>
          <a:prstGeom prst="roundRect">
            <a:avLst>
              <a:gd name="adj" fmla="val 18519"/>
            </a:avLst>
          </a:prstGeom>
          <a:solidFill>
            <a:srgbClr val="22C55E"/>
          </a:solidFill>
          <a:ln w="12700">
            <a:solidFill>
              <a:srgbClr val="22C55E"/>
            </a:solidFill>
            <a:prstDash val="solid"/>
          </a:ln>
        </p:spPr>
      </p:sp>
      <p:sp>
        <p:nvSpPr>
          <p:cNvPr id="24" name="Text 22"/>
          <p:cNvSpPr/>
          <p:nvPr/>
        </p:nvSpPr>
        <p:spPr>
          <a:xfrm>
            <a:off x="786384" y="4983480"/>
            <a:ext cx="1481328" cy="274320"/>
          </a:xfrm>
          <a:prstGeom prst="rect">
            <a:avLst/>
          </a:prstGeom>
          <a:noFill/>
          <a:ln/>
        </p:spPr>
        <p:txBody>
          <a:bodyPr wrap="square" lIns="0" tIns="0" rIns="0" bIns="0" rtlCol="0" anchor="ctr"/>
          <a:lstStyle/>
          <a:p>
            <a:pPr algn="ctr" indent="0" marL="0">
              <a:buNone/>
            </a:pPr>
            <a:r>
              <a:rPr lang="en-US" sz="1350" b="1" dirty="0">
                <a:solidFill>
                  <a:srgbClr val="0B1814"/>
                </a:solidFill>
                <a:latin typeface="Calibri" pitchFamily="34" charset="0"/>
                <a:ea typeface="Calibri" pitchFamily="34" charset="-122"/>
                <a:cs typeface="Calibri" pitchFamily="34" charset="-120"/>
              </a:rPr>
              <a:t>Delivery</a:t>
            </a:r>
            <a:endParaRPr lang="en-US" sz="1350" dirty="0"/>
          </a:p>
        </p:txBody>
      </p:sp>
      <p:sp>
        <p:nvSpPr>
          <p:cNvPr id="25" name="Text 23"/>
          <p:cNvSpPr/>
          <p:nvPr/>
        </p:nvSpPr>
        <p:spPr>
          <a:xfrm>
            <a:off x="2450592" y="4800600"/>
            <a:ext cx="8863279"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GitHub · Vercel (frontend + API as separate services) · Neon</a:t>
            </a:r>
            <a:endParaRPr lang="en-US" sz="1350" dirty="0"/>
          </a:p>
        </p:txBody>
      </p:sp>
      <p:sp>
        <p:nvSpPr>
          <p:cNvPr id="26" name="Text 24"/>
          <p:cNvSpPr/>
          <p:nvPr/>
        </p:nvSpPr>
        <p:spPr>
          <a:xfrm>
            <a:off x="2450592" y="5129784"/>
            <a:ext cx="8863279" cy="32918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Session cookie, CORS, and an origin guard handle the split deployment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Request path through the system</a:t>
            </a:r>
            <a:endParaRPr lang="en-US" sz="3100" dirty="0"/>
          </a:p>
        </p:txBody>
      </p:sp>
      <p:sp>
        <p:nvSpPr>
          <p:cNvPr id="4" name="Text 2"/>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5" name="Text 3"/>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66928" y="1536192"/>
            <a:ext cx="2331720" cy="2788920"/>
          </a:xfrm>
          <a:prstGeom prst="roundRect">
            <a:avLst>
              <a:gd name="adj" fmla="val 392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7" name="Text 5"/>
          <p:cNvSpPr/>
          <p:nvPr/>
        </p:nvSpPr>
        <p:spPr>
          <a:xfrm>
            <a:off x="749808" y="1737360"/>
            <a:ext cx="196596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Browser</a:t>
            </a:r>
            <a:endParaRPr lang="en-US" sz="1600" dirty="0"/>
          </a:p>
        </p:txBody>
      </p:sp>
      <p:sp>
        <p:nvSpPr>
          <p:cNvPr id="8" name="Text 6"/>
          <p:cNvSpPr/>
          <p:nvPr/>
        </p:nvSpPr>
        <p:spPr>
          <a:xfrm>
            <a:off x="749808" y="2103120"/>
            <a:ext cx="1965960" cy="2011680"/>
          </a:xfrm>
          <a:prstGeom prst="rect">
            <a:avLst/>
          </a:prstGeom>
          <a:noFill/>
          <a:ln/>
        </p:spPr>
        <p:txBody>
          <a:bodyPr wrap="square" lIns="0" tIns="0" rIns="0" bIns="0" rtlCol="0" anchor="ctr"/>
          <a:lstStyle/>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React SPA</a:t>
            </a:r>
            <a:endParaRPr lang="en-US" sz="1150" dirty="0"/>
          </a:p>
          <a:p>
            <a:pPr indent="0" marL="0">
              <a:lnSpc>
                <a:spcPts val="1600"/>
              </a:lnSpc>
              <a:buNone/>
            </a:pPr>
            <a:endParaRPr lang="en-US" sz="1150" dirty="0"/>
          </a:p>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Admin rail or</a:t>
            </a:r>
            <a:endParaRPr lang="en-US" sz="1150" dirty="0"/>
          </a:p>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portal rail,</a:t>
            </a:r>
            <a:endParaRPr lang="en-US" sz="1150" dirty="0"/>
          </a:p>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chosen by role</a:t>
            </a:r>
            <a:endParaRPr lang="en-US" sz="1150" dirty="0"/>
          </a:p>
          <a:p>
            <a:pPr indent="0" marL="0">
              <a:lnSpc>
                <a:spcPts val="1600"/>
              </a:lnSpc>
              <a:buNone/>
            </a:pPr>
            <a:endParaRPr lang="en-US" sz="1150" dirty="0"/>
          </a:p>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fetch with</a:t>
            </a:r>
            <a:endParaRPr lang="en-US" sz="1150" dirty="0"/>
          </a:p>
          <a:p>
            <a:pPr indent="0" marL="0">
              <a:lnSpc>
                <a:spcPts val="1600"/>
              </a:lnSpc>
              <a:buNone/>
            </a:pPr>
            <a:r>
              <a:rPr lang="en-US" sz="1150" dirty="0">
                <a:solidFill>
                  <a:srgbClr val="A8BDB2"/>
                </a:solidFill>
                <a:latin typeface="Calibri" pitchFamily="34" charset="0"/>
                <a:ea typeface="Calibri" pitchFamily="34" charset="-122"/>
                <a:cs typeface="Calibri" pitchFamily="34" charset="-120"/>
              </a:rPr>
              <a:t>credentials</a:t>
            </a:r>
            <a:endParaRPr lang="en-US" sz="1150" dirty="0"/>
          </a:p>
        </p:txBody>
      </p:sp>
      <p:sp>
        <p:nvSpPr>
          <p:cNvPr id="9" name="Shape 7"/>
          <p:cNvSpPr/>
          <p:nvPr/>
        </p:nvSpPr>
        <p:spPr>
          <a:xfrm>
            <a:off x="3054096" y="2779776"/>
            <a:ext cx="475488" cy="310896"/>
          </a:xfrm>
          <a:prstGeom prst="rightArrow">
            <a:avLst/>
          </a:prstGeom>
          <a:solidFill>
            <a:srgbClr val="22C55E"/>
          </a:solidFill>
          <a:ln w="12700">
            <a:solidFill>
              <a:srgbClr val="22C55E"/>
            </a:solidFill>
            <a:prstDash val="solid"/>
          </a:ln>
        </p:spPr>
      </p:sp>
      <p:sp>
        <p:nvSpPr>
          <p:cNvPr id="10" name="Shape 8"/>
          <p:cNvSpPr/>
          <p:nvPr/>
        </p:nvSpPr>
        <p:spPr>
          <a:xfrm>
            <a:off x="3694176" y="1536192"/>
            <a:ext cx="3931920" cy="2788920"/>
          </a:xfrm>
          <a:prstGeom prst="roundRect">
            <a:avLst>
              <a:gd name="adj" fmla="val 3279"/>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3895344" y="1737360"/>
            <a:ext cx="356616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Flask API</a:t>
            </a:r>
            <a:endParaRPr lang="en-US" sz="1600" dirty="0"/>
          </a:p>
        </p:txBody>
      </p:sp>
      <p:sp>
        <p:nvSpPr>
          <p:cNvPr id="12" name="Text 10"/>
          <p:cNvSpPr/>
          <p:nvPr/>
        </p:nvSpPr>
        <p:spPr>
          <a:xfrm>
            <a:off x="3895344" y="2139696"/>
            <a:ext cx="3566160" cy="237744"/>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/api/auth</a:t>
            </a:r>
            <a:endParaRPr lang="en-US" sz="1250" dirty="0"/>
          </a:p>
        </p:txBody>
      </p:sp>
      <p:sp>
        <p:nvSpPr>
          <p:cNvPr id="13" name="Text 11"/>
          <p:cNvSpPr/>
          <p:nvPr/>
        </p:nvSpPr>
        <p:spPr>
          <a:xfrm>
            <a:off x="3895344" y="2377440"/>
            <a:ext cx="3566160" cy="384048"/>
          </a:xfrm>
          <a:prstGeom prst="rect">
            <a:avLst/>
          </a:prstGeom>
          <a:noFill/>
          <a:ln/>
        </p:spPr>
        <p:txBody>
          <a:bodyPr wrap="square" lIns="0" tIns="0" rIns="0" bIns="0" rtlCol="0" anchor="ctr"/>
          <a:lstStyle/>
          <a:p>
            <a:pPr indent="0" marL="0">
              <a:lnSpc>
                <a:spcPts val="1400"/>
              </a:lnSpc>
              <a:buNone/>
            </a:pPr>
            <a:r>
              <a:rPr lang="en-US" sz="1050" dirty="0">
                <a:solidFill>
                  <a:srgbClr val="A8BDB2"/>
                </a:solidFill>
                <a:latin typeface="Calibri" pitchFamily="34" charset="0"/>
                <a:ea typeface="Calibri" pitchFamily="34" charset="-122"/>
                <a:cs typeface="Calibri" pitchFamily="34" charset="-120"/>
              </a:rPr>
              <a:t>login · logout · me · password</a:t>
            </a:r>
            <a:endParaRPr lang="en-US" sz="1050" dirty="0"/>
          </a:p>
        </p:txBody>
      </p:sp>
      <p:sp>
        <p:nvSpPr>
          <p:cNvPr id="14" name="Text 12"/>
          <p:cNvSpPr/>
          <p:nvPr/>
        </p:nvSpPr>
        <p:spPr>
          <a:xfrm>
            <a:off x="3895344" y="2834640"/>
            <a:ext cx="3566160" cy="237744"/>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/api/admin</a:t>
            </a:r>
            <a:endParaRPr lang="en-US" sz="1250" dirty="0"/>
          </a:p>
        </p:txBody>
      </p:sp>
      <p:sp>
        <p:nvSpPr>
          <p:cNvPr id="15" name="Text 13"/>
          <p:cNvSpPr/>
          <p:nvPr/>
        </p:nvSpPr>
        <p:spPr>
          <a:xfrm>
            <a:off x="3895344" y="3072384"/>
            <a:ext cx="3566160" cy="384048"/>
          </a:xfrm>
          <a:prstGeom prst="rect">
            <a:avLst/>
          </a:prstGeom>
          <a:noFill/>
          <a:ln/>
        </p:spPr>
        <p:txBody>
          <a:bodyPr wrap="square" lIns="0" tIns="0" rIns="0" bIns="0" rtlCol="0" anchor="ctr"/>
          <a:lstStyle/>
          <a:p>
            <a:pPr indent="0" marL="0">
              <a:lnSpc>
                <a:spcPts val="1400"/>
              </a:lnSpc>
              <a:buNone/>
            </a:pPr>
            <a:r>
              <a:rPr lang="en-US" sz="1050" dirty="0">
                <a:solidFill>
                  <a:srgbClr val="A8BDB2"/>
                </a:solidFill>
                <a:latin typeface="Calibri" pitchFamily="34" charset="0"/>
                <a:ea typeface="Calibri" pitchFamily="34" charset="-122"/>
                <a:cs typeface="Calibri" pitchFamily="34" charset="-120"/>
              </a:rPr>
              <a:t>dashboard · students · companies · drives · applications · notices · export</a:t>
            </a:r>
            <a:endParaRPr lang="en-US" sz="1050" dirty="0"/>
          </a:p>
        </p:txBody>
      </p:sp>
      <p:sp>
        <p:nvSpPr>
          <p:cNvPr id="16" name="Text 14"/>
          <p:cNvSpPr/>
          <p:nvPr/>
        </p:nvSpPr>
        <p:spPr>
          <a:xfrm>
            <a:off x="3895344" y="3529584"/>
            <a:ext cx="3566160" cy="237744"/>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/api/portal</a:t>
            </a:r>
            <a:endParaRPr lang="en-US" sz="1250" dirty="0"/>
          </a:p>
        </p:txBody>
      </p:sp>
      <p:sp>
        <p:nvSpPr>
          <p:cNvPr id="17" name="Text 15"/>
          <p:cNvSpPr/>
          <p:nvPr/>
        </p:nvSpPr>
        <p:spPr>
          <a:xfrm>
            <a:off x="3895344" y="3767328"/>
            <a:ext cx="3566160" cy="384048"/>
          </a:xfrm>
          <a:prstGeom prst="rect">
            <a:avLst/>
          </a:prstGeom>
          <a:noFill/>
          <a:ln/>
        </p:spPr>
        <p:txBody>
          <a:bodyPr wrap="square" lIns="0" tIns="0" rIns="0" bIns="0" rtlCol="0" anchor="ctr"/>
          <a:lstStyle/>
          <a:p>
            <a:pPr indent="0" marL="0">
              <a:lnSpc>
                <a:spcPts val="1400"/>
              </a:lnSpc>
              <a:buNone/>
            </a:pPr>
            <a:r>
              <a:rPr lang="en-US" sz="1050" dirty="0">
                <a:solidFill>
                  <a:srgbClr val="A8BDB2"/>
                </a:solidFill>
                <a:latin typeface="Calibri" pitchFamily="34" charset="0"/>
                <a:ea typeface="Calibri" pitchFamily="34" charset="-122"/>
                <a:cs typeface="Calibri" pitchFamily="34" charset="-120"/>
              </a:rPr>
              <a:t>summary · drives · apply · applications · profile</a:t>
            </a:r>
            <a:endParaRPr lang="en-US" sz="1050" dirty="0"/>
          </a:p>
        </p:txBody>
      </p:sp>
      <p:sp>
        <p:nvSpPr>
          <p:cNvPr id="18" name="Shape 16"/>
          <p:cNvSpPr/>
          <p:nvPr/>
        </p:nvSpPr>
        <p:spPr>
          <a:xfrm>
            <a:off x="7790688" y="2779776"/>
            <a:ext cx="475488" cy="310896"/>
          </a:xfrm>
          <a:prstGeom prst="rightArrow">
            <a:avLst/>
          </a:prstGeom>
          <a:solidFill>
            <a:srgbClr val="22C55E"/>
          </a:solidFill>
          <a:ln w="12700">
            <a:solidFill>
              <a:srgbClr val="22C55E"/>
            </a:solidFill>
            <a:prstDash val="solid"/>
          </a:ln>
        </p:spPr>
      </p:sp>
      <p:sp>
        <p:nvSpPr>
          <p:cNvPr id="19" name="Shape 17"/>
          <p:cNvSpPr/>
          <p:nvPr/>
        </p:nvSpPr>
        <p:spPr>
          <a:xfrm>
            <a:off x="8430768" y="1536192"/>
            <a:ext cx="3227832" cy="2788920"/>
          </a:xfrm>
          <a:prstGeom prst="roundRect">
            <a:avLst>
              <a:gd name="adj" fmla="val 3279"/>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Text 18"/>
          <p:cNvSpPr/>
          <p:nvPr/>
        </p:nvSpPr>
        <p:spPr>
          <a:xfrm>
            <a:off x="8631936" y="1737360"/>
            <a:ext cx="283464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PostgreSQL</a:t>
            </a:r>
            <a:endParaRPr lang="en-US" sz="1600" dirty="0"/>
          </a:p>
        </p:txBody>
      </p:sp>
      <p:sp>
        <p:nvSpPr>
          <p:cNvPr id="21" name="Text 19"/>
          <p:cNvSpPr/>
          <p:nvPr/>
        </p:nvSpPr>
        <p:spPr>
          <a:xfrm>
            <a:off x="8631936" y="2139696"/>
            <a:ext cx="2834640" cy="1371600"/>
          </a:xfrm>
          <a:prstGeom prst="rect">
            <a:avLst/>
          </a:prstGeom>
          <a:noFill/>
          <a:ln/>
        </p:spPr>
        <p:txBody>
          <a:bodyPr wrap="square" lIns="0" tIns="0" rIns="0" bIns="0" rtlCol="0" anchor="ctr"/>
          <a:lstStyle/>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users · students · companies</a:t>
            </a:r>
            <a:endParaRPr lang="en-US" sz="1150" dirty="0"/>
          </a:p>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drives · applications · notices</a:t>
            </a:r>
            <a:endParaRPr lang="en-US" sz="1150" dirty="0"/>
          </a:p>
          <a:p>
            <a:pPr indent="0" marL="0">
              <a:lnSpc>
                <a:spcPts val="1650"/>
              </a:lnSpc>
              <a:buNone/>
            </a:pPr>
            <a:endParaRPr lang="en-US" sz="1150" dirty="0"/>
          </a:p>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 placement_records</a:t>
            </a:r>
            <a:endParaRPr lang="en-US" sz="1150" dirty="0"/>
          </a:p>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 application_status_history</a:t>
            </a:r>
            <a:endParaRPr lang="en-US" sz="1150" dirty="0"/>
          </a:p>
        </p:txBody>
      </p:sp>
      <p:sp>
        <p:nvSpPr>
          <p:cNvPr id="22" name="Text 20"/>
          <p:cNvSpPr/>
          <p:nvPr/>
        </p:nvSpPr>
        <p:spPr>
          <a:xfrm>
            <a:off x="8631936" y="3621024"/>
            <a:ext cx="2834640" cy="548640"/>
          </a:xfrm>
          <a:prstGeom prst="rect">
            <a:avLst/>
          </a:prstGeom>
          <a:noFill/>
          <a:ln/>
        </p:spPr>
        <p:txBody>
          <a:bodyPr wrap="square" lIns="0" tIns="0" rIns="0" bIns="0" rtlCol="0" anchor="ctr"/>
          <a:lstStyle/>
          <a:p>
            <a:pPr indent="0" marL="0">
              <a:lnSpc>
                <a:spcPts val="1400"/>
              </a:lnSpc>
              <a:buNone/>
            </a:pPr>
            <a:r>
              <a:rPr lang="en-US" sz="1050" i="1" dirty="0">
                <a:solidFill>
                  <a:srgbClr val="22C55E"/>
                </a:solidFill>
                <a:latin typeface="Calibri" pitchFamily="34" charset="0"/>
                <a:ea typeface="Calibri" pitchFamily="34" charset="-122"/>
                <a:cs typeface="Calibri" pitchFamily="34" charset="-120"/>
              </a:rPr>
              <a:t>Neon serverless</a:t>
            </a:r>
            <a:endParaRPr lang="en-US" sz="1050" dirty="0"/>
          </a:p>
          <a:p>
            <a:pPr indent="0" marL="0">
              <a:lnSpc>
                <a:spcPts val="1400"/>
              </a:lnSpc>
              <a:buNone/>
            </a:pPr>
            <a:r>
              <a:rPr lang="en-US" sz="1050" i="1" dirty="0">
                <a:solidFill>
                  <a:srgbClr val="22C55E"/>
                </a:solidFill>
                <a:latin typeface="Calibri" pitchFamily="34" charset="0"/>
                <a:ea typeface="Calibri" pitchFamily="34" charset="-122"/>
                <a:cs typeface="Calibri" pitchFamily="34" charset="-120"/>
              </a:rPr>
              <a:t>(compute / storage split)</a:t>
            </a:r>
            <a:endParaRPr lang="en-US" sz="1050" dirty="0"/>
          </a:p>
        </p:txBody>
      </p:sp>
      <p:sp>
        <p:nvSpPr>
          <p:cNvPr id="23" name="Shape 21"/>
          <p:cNvSpPr/>
          <p:nvPr/>
        </p:nvSpPr>
        <p:spPr>
          <a:xfrm>
            <a:off x="566928" y="4590288"/>
            <a:ext cx="11057839" cy="786384"/>
          </a:xfrm>
          <a:prstGeom prst="roundRect">
            <a:avLst>
              <a:gd name="adj" fmla="val 11628"/>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4" name="Text 22"/>
          <p:cNvSpPr/>
          <p:nvPr/>
        </p:nvSpPr>
        <p:spPr>
          <a:xfrm>
            <a:off x="804672" y="4736592"/>
            <a:ext cx="2286000" cy="274320"/>
          </a:xfrm>
          <a:prstGeom prst="rect">
            <a:avLst/>
          </a:prstGeom>
          <a:noFill/>
          <a:ln/>
        </p:spPr>
        <p:txBody>
          <a:bodyPr wrap="square" lIns="0" tIns="0" rIns="0" bIns="0" rtlCol="0" anchor="ctr"/>
          <a:lstStyle/>
          <a:p>
            <a:pPr indent="0" marL="0">
              <a:buNone/>
            </a:pPr>
            <a:r>
              <a:rPr lang="en-US" sz="1200" b="1" dirty="0">
                <a:solidFill>
                  <a:srgbClr val="D3EF4C"/>
                </a:solidFill>
                <a:latin typeface="Calibri" pitchFamily="34" charset="0"/>
                <a:ea typeface="Calibri" pitchFamily="34" charset="-122"/>
                <a:cs typeface="Calibri" pitchFamily="34" charset="-120"/>
              </a:rPr>
              <a:t>Cross-cutting on every request:</a:t>
            </a:r>
            <a:endParaRPr lang="en-US" sz="1200" dirty="0"/>
          </a:p>
        </p:txBody>
      </p:sp>
      <p:sp>
        <p:nvSpPr>
          <p:cNvPr id="25" name="Text 23"/>
          <p:cNvSpPr/>
          <p:nvPr/>
        </p:nvSpPr>
        <p:spPr>
          <a:xfrm>
            <a:off x="3218688" y="4718304"/>
            <a:ext cx="8131759"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role-checking decorator  ·  credentials-enabled CORS  ·  request-origin guard on POST/PUT/PATCH/DELETE (production)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ROLES</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Two portals, two audiences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One codebase, one API, two role-guarded experiences.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66928" y="1389888"/>
            <a:ext cx="5346040" cy="4261104"/>
          </a:xfrm>
          <a:prstGeom prst="roundRect">
            <a:avLst>
              <a:gd name="adj" fmla="val 214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41248" y="1682496"/>
            <a:ext cx="4797400" cy="603504"/>
          </a:xfrm>
          <a:prstGeom prst="roundRect">
            <a:avLst>
              <a:gd name="adj" fmla="val 18182"/>
            </a:avLst>
          </a:prstGeom>
          <a:solidFill>
            <a:srgbClr val="22C55E"/>
          </a:solidFill>
          <a:ln w="12700">
            <a:solidFill>
              <a:srgbClr val="22C55E"/>
            </a:solidFill>
            <a:prstDash val="solid"/>
          </a:ln>
        </p:spPr>
      </p:sp>
      <p:sp>
        <p:nvSpPr>
          <p:cNvPr id="9" name="Text 7"/>
          <p:cNvSpPr/>
          <p:nvPr/>
        </p:nvSpPr>
        <p:spPr>
          <a:xfrm>
            <a:off x="841248" y="1847088"/>
            <a:ext cx="4797400" cy="292608"/>
          </a:xfrm>
          <a:prstGeom prst="rect">
            <a:avLst/>
          </a:prstGeom>
          <a:noFill/>
          <a:ln/>
        </p:spPr>
        <p:txBody>
          <a:bodyPr wrap="square" lIns="0" tIns="0" rIns="0" bIns="0" rtlCol="0" anchor="ctr"/>
          <a:lstStyle/>
          <a:p>
            <a:pPr algn="ctr" indent="0" marL="0">
              <a:buNone/>
            </a:pPr>
            <a:r>
              <a:rPr lang="en-US" sz="1600" b="1" dirty="0">
                <a:solidFill>
                  <a:srgbClr val="0B1814"/>
                </a:solidFill>
                <a:latin typeface="Calibri" pitchFamily="34" charset="0"/>
                <a:ea typeface="Calibri" pitchFamily="34" charset="-122"/>
                <a:cs typeface="Calibri" pitchFamily="34" charset="-120"/>
              </a:rPr>
              <a:t>Student portal</a:t>
            </a:r>
            <a:endParaRPr lang="en-US" sz="1600" dirty="0"/>
          </a:p>
        </p:txBody>
      </p:sp>
      <p:sp>
        <p:nvSpPr>
          <p:cNvPr id="10" name="Text 8"/>
          <p:cNvSpPr/>
          <p:nvPr/>
        </p:nvSpPr>
        <p:spPr>
          <a:xfrm>
            <a:off x="841248" y="2359152"/>
            <a:ext cx="4797400" cy="256032"/>
          </a:xfrm>
          <a:prstGeom prst="rect">
            <a:avLst/>
          </a:prstGeom>
          <a:noFill/>
          <a:ln/>
        </p:spPr>
        <p:txBody>
          <a:bodyPr wrap="square" lIns="0" tIns="0" rIns="0" bIns="0" rtlCol="0" anchor="ctr"/>
          <a:lstStyle/>
          <a:p>
            <a:pPr algn="ctr" indent="0" marL="0">
              <a:buNone/>
            </a:pPr>
            <a:r>
              <a:rPr lang="en-US" sz="1150" i="1" dirty="0">
                <a:solidFill>
                  <a:srgbClr val="22C55E"/>
                </a:solidFill>
                <a:latin typeface="Calibri" pitchFamily="34" charset="0"/>
                <a:ea typeface="Calibri" pitchFamily="34" charset="-122"/>
                <a:cs typeface="Calibri" pitchFamily="34" charset="-120"/>
              </a:rPr>
              <a:t>/portal</a:t>
            </a:r>
            <a:endParaRPr lang="en-US" sz="1150" dirty="0"/>
          </a:p>
        </p:txBody>
      </p:sp>
      <p:sp>
        <p:nvSpPr>
          <p:cNvPr id="11" name="Text 9"/>
          <p:cNvSpPr/>
          <p:nvPr/>
        </p:nvSpPr>
        <p:spPr>
          <a:xfrm>
            <a:off x="877824" y="2761488"/>
            <a:ext cx="4724248" cy="2651760"/>
          </a:xfrm>
          <a:prstGeom prst="rect">
            <a:avLst/>
          </a:prstGeom>
          <a:noFill/>
          <a:ln/>
        </p:spPr>
        <p:txBody>
          <a:bodyPr wrap="square" lIns="0" tIns="0" rIns="0" bIns="0" rtlCol="0" anchor="t"/>
          <a:lstStyle/>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See only the drives they are actually eligible for</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Apply in one click, or read exactly why they cannot</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Track each application and its stage history</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Keep phone and skills current, change password</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See upcoming deadlines and notices on the home page</a:t>
            </a:r>
            <a:endParaRPr lang="en-US" sz="1350" dirty="0"/>
          </a:p>
        </p:txBody>
      </p:sp>
      <p:sp>
        <p:nvSpPr>
          <p:cNvPr id="12" name="Shape 10"/>
          <p:cNvSpPr/>
          <p:nvPr/>
        </p:nvSpPr>
        <p:spPr>
          <a:xfrm>
            <a:off x="6278728" y="1389888"/>
            <a:ext cx="5346040" cy="4261104"/>
          </a:xfrm>
          <a:prstGeom prst="roundRect">
            <a:avLst>
              <a:gd name="adj" fmla="val 214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6553048" y="1682496"/>
            <a:ext cx="4797400" cy="603504"/>
          </a:xfrm>
          <a:prstGeom prst="roundRect">
            <a:avLst>
              <a:gd name="adj" fmla="val 18182"/>
            </a:avLst>
          </a:prstGeom>
          <a:solidFill>
            <a:srgbClr val="D3EF4C"/>
          </a:solidFill>
          <a:ln w="12700">
            <a:solidFill>
              <a:srgbClr val="D3EF4C"/>
            </a:solidFill>
            <a:prstDash val="solid"/>
          </a:ln>
        </p:spPr>
      </p:sp>
      <p:sp>
        <p:nvSpPr>
          <p:cNvPr id="14" name="Text 12"/>
          <p:cNvSpPr/>
          <p:nvPr/>
        </p:nvSpPr>
        <p:spPr>
          <a:xfrm>
            <a:off x="6553048" y="1847088"/>
            <a:ext cx="4797400" cy="292608"/>
          </a:xfrm>
          <a:prstGeom prst="rect">
            <a:avLst/>
          </a:prstGeom>
          <a:noFill/>
          <a:ln/>
        </p:spPr>
        <p:txBody>
          <a:bodyPr wrap="square" lIns="0" tIns="0" rIns="0" bIns="0" rtlCol="0" anchor="ctr"/>
          <a:lstStyle/>
          <a:p>
            <a:pPr algn="ctr" indent="0" marL="0">
              <a:buNone/>
            </a:pPr>
            <a:r>
              <a:rPr lang="en-US" sz="1600" b="1" dirty="0">
                <a:solidFill>
                  <a:srgbClr val="0B1814"/>
                </a:solidFill>
                <a:latin typeface="Calibri" pitchFamily="34" charset="0"/>
                <a:ea typeface="Calibri" pitchFamily="34" charset="-122"/>
                <a:cs typeface="Calibri" pitchFamily="34" charset="-120"/>
              </a:rPr>
              <a:t>Teacher / placement cell (admin)</a:t>
            </a:r>
            <a:endParaRPr lang="en-US" sz="1600" dirty="0"/>
          </a:p>
        </p:txBody>
      </p:sp>
      <p:sp>
        <p:nvSpPr>
          <p:cNvPr id="15" name="Text 13"/>
          <p:cNvSpPr/>
          <p:nvPr/>
        </p:nvSpPr>
        <p:spPr>
          <a:xfrm>
            <a:off x="6553048" y="2359152"/>
            <a:ext cx="4797400" cy="256032"/>
          </a:xfrm>
          <a:prstGeom prst="rect">
            <a:avLst/>
          </a:prstGeom>
          <a:noFill/>
          <a:ln/>
        </p:spPr>
        <p:txBody>
          <a:bodyPr wrap="square" lIns="0" tIns="0" rIns="0" bIns="0" rtlCol="0" anchor="ctr"/>
          <a:lstStyle/>
          <a:p>
            <a:pPr algn="ctr" indent="0" marL="0">
              <a:buNone/>
            </a:pPr>
            <a:r>
              <a:rPr lang="en-US" sz="1150" i="1" dirty="0">
                <a:solidFill>
                  <a:srgbClr val="22C55E"/>
                </a:solidFill>
                <a:latin typeface="Calibri" pitchFamily="34" charset="0"/>
                <a:ea typeface="Calibri" pitchFamily="34" charset="-122"/>
                <a:cs typeface="Calibri" pitchFamily="34" charset="-120"/>
              </a:rPr>
              <a:t>/dashboard</a:t>
            </a:r>
            <a:endParaRPr lang="en-US" sz="1150" dirty="0"/>
          </a:p>
        </p:txBody>
      </p:sp>
      <p:sp>
        <p:nvSpPr>
          <p:cNvPr id="16" name="Text 14"/>
          <p:cNvSpPr/>
          <p:nvPr/>
        </p:nvSpPr>
        <p:spPr>
          <a:xfrm>
            <a:off x="6589624" y="2761488"/>
            <a:ext cx="4724248" cy="2651760"/>
          </a:xfrm>
          <a:prstGeom prst="rect">
            <a:avLst/>
          </a:prstGeom>
          <a:noFill/>
          <a:ln/>
        </p:spPr>
        <p:txBody>
          <a:bodyPr wrap="square" lIns="0" tIns="0" rIns="0" bIns="0" rtlCol="0" anchor="t"/>
          <a:lstStyle/>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Maintain students, companies, drives and notices</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Import a cohort by CSV, with per-row error reporting</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Move candidates between four stages; every move is logged</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Read a descriptive dashboard of the season</a:t>
            </a:r>
            <a:endParaRPr lang="en-US" sz="1350" dirty="0"/>
          </a:p>
          <a:p>
            <a:pPr marL="342900" indent="-342900">
              <a:lnSpc>
                <a:spcPts val="20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Override an offer's actual CTC; export major tables as CSV</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DATA MODEL</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Six core tables, two that carry the policy</a:t>
            </a:r>
            <a:endParaRPr lang="en-US" sz="3100" dirty="0"/>
          </a:p>
        </p:txBody>
      </p:sp>
      <p:sp>
        <p:nvSpPr>
          <p:cNvPr id="4" name="Text 2"/>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5" name="Text 3"/>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194560"/>
                <a:gridCol w="1463040"/>
                <a:gridCol w="4206240"/>
                <a:gridCol w="3227832"/>
              </a:tblGrid>
              <a:tr h="274320">
                <a:tc>
                  <a:txBody>
                    <a:bodyPr/>
                    <a:lstStyle/>
                    <a:p>
                      <a:pPr indent="0" marL="0">
                        <a:buNone/>
                      </a:pPr>
                      <a:r>
                        <a:rPr lang="en-US" sz="1200" b="1" dirty="0">
                          <a:solidFill>
                            <a:srgbClr val="0B1814"/>
                          </a:solidFill>
                        </a:rPr>
                        <a:t>Table</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Holds</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Key columns</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Role in the design</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r>
              <a:tr h="274320">
                <a:tc>
                  <a:txBody>
                    <a:bodyPr/>
                    <a:lstStyle/>
                    <a:p>
                      <a:pPr algn="l" indent="0" marL="0">
                        <a:buNone/>
                      </a:pPr>
                      <a:r>
                        <a:rPr lang="en-US" sz="1150" dirty="0">
                          <a:solidFill>
                            <a:srgbClr val="FFFFFF"/>
                          </a:solidFill>
                        </a:rPr>
                        <a:t>users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Login identities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email, password_hash, role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Role drives portal routing</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students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Student records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roll_no, department, program, cgpa, skills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Eligibility inputs + profile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companies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Recruiters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name, sector, website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Parent of drives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drives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Recruitment drives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role, package_lpa, min_cgpa, eligible_departments, eligible_programs, application_deadline, is_active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Eligibility inputs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applications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Student × drive link</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student_id, drive_id, status, applied_at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Unique (student, drive) stops duplicates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notices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Announcements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title, body, created_at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Student and admin notice board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placement_records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Actual offers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student_id, drive_id, package_lpa, offered_on</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Backs the offer ladder</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application_status_history</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Audit trail</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application_id, status, note, changed_by, created_at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Append-only; never updated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DESIGN  ·  ELIGIBILITY</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One eligibility function, four call sites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It returns an allow flag and, when the answer is no, the reason string the student will read.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66928" y="1389888"/>
            <a:ext cx="4709160" cy="4206240"/>
          </a:xfrm>
          <a:prstGeom prst="roundRect">
            <a:avLst>
              <a:gd name="adj" fmla="val 217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22960" y="1609344"/>
            <a:ext cx="4206240" cy="292608"/>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The checks, in order</a:t>
            </a:r>
            <a:endParaRPr lang="en-US" sz="1600" dirty="0"/>
          </a:p>
        </p:txBody>
      </p:sp>
      <p:sp>
        <p:nvSpPr>
          <p:cNvPr id="9" name="Shape 7"/>
          <p:cNvSpPr/>
          <p:nvPr/>
        </p:nvSpPr>
        <p:spPr>
          <a:xfrm>
            <a:off x="841248" y="2103120"/>
            <a:ext cx="329184" cy="329184"/>
          </a:xfrm>
          <a:prstGeom prst="ellipse">
            <a:avLst/>
          </a:prstGeom>
          <a:solidFill>
            <a:srgbClr val="22C55E"/>
          </a:solidFill>
          <a:ln w="12700">
            <a:solidFill>
              <a:srgbClr val="22C55E"/>
            </a:solidFill>
            <a:prstDash val="solid"/>
          </a:ln>
        </p:spPr>
      </p:sp>
      <p:sp>
        <p:nvSpPr>
          <p:cNvPr id="10" name="Text 8"/>
          <p:cNvSpPr/>
          <p:nvPr/>
        </p:nvSpPr>
        <p:spPr>
          <a:xfrm>
            <a:off x="841248" y="2121408"/>
            <a:ext cx="329184" cy="292608"/>
          </a:xfrm>
          <a:prstGeom prst="rect">
            <a:avLst/>
          </a:prstGeom>
          <a:noFill/>
          <a:ln/>
        </p:spPr>
        <p:txBody>
          <a:bodyPr wrap="square" lIns="0" tIns="0" rIns="0" bIns="0" rtlCol="0" anchor="ctr"/>
          <a:lstStyle/>
          <a:p>
            <a:pPr algn="ctr" indent="0" marL="0">
              <a:buNone/>
            </a:pPr>
            <a:r>
              <a:rPr lang="en-US" sz="1100" b="1" dirty="0">
                <a:solidFill>
                  <a:srgbClr val="0B1814"/>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280160" y="2121408"/>
            <a:ext cx="365760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Application deadline has not passed</a:t>
            </a:r>
            <a:endParaRPr lang="en-US" sz="1250" dirty="0"/>
          </a:p>
        </p:txBody>
      </p:sp>
      <p:sp>
        <p:nvSpPr>
          <p:cNvPr id="12" name="Shape 10"/>
          <p:cNvSpPr/>
          <p:nvPr/>
        </p:nvSpPr>
        <p:spPr>
          <a:xfrm>
            <a:off x="841248" y="2688336"/>
            <a:ext cx="329184" cy="329184"/>
          </a:xfrm>
          <a:prstGeom prst="ellipse">
            <a:avLst/>
          </a:prstGeom>
          <a:solidFill>
            <a:srgbClr val="22C55E"/>
          </a:solidFill>
          <a:ln w="12700">
            <a:solidFill>
              <a:srgbClr val="22C55E"/>
            </a:solidFill>
            <a:prstDash val="solid"/>
          </a:ln>
        </p:spPr>
      </p:sp>
      <p:sp>
        <p:nvSpPr>
          <p:cNvPr id="13" name="Text 11"/>
          <p:cNvSpPr/>
          <p:nvPr/>
        </p:nvSpPr>
        <p:spPr>
          <a:xfrm>
            <a:off x="841248" y="2706624"/>
            <a:ext cx="329184" cy="292608"/>
          </a:xfrm>
          <a:prstGeom prst="rect">
            <a:avLst/>
          </a:prstGeom>
          <a:noFill/>
          <a:ln/>
        </p:spPr>
        <p:txBody>
          <a:bodyPr wrap="square" lIns="0" tIns="0" rIns="0" bIns="0" rtlCol="0" anchor="ctr"/>
          <a:lstStyle/>
          <a:p>
            <a:pPr algn="ctr" indent="0" marL="0">
              <a:buNone/>
            </a:pPr>
            <a:r>
              <a:rPr lang="en-US" sz="1100" b="1" dirty="0">
                <a:solidFill>
                  <a:srgbClr val="0B1814"/>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280160" y="2706624"/>
            <a:ext cx="365760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drive is active, not closed</a:t>
            </a:r>
            <a:endParaRPr lang="en-US" sz="1250" dirty="0"/>
          </a:p>
        </p:txBody>
      </p:sp>
      <p:sp>
        <p:nvSpPr>
          <p:cNvPr id="15" name="Shape 13"/>
          <p:cNvSpPr/>
          <p:nvPr/>
        </p:nvSpPr>
        <p:spPr>
          <a:xfrm>
            <a:off x="841248" y="3273552"/>
            <a:ext cx="329184" cy="329184"/>
          </a:xfrm>
          <a:prstGeom prst="ellipse">
            <a:avLst/>
          </a:prstGeom>
          <a:solidFill>
            <a:srgbClr val="22C55E"/>
          </a:solidFill>
          <a:ln w="12700">
            <a:solidFill>
              <a:srgbClr val="22C55E"/>
            </a:solidFill>
            <a:prstDash val="solid"/>
          </a:ln>
        </p:spPr>
      </p:sp>
      <p:sp>
        <p:nvSpPr>
          <p:cNvPr id="16" name="Text 14"/>
          <p:cNvSpPr/>
          <p:nvPr/>
        </p:nvSpPr>
        <p:spPr>
          <a:xfrm>
            <a:off x="841248" y="3291840"/>
            <a:ext cx="329184" cy="292608"/>
          </a:xfrm>
          <a:prstGeom prst="rect">
            <a:avLst/>
          </a:prstGeom>
          <a:noFill/>
          <a:ln/>
        </p:spPr>
        <p:txBody>
          <a:bodyPr wrap="square" lIns="0" tIns="0" rIns="0" bIns="0" rtlCol="0" anchor="ctr"/>
          <a:lstStyle/>
          <a:p>
            <a:pPr algn="ctr" indent="0" marL="0">
              <a:buNone/>
            </a:pPr>
            <a:r>
              <a:rPr lang="en-US" sz="1100" b="1" dirty="0">
                <a:solidFill>
                  <a:srgbClr val="0B1814"/>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80160" y="3291840"/>
            <a:ext cx="365760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Student's program is in eligible_programs</a:t>
            </a:r>
            <a:endParaRPr lang="en-US" sz="1250" dirty="0"/>
          </a:p>
        </p:txBody>
      </p:sp>
      <p:sp>
        <p:nvSpPr>
          <p:cNvPr id="18" name="Shape 16"/>
          <p:cNvSpPr/>
          <p:nvPr/>
        </p:nvSpPr>
        <p:spPr>
          <a:xfrm>
            <a:off x="841248" y="3858768"/>
            <a:ext cx="329184" cy="329184"/>
          </a:xfrm>
          <a:prstGeom prst="ellipse">
            <a:avLst/>
          </a:prstGeom>
          <a:solidFill>
            <a:srgbClr val="22C55E"/>
          </a:solidFill>
          <a:ln w="12700">
            <a:solidFill>
              <a:srgbClr val="22C55E"/>
            </a:solidFill>
            <a:prstDash val="solid"/>
          </a:ln>
        </p:spPr>
      </p:sp>
      <p:sp>
        <p:nvSpPr>
          <p:cNvPr id="19" name="Text 17"/>
          <p:cNvSpPr/>
          <p:nvPr/>
        </p:nvSpPr>
        <p:spPr>
          <a:xfrm>
            <a:off x="841248" y="3877056"/>
            <a:ext cx="329184" cy="292608"/>
          </a:xfrm>
          <a:prstGeom prst="rect">
            <a:avLst/>
          </a:prstGeom>
          <a:noFill/>
          <a:ln/>
        </p:spPr>
        <p:txBody>
          <a:bodyPr wrap="square" lIns="0" tIns="0" rIns="0" bIns="0" rtlCol="0" anchor="ctr"/>
          <a:lstStyle/>
          <a:p>
            <a:pPr algn="ctr" indent="0" marL="0">
              <a:buNone/>
            </a:pPr>
            <a:r>
              <a:rPr lang="en-US" sz="1100" b="1" dirty="0">
                <a:solidFill>
                  <a:srgbClr val="0B1814"/>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1280160" y="3877056"/>
            <a:ext cx="365760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Student's department is in eligible_departments</a:t>
            </a:r>
            <a:endParaRPr lang="en-US" sz="1250" dirty="0"/>
          </a:p>
        </p:txBody>
      </p:sp>
      <p:sp>
        <p:nvSpPr>
          <p:cNvPr id="21" name="Shape 19"/>
          <p:cNvSpPr/>
          <p:nvPr/>
        </p:nvSpPr>
        <p:spPr>
          <a:xfrm>
            <a:off x="841248" y="4443984"/>
            <a:ext cx="329184" cy="329184"/>
          </a:xfrm>
          <a:prstGeom prst="ellipse">
            <a:avLst/>
          </a:prstGeom>
          <a:solidFill>
            <a:srgbClr val="22C55E"/>
          </a:solidFill>
          <a:ln w="12700">
            <a:solidFill>
              <a:srgbClr val="22C55E"/>
            </a:solidFill>
            <a:prstDash val="solid"/>
          </a:ln>
        </p:spPr>
      </p:sp>
      <p:sp>
        <p:nvSpPr>
          <p:cNvPr id="22" name="Text 20"/>
          <p:cNvSpPr/>
          <p:nvPr/>
        </p:nvSpPr>
        <p:spPr>
          <a:xfrm>
            <a:off x="841248" y="4462272"/>
            <a:ext cx="329184" cy="292608"/>
          </a:xfrm>
          <a:prstGeom prst="rect">
            <a:avLst/>
          </a:prstGeom>
          <a:noFill/>
          <a:ln/>
        </p:spPr>
        <p:txBody>
          <a:bodyPr wrap="square" lIns="0" tIns="0" rIns="0" bIns="0" rtlCol="0" anchor="ctr"/>
          <a:lstStyle/>
          <a:p>
            <a:pPr algn="ctr" indent="0" marL="0">
              <a:buNone/>
            </a:pPr>
            <a:r>
              <a:rPr lang="en-US" sz="1100" b="1" dirty="0">
                <a:solidFill>
                  <a:srgbClr val="0B1814"/>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280160" y="4462272"/>
            <a:ext cx="365760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CGPA clears the drive's minimum</a:t>
            </a:r>
            <a:endParaRPr lang="en-US" sz="1250" dirty="0"/>
          </a:p>
        </p:txBody>
      </p:sp>
      <p:sp>
        <p:nvSpPr>
          <p:cNvPr id="24" name="Shape 22"/>
          <p:cNvSpPr/>
          <p:nvPr/>
        </p:nvSpPr>
        <p:spPr>
          <a:xfrm>
            <a:off x="841248" y="5047488"/>
            <a:ext cx="4160520" cy="384048"/>
          </a:xfrm>
          <a:prstGeom prst="roundRect">
            <a:avLst>
              <a:gd name="adj" fmla="val 23810"/>
            </a:avLst>
          </a:prstGeom>
          <a:solidFill>
            <a:srgbClr val="3A3320"/>
          </a:solidFill>
          <a:ln w="12700">
            <a:solidFill>
              <a:srgbClr val="D9A13B"/>
            </a:solidFill>
            <a:prstDash val="solid"/>
          </a:ln>
        </p:spPr>
      </p:sp>
      <p:sp>
        <p:nvSpPr>
          <p:cNvPr id="25" name="Text 23"/>
          <p:cNvSpPr/>
          <p:nvPr/>
        </p:nvSpPr>
        <p:spPr>
          <a:xfrm>
            <a:off x="950976" y="5120640"/>
            <a:ext cx="3977640" cy="256032"/>
          </a:xfrm>
          <a:prstGeom prst="rect">
            <a:avLst/>
          </a:prstGeom>
          <a:noFill/>
          <a:ln/>
        </p:spPr>
        <p:txBody>
          <a:bodyPr wrap="square" lIns="0" tIns="0" rIns="0" bIns="0" rtlCol="0" anchor="ctr"/>
          <a:lstStyle/>
          <a:p>
            <a:pPr indent="0" marL="0">
              <a:buNone/>
            </a:pPr>
            <a:r>
              <a:rPr lang="en-US" sz="1050" b="1" dirty="0">
                <a:solidFill>
                  <a:srgbClr val="D9A13B"/>
                </a:solidFill>
                <a:latin typeface="Calibri" pitchFamily="34" charset="0"/>
                <a:ea typeface="Calibri" pitchFamily="34" charset="-122"/>
                <a:cs typeface="Calibri" pitchFamily="34" charset="-120"/>
              </a:rPr>
              <a:t>The offer ladder is a separate check, applied only at apply time</a:t>
            </a:r>
            <a:endParaRPr lang="en-US" sz="1050" dirty="0"/>
          </a:p>
        </p:txBody>
      </p:sp>
      <p:sp>
        <p:nvSpPr>
          <p:cNvPr id="26" name="Shape 24"/>
          <p:cNvSpPr/>
          <p:nvPr/>
        </p:nvSpPr>
        <p:spPr>
          <a:xfrm>
            <a:off x="5641848" y="1389888"/>
            <a:ext cx="5982919" cy="4206240"/>
          </a:xfrm>
          <a:prstGeom prst="roundRect">
            <a:avLst>
              <a:gd name="adj" fmla="val 217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7" name="Text 25"/>
          <p:cNvSpPr/>
          <p:nvPr/>
        </p:nvSpPr>
        <p:spPr>
          <a:xfrm>
            <a:off x="5897880" y="1609344"/>
            <a:ext cx="5479999" cy="292608"/>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Four call sites, one source of truth</a:t>
            </a:r>
            <a:endParaRPr lang="en-US" sz="1600" dirty="0"/>
          </a:p>
        </p:txBody>
      </p:sp>
      <p:sp>
        <p:nvSpPr>
          <p:cNvPr id="28" name="Text 26"/>
          <p:cNvSpPr/>
          <p:nvPr/>
        </p:nvSpPr>
        <p:spPr>
          <a:xfrm>
            <a:off x="5897880" y="2103120"/>
            <a:ext cx="5479999"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Student drive listing</a:t>
            </a:r>
            <a:endParaRPr lang="en-US" sz="1350" dirty="0"/>
          </a:p>
        </p:txBody>
      </p:sp>
      <p:sp>
        <p:nvSpPr>
          <p:cNvPr id="29" name="Text 27"/>
          <p:cNvSpPr/>
          <p:nvPr/>
        </p:nvSpPr>
        <p:spPr>
          <a:xfrm>
            <a:off x="5897880" y="2377440"/>
            <a:ext cx="547999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Decides Apply vs Not eligible, and supplies the reason</a:t>
            </a:r>
            <a:endParaRPr lang="en-US" sz="1150" dirty="0"/>
          </a:p>
        </p:txBody>
      </p:sp>
      <p:sp>
        <p:nvSpPr>
          <p:cNvPr id="30" name="Text 28"/>
          <p:cNvSpPr/>
          <p:nvPr/>
        </p:nvSpPr>
        <p:spPr>
          <a:xfrm>
            <a:off x="5897880" y="2971800"/>
            <a:ext cx="5479999"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Apply endpoint</a:t>
            </a:r>
            <a:endParaRPr lang="en-US" sz="1350" dirty="0"/>
          </a:p>
        </p:txBody>
      </p:sp>
      <p:sp>
        <p:nvSpPr>
          <p:cNvPr id="31" name="Text 29"/>
          <p:cNvSpPr/>
          <p:nvPr/>
        </p:nvSpPr>
        <p:spPr>
          <a:xfrm>
            <a:off x="5897880" y="3246120"/>
            <a:ext cx="547999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Re-checks on the server; an ineligible POST is refused</a:t>
            </a:r>
            <a:endParaRPr lang="en-US" sz="1150" dirty="0"/>
          </a:p>
        </p:txBody>
      </p:sp>
      <p:sp>
        <p:nvSpPr>
          <p:cNvPr id="32" name="Text 30"/>
          <p:cNvSpPr/>
          <p:nvPr/>
        </p:nvSpPr>
        <p:spPr>
          <a:xfrm>
            <a:off x="5897880" y="3840480"/>
            <a:ext cx="5479999"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Admin application badge</a:t>
            </a:r>
            <a:endParaRPr lang="en-US" sz="1350" dirty="0"/>
          </a:p>
        </p:txBody>
      </p:sp>
      <p:sp>
        <p:nvSpPr>
          <p:cNvPr id="33" name="Text 31"/>
          <p:cNvSpPr/>
          <p:nvPr/>
        </p:nvSpPr>
        <p:spPr>
          <a:xfrm>
            <a:off x="5897880" y="4114800"/>
            <a:ext cx="547999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Same verdict shown to the placement cell</a:t>
            </a:r>
            <a:endParaRPr lang="en-US" sz="1150" dirty="0"/>
          </a:p>
        </p:txBody>
      </p:sp>
      <p:sp>
        <p:nvSpPr>
          <p:cNvPr id="34" name="Text 32"/>
          <p:cNvSpPr/>
          <p:nvPr/>
        </p:nvSpPr>
        <p:spPr>
          <a:xfrm>
            <a:off x="5897880" y="4709160"/>
            <a:ext cx="5479999"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Eligible-but-not-applied list</a:t>
            </a:r>
            <a:endParaRPr lang="en-US" sz="1350" dirty="0"/>
          </a:p>
        </p:txBody>
      </p:sp>
      <p:sp>
        <p:nvSpPr>
          <p:cNvPr id="35" name="Text 33"/>
          <p:cNvSpPr/>
          <p:nvPr/>
        </p:nvSpPr>
        <p:spPr>
          <a:xfrm>
            <a:off x="5897880" y="4983480"/>
            <a:ext cx="547999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How the cell sees who it should chase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DESIGN  ·  OFFERS</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offer ladder</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A placed student may only apply to drives paying at least their best offer + 2.0 LPA.</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66928" y="1389888"/>
            <a:ext cx="2599868" cy="2286000"/>
          </a:xfrm>
          <a:prstGeom prst="roundRect">
            <a:avLst>
              <a:gd name="adj" fmla="val 400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04672" y="1627632"/>
            <a:ext cx="457200" cy="457200"/>
          </a:xfrm>
          <a:prstGeom prst="ellipse">
            <a:avLst/>
          </a:prstGeom>
          <a:solidFill>
            <a:srgbClr val="22C55E"/>
          </a:solidFill>
          <a:ln w="12700">
            <a:solidFill>
              <a:srgbClr val="22C55E"/>
            </a:solidFill>
            <a:prstDash val="solid"/>
          </a:ln>
        </p:spPr>
      </p:sp>
      <p:sp>
        <p:nvSpPr>
          <p:cNvPr id="9" name="Text 7"/>
          <p:cNvSpPr/>
          <p:nvPr/>
        </p:nvSpPr>
        <p:spPr>
          <a:xfrm>
            <a:off x="804672" y="1709928"/>
            <a:ext cx="457200"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804672" y="2249424"/>
            <a:ext cx="2124380" cy="512064"/>
          </a:xfrm>
          <a:prstGeom prst="rect">
            <a:avLst/>
          </a:prstGeom>
          <a:noFill/>
          <a:ln/>
        </p:spPr>
        <p:txBody>
          <a:bodyPr wrap="square" lIns="0" tIns="0" rIns="0" bIns="0" rtlCol="0" anchor="ctr"/>
          <a:lstStyle/>
          <a:p>
            <a:pPr indent="0" marL="0">
              <a:lnSpc>
                <a:spcPts val="1900"/>
              </a:lnSpc>
              <a:buNone/>
            </a:pPr>
            <a:r>
              <a:rPr lang="en-US" sz="1550" b="1" dirty="0">
                <a:solidFill>
                  <a:srgbClr val="FFFFFF"/>
                </a:solidFill>
                <a:latin typeface="Cambria" pitchFamily="34" charset="0"/>
                <a:ea typeface="Cambria" pitchFamily="34" charset="-122"/>
                <a:cs typeface="Cambria" pitchFamily="34" charset="-120"/>
              </a:rPr>
              <a:t>Marked selected</a:t>
            </a:r>
            <a:endParaRPr lang="en-US" sz="1550" dirty="0"/>
          </a:p>
        </p:txBody>
      </p:sp>
      <p:sp>
        <p:nvSpPr>
          <p:cNvPr id="11" name="Text 9"/>
          <p:cNvSpPr/>
          <p:nvPr/>
        </p:nvSpPr>
        <p:spPr>
          <a:xfrm>
            <a:off x="804672" y="2816352"/>
            <a:ext cx="2124380" cy="73152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The admin moves an application to selected.</a:t>
            </a:r>
            <a:endParaRPr lang="en-US" sz="1150" dirty="0"/>
          </a:p>
        </p:txBody>
      </p:sp>
      <p:sp>
        <p:nvSpPr>
          <p:cNvPr id="12" name="Shape 10"/>
          <p:cNvSpPr/>
          <p:nvPr/>
        </p:nvSpPr>
        <p:spPr>
          <a:xfrm>
            <a:off x="3386252" y="1389888"/>
            <a:ext cx="2599868" cy="2286000"/>
          </a:xfrm>
          <a:prstGeom prst="roundRect">
            <a:avLst>
              <a:gd name="adj" fmla="val 4000"/>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3623996" y="1627632"/>
            <a:ext cx="457200" cy="457200"/>
          </a:xfrm>
          <a:prstGeom prst="ellipse">
            <a:avLst/>
          </a:prstGeom>
          <a:solidFill>
            <a:srgbClr val="D3EF4C"/>
          </a:solidFill>
          <a:ln w="12700">
            <a:solidFill>
              <a:srgbClr val="D3EF4C"/>
            </a:solidFill>
            <a:prstDash val="solid"/>
          </a:ln>
        </p:spPr>
      </p:sp>
      <p:sp>
        <p:nvSpPr>
          <p:cNvPr id="14" name="Text 12"/>
          <p:cNvSpPr/>
          <p:nvPr/>
        </p:nvSpPr>
        <p:spPr>
          <a:xfrm>
            <a:off x="3623996" y="1709928"/>
            <a:ext cx="457200"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623996" y="2249424"/>
            <a:ext cx="2124380" cy="512064"/>
          </a:xfrm>
          <a:prstGeom prst="rect">
            <a:avLst/>
          </a:prstGeom>
          <a:noFill/>
          <a:ln/>
        </p:spPr>
        <p:txBody>
          <a:bodyPr wrap="square" lIns="0" tIns="0" rIns="0" bIns="0" rtlCol="0" anchor="ctr"/>
          <a:lstStyle/>
          <a:p>
            <a:pPr indent="0" marL="0">
              <a:lnSpc>
                <a:spcPts val="1900"/>
              </a:lnSpc>
              <a:buNone/>
            </a:pPr>
            <a:r>
              <a:rPr lang="en-US" sz="1550" b="1" dirty="0">
                <a:solidFill>
                  <a:srgbClr val="FFFFFF"/>
                </a:solidFill>
                <a:latin typeface="Cambria" pitchFamily="34" charset="0"/>
                <a:ea typeface="Cambria" pitchFamily="34" charset="-122"/>
                <a:cs typeface="Cambria" pitchFamily="34" charset="-120"/>
              </a:rPr>
              <a:t>Offer recorded</a:t>
            </a:r>
            <a:endParaRPr lang="en-US" sz="1550" dirty="0"/>
          </a:p>
        </p:txBody>
      </p:sp>
      <p:sp>
        <p:nvSpPr>
          <p:cNvPr id="16" name="Text 14"/>
          <p:cNvSpPr/>
          <p:nvPr/>
        </p:nvSpPr>
        <p:spPr>
          <a:xfrm>
            <a:off x="3623996" y="2816352"/>
            <a:ext cx="2124380" cy="73152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A placement record is inserted: student, drive, date, package seeded from the drive.</a:t>
            </a:r>
            <a:endParaRPr lang="en-US" sz="1150" dirty="0"/>
          </a:p>
        </p:txBody>
      </p:sp>
      <p:sp>
        <p:nvSpPr>
          <p:cNvPr id="17" name="Shape 15"/>
          <p:cNvSpPr/>
          <p:nvPr/>
        </p:nvSpPr>
        <p:spPr>
          <a:xfrm>
            <a:off x="6205576" y="1389888"/>
            <a:ext cx="2599868" cy="2286000"/>
          </a:xfrm>
          <a:prstGeom prst="roundRect">
            <a:avLst>
              <a:gd name="adj" fmla="val 400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8" name="Shape 16"/>
          <p:cNvSpPr/>
          <p:nvPr/>
        </p:nvSpPr>
        <p:spPr>
          <a:xfrm>
            <a:off x="6443320" y="1627632"/>
            <a:ext cx="457200" cy="457200"/>
          </a:xfrm>
          <a:prstGeom prst="ellipse">
            <a:avLst/>
          </a:prstGeom>
          <a:solidFill>
            <a:srgbClr val="D9A13B"/>
          </a:solidFill>
          <a:ln w="12700">
            <a:solidFill>
              <a:srgbClr val="D9A13B"/>
            </a:solidFill>
            <a:prstDash val="solid"/>
          </a:ln>
        </p:spPr>
      </p:sp>
      <p:sp>
        <p:nvSpPr>
          <p:cNvPr id="19" name="Text 17"/>
          <p:cNvSpPr/>
          <p:nvPr/>
        </p:nvSpPr>
        <p:spPr>
          <a:xfrm>
            <a:off x="6443320" y="1709928"/>
            <a:ext cx="457200"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6443320" y="2249424"/>
            <a:ext cx="2124380" cy="512064"/>
          </a:xfrm>
          <a:prstGeom prst="rect">
            <a:avLst/>
          </a:prstGeom>
          <a:noFill/>
          <a:ln/>
        </p:spPr>
        <p:txBody>
          <a:bodyPr wrap="square" lIns="0" tIns="0" rIns="0" bIns="0" rtlCol="0" anchor="ctr"/>
          <a:lstStyle/>
          <a:p>
            <a:pPr indent="0" marL="0">
              <a:lnSpc>
                <a:spcPts val="1900"/>
              </a:lnSpc>
              <a:buNone/>
            </a:pPr>
            <a:r>
              <a:rPr lang="en-US" sz="1550" b="1" dirty="0">
                <a:solidFill>
                  <a:srgbClr val="FFFFFF"/>
                </a:solidFill>
                <a:latin typeface="Cambria" pitchFamily="34" charset="0"/>
                <a:ea typeface="Cambria" pitchFamily="34" charset="-122"/>
                <a:cs typeface="Cambria" pitchFamily="34" charset="-120"/>
              </a:rPr>
              <a:t>CTC overridden</a:t>
            </a:r>
            <a:endParaRPr lang="en-US" sz="1550" dirty="0"/>
          </a:p>
        </p:txBody>
      </p:sp>
      <p:sp>
        <p:nvSpPr>
          <p:cNvPr id="21" name="Text 19"/>
          <p:cNvSpPr/>
          <p:nvPr/>
        </p:nvSpPr>
        <p:spPr>
          <a:xfrm>
            <a:off x="6443320" y="2816352"/>
            <a:ext cx="2124380" cy="73152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The cell replaces the advertised figure with the actual CTC.</a:t>
            </a:r>
            <a:endParaRPr lang="en-US" sz="1150" dirty="0"/>
          </a:p>
        </p:txBody>
      </p:sp>
      <p:sp>
        <p:nvSpPr>
          <p:cNvPr id="22" name="Shape 20"/>
          <p:cNvSpPr/>
          <p:nvPr/>
        </p:nvSpPr>
        <p:spPr>
          <a:xfrm>
            <a:off x="9024899" y="1389888"/>
            <a:ext cx="2599868" cy="2286000"/>
          </a:xfrm>
          <a:prstGeom prst="roundRect">
            <a:avLst>
              <a:gd name="adj" fmla="val 4000"/>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Shape 21"/>
          <p:cNvSpPr/>
          <p:nvPr/>
        </p:nvSpPr>
        <p:spPr>
          <a:xfrm>
            <a:off x="9262643" y="1627632"/>
            <a:ext cx="457200" cy="457200"/>
          </a:xfrm>
          <a:prstGeom prst="ellipse">
            <a:avLst/>
          </a:prstGeom>
          <a:solidFill>
            <a:srgbClr val="22C55E"/>
          </a:solidFill>
          <a:ln w="12700">
            <a:solidFill>
              <a:srgbClr val="22C55E"/>
            </a:solidFill>
            <a:prstDash val="solid"/>
          </a:ln>
        </p:spPr>
      </p:sp>
      <p:sp>
        <p:nvSpPr>
          <p:cNvPr id="24" name="Text 22"/>
          <p:cNvSpPr/>
          <p:nvPr/>
        </p:nvSpPr>
        <p:spPr>
          <a:xfrm>
            <a:off x="9262643" y="1709928"/>
            <a:ext cx="457200"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262643" y="2249424"/>
            <a:ext cx="2124380" cy="512064"/>
          </a:xfrm>
          <a:prstGeom prst="rect">
            <a:avLst/>
          </a:prstGeom>
          <a:noFill/>
          <a:ln/>
        </p:spPr>
        <p:txBody>
          <a:bodyPr wrap="square" lIns="0" tIns="0" rIns="0" bIns="0" rtlCol="0" anchor="ctr"/>
          <a:lstStyle/>
          <a:p>
            <a:pPr indent="0" marL="0">
              <a:lnSpc>
                <a:spcPts val="1900"/>
              </a:lnSpc>
              <a:buNone/>
            </a:pPr>
            <a:r>
              <a:rPr lang="en-US" sz="1550" b="1" dirty="0">
                <a:solidFill>
                  <a:srgbClr val="FFFFFF"/>
                </a:solidFill>
                <a:latin typeface="Cambria" pitchFamily="34" charset="0"/>
                <a:ea typeface="Cambria" pitchFamily="34" charset="-122"/>
                <a:cs typeface="Cambria" pitchFamily="34" charset="-120"/>
              </a:rPr>
              <a:t>Ladder enforced</a:t>
            </a:r>
            <a:endParaRPr lang="en-US" sz="1550" dirty="0"/>
          </a:p>
        </p:txBody>
      </p:sp>
      <p:sp>
        <p:nvSpPr>
          <p:cNvPr id="26" name="Text 24"/>
          <p:cNvSpPr/>
          <p:nvPr/>
        </p:nvSpPr>
        <p:spPr>
          <a:xfrm>
            <a:off x="9262643" y="2816352"/>
            <a:ext cx="2124380" cy="73152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Apply is refused unless package ≥ best offer + 2.0 LPA.</a:t>
            </a:r>
            <a:endParaRPr lang="en-US" sz="1150" dirty="0"/>
          </a:p>
        </p:txBody>
      </p:sp>
      <p:sp>
        <p:nvSpPr>
          <p:cNvPr id="27" name="Shape 25"/>
          <p:cNvSpPr/>
          <p:nvPr/>
        </p:nvSpPr>
        <p:spPr>
          <a:xfrm>
            <a:off x="566928" y="3931920"/>
            <a:ext cx="11057839" cy="1664208"/>
          </a:xfrm>
          <a:prstGeom prst="roundRect">
            <a:avLst>
              <a:gd name="adj" fmla="val 5495"/>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8" name="Text 26"/>
          <p:cNvSpPr/>
          <p:nvPr/>
        </p:nvSpPr>
        <p:spPr>
          <a:xfrm>
            <a:off x="841248" y="4078224"/>
            <a:ext cx="2011680" cy="274320"/>
          </a:xfrm>
          <a:prstGeom prst="rect">
            <a:avLst/>
          </a:prstGeom>
          <a:noFill/>
          <a:ln/>
        </p:spPr>
        <p:txBody>
          <a:bodyPr wrap="square" lIns="0" tIns="0" rIns="0" bIns="0" rtlCol="0" anchor="ctr"/>
          <a:lstStyle/>
          <a:p>
            <a:pPr indent="0" marL="0">
              <a:buNone/>
            </a:pPr>
            <a:r>
              <a:rPr lang="en-US" sz="1250" b="1" dirty="0">
                <a:solidFill>
                  <a:srgbClr val="D3EF4C"/>
                </a:solidFill>
                <a:latin typeface="Calibri" pitchFamily="34" charset="0"/>
                <a:ea typeface="Calibri" pitchFamily="34" charset="-122"/>
                <a:cs typeface="Calibri" pitchFamily="34" charset="-120"/>
              </a:rPr>
              <a:t>Worked example</a:t>
            </a:r>
            <a:endParaRPr lang="en-US" sz="1250" dirty="0"/>
          </a:p>
        </p:txBody>
      </p:sp>
      <p:sp>
        <p:nvSpPr>
          <p:cNvPr id="29" name="Text 27"/>
          <p:cNvSpPr/>
          <p:nvPr/>
        </p:nvSpPr>
        <p:spPr>
          <a:xfrm>
            <a:off x="2944368" y="4059936"/>
            <a:ext cx="8406079"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Aarav holds an offer at 6.0 LPA, so the threshold is 8.0 LPA.</a:t>
            </a:r>
            <a:endParaRPr lang="en-US" sz="1250" dirty="0"/>
          </a:p>
        </p:txBody>
      </p:sp>
      <p:sp>
        <p:nvSpPr>
          <p:cNvPr id="30" name="Shape 28"/>
          <p:cNvSpPr/>
          <p:nvPr/>
        </p:nvSpPr>
        <p:spPr>
          <a:xfrm>
            <a:off x="841248" y="4443984"/>
            <a:ext cx="4937760" cy="566928"/>
          </a:xfrm>
          <a:prstGeom prst="roundRect">
            <a:avLst>
              <a:gd name="adj" fmla="val 16129"/>
            </a:avLst>
          </a:prstGeom>
          <a:solidFill>
            <a:srgbClr val="1B3D2C"/>
          </a:solidFill>
          <a:ln w="12700">
            <a:solidFill>
              <a:srgbClr val="22C55E"/>
            </a:solidFill>
            <a:prstDash val="solid"/>
          </a:ln>
        </p:spPr>
      </p:sp>
      <p:sp>
        <p:nvSpPr>
          <p:cNvPr id="31" name="Text 29"/>
          <p:cNvSpPr/>
          <p:nvPr/>
        </p:nvSpPr>
        <p:spPr>
          <a:xfrm>
            <a:off x="1024128" y="4590288"/>
            <a:ext cx="4572000" cy="27432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Drive at 9.0 LPA   →   allowed</a:t>
            </a:r>
            <a:endParaRPr lang="en-US" sz="1300" dirty="0"/>
          </a:p>
        </p:txBody>
      </p:sp>
      <p:sp>
        <p:nvSpPr>
          <p:cNvPr id="32" name="Shape 30"/>
          <p:cNvSpPr/>
          <p:nvPr/>
        </p:nvSpPr>
        <p:spPr>
          <a:xfrm>
            <a:off x="6007608" y="4443984"/>
            <a:ext cx="5074920" cy="566928"/>
          </a:xfrm>
          <a:prstGeom prst="roundRect">
            <a:avLst>
              <a:gd name="adj" fmla="val 16129"/>
            </a:avLst>
          </a:prstGeom>
          <a:solidFill>
            <a:srgbClr val="3A2020"/>
          </a:solidFill>
          <a:ln w="12700">
            <a:solidFill>
              <a:srgbClr val="F87171"/>
            </a:solidFill>
            <a:prstDash val="solid"/>
          </a:ln>
        </p:spPr>
      </p:sp>
      <p:sp>
        <p:nvSpPr>
          <p:cNvPr id="33" name="Text 31"/>
          <p:cNvSpPr/>
          <p:nvPr/>
        </p:nvSpPr>
        <p:spPr>
          <a:xfrm>
            <a:off x="6190488" y="4590288"/>
            <a:ext cx="4754880" cy="274320"/>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Drive at 7.0 LPA   →   refused, with reason</a:t>
            </a:r>
            <a:endParaRPr lang="en-US" sz="1300" dirty="0"/>
          </a:p>
        </p:txBody>
      </p:sp>
      <p:sp>
        <p:nvSpPr>
          <p:cNvPr id="34" name="Text 32"/>
          <p:cNvSpPr/>
          <p:nvPr/>
        </p:nvSpPr>
        <p:spPr>
          <a:xfrm>
            <a:off x="841248" y="5084064"/>
            <a:ext cx="10509199" cy="457200"/>
          </a:xfrm>
          <a:prstGeom prst="rect">
            <a:avLst/>
          </a:prstGeom>
          <a:noFill/>
          <a:ln/>
        </p:spPr>
        <p:txBody>
          <a:bodyPr wrap="square" lIns="0" tIns="0" rIns="0" bIns="0" rtlCol="0" anchor="ctr"/>
          <a:lstStyle/>
          <a:p>
            <a:pPr indent="0" marL="0">
              <a:lnSpc>
                <a:spcPts val="1500"/>
              </a:lnSpc>
              <a:buNone/>
            </a:pPr>
            <a:r>
              <a:rPr lang="en-US" sz="1100" dirty="0">
                <a:solidFill>
                  <a:srgbClr val="A8BDB2"/>
                </a:solidFill>
                <a:latin typeface="Calibri" pitchFamily="34" charset="0"/>
                <a:ea typeface="Calibri" pitchFamily="34" charset="-122"/>
                <a:cs typeface="Calibri" pitchFamily="34" charset="-120"/>
              </a:rPr>
              <a:t>Drives with no published package stay open — the rule cannot be evaluated against them. Dashboard package figures read actual offers when they exist, and fall back to advertised figures otherwise.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DESIGN  ·  AUDITABILITY</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Every decision leaves a trace</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application_status_history is append-only: rows are added, never updated, never deleted.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66928" y="1389888"/>
            <a:ext cx="5577840" cy="4206240"/>
          </a:xfrm>
          <a:prstGeom prst="roundRect">
            <a:avLst>
              <a:gd name="adj" fmla="val 217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22960" y="1609344"/>
            <a:ext cx="502920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What a row records</a:t>
            </a:r>
            <a:endParaRPr lang="en-US" sz="1600" dirty="0"/>
          </a:p>
        </p:txBody>
      </p:sp>
      <p:sp>
        <p:nvSpPr>
          <p:cNvPr id="9" name="Text 7"/>
          <p:cNvSpPr/>
          <p:nvPr/>
        </p:nvSpPr>
        <p:spPr>
          <a:xfrm>
            <a:off x="841248" y="2103120"/>
            <a:ext cx="1737360" cy="310896"/>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application_id</a:t>
            </a:r>
            <a:endParaRPr lang="en-US" sz="1250" dirty="0"/>
          </a:p>
        </p:txBody>
      </p:sp>
      <p:sp>
        <p:nvSpPr>
          <p:cNvPr id="10" name="Text 8"/>
          <p:cNvSpPr/>
          <p:nvPr/>
        </p:nvSpPr>
        <p:spPr>
          <a:xfrm>
            <a:off x="2633472" y="2103120"/>
            <a:ext cx="3291840" cy="310896"/>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which application moved</a:t>
            </a:r>
            <a:endParaRPr lang="en-US" sz="1200" dirty="0"/>
          </a:p>
        </p:txBody>
      </p:sp>
      <p:sp>
        <p:nvSpPr>
          <p:cNvPr id="11" name="Text 9"/>
          <p:cNvSpPr/>
          <p:nvPr/>
        </p:nvSpPr>
        <p:spPr>
          <a:xfrm>
            <a:off x="841248" y="2670048"/>
            <a:ext cx="1737360" cy="310896"/>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status</a:t>
            </a:r>
            <a:endParaRPr lang="en-US" sz="1250" dirty="0"/>
          </a:p>
        </p:txBody>
      </p:sp>
      <p:sp>
        <p:nvSpPr>
          <p:cNvPr id="12" name="Text 10"/>
          <p:cNvSpPr/>
          <p:nvPr/>
        </p:nvSpPr>
        <p:spPr>
          <a:xfrm>
            <a:off x="2633472" y="2670048"/>
            <a:ext cx="3291840" cy="310896"/>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the new stage: applied, shortlisted, selected, rejected</a:t>
            </a:r>
            <a:endParaRPr lang="en-US" sz="1200" dirty="0"/>
          </a:p>
        </p:txBody>
      </p:sp>
      <p:sp>
        <p:nvSpPr>
          <p:cNvPr id="13" name="Text 11"/>
          <p:cNvSpPr/>
          <p:nvPr/>
        </p:nvSpPr>
        <p:spPr>
          <a:xfrm>
            <a:off x="841248" y="3236976"/>
            <a:ext cx="1737360" cy="310896"/>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note</a:t>
            </a:r>
            <a:endParaRPr lang="en-US" sz="1250" dirty="0"/>
          </a:p>
        </p:txBody>
      </p:sp>
      <p:sp>
        <p:nvSpPr>
          <p:cNvPr id="14" name="Text 12"/>
          <p:cNvSpPr/>
          <p:nvPr/>
        </p:nvSpPr>
        <p:spPr>
          <a:xfrm>
            <a:off x="2633472" y="3236976"/>
            <a:ext cx="3291840" cy="310896"/>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optional context the cell wants on the record</a:t>
            </a:r>
            <a:endParaRPr lang="en-US" sz="1200" dirty="0"/>
          </a:p>
        </p:txBody>
      </p:sp>
      <p:sp>
        <p:nvSpPr>
          <p:cNvPr id="15" name="Text 13"/>
          <p:cNvSpPr/>
          <p:nvPr/>
        </p:nvSpPr>
        <p:spPr>
          <a:xfrm>
            <a:off x="841248" y="3803904"/>
            <a:ext cx="1737360" cy="310896"/>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changed_by</a:t>
            </a:r>
            <a:endParaRPr lang="en-US" sz="1250" dirty="0"/>
          </a:p>
        </p:txBody>
      </p:sp>
      <p:sp>
        <p:nvSpPr>
          <p:cNvPr id="16" name="Text 14"/>
          <p:cNvSpPr/>
          <p:nvPr/>
        </p:nvSpPr>
        <p:spPr>
          <a:xfrm>
            <a:off x="2633472" y="3803904"/>
            <a:ext cx="3291840" cy="310896"/>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the user who made the move</a:t>
            </a:r>
            <a:endParaRPr lang="en-US" sz="1200" dirty="0"/>
          </a:p>
        </p:txBody>
      </p:sp>
      <p:sp>
        <p:nvSpPr>
          <p:cNvPr id="17" name="Text 15"/>
          <p:cNvSpPr/>
          <p:nvPr/>
        </p:nvSpPr>
        <p:spPr>
          <a:xfrm>
            <a:off x="841248" y="4370832"/>
            <a:ext cx="1737360" cy="310896"/>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created_at</a:t>
            </a:r>
            <a:endParaRPr lang="en-US" sz="1250" dirty="0"/>
          </a:p>
        </p:txBody>
      </p:sp>
      <p:sp>
        <p:nvSpPr>
          <p:cNvPr id="18" name="Text 16"/>
          <p:cNvSpPr/>
          <p:nvPr/>
        </p:nvSpPr>
        <p:spPr>
          <a:xfrm>
            <a:off x="2633472" y="4370832"/>
            <a:ext cx="3291840" cy="310896"/>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timestamp, added automatically</a:t>
            </a:r>
            <a:endParaRPr lang="en-US" sz="1200" dirty="0"/>
          </a:p>
        </p:txBody>
      </p:sp>
      <p:sp>
        <p:nvSpPr>
          <p:cNvPr id="19" name="Text 17"/>
          <p:cNvSpPr/>
          <p:nvPr/>
        </p:nvSpPr>
        <p:spPr>
          <a:xfrm>
            <a:off x="841248" y="4956048"/>
            <a:ext cx="5029200" cy="457200"/>
          </a:xfrm>
          <a:prstGeom prst="rect">
            <a:avLst/>
          </a:prstGeom>
          <a:noFill/>
          <a:ln/>
        </p:spPr>
        <p:txBody>
          <a:bodyPr wrap="square" lIns="0" tIns="0" rIns="0" bIns="0" rtlCol="0" anchor="ctr"/>
          <a:lstStyle/>
          <a:p>
            <a:pPr indent="0" marL="0">
              <a:lnSpc>
                <a:spcPts val="1500"/>
              </a:lnSpc>
              <a:buNone/>
            </a:pPr>
            <a:r>
              <a:rPr lang="en-US" sz="1100" i="1" dirty="0">
                <a:solidFill>
                  <a:srgbClr val="A8BDB2"/>
                </a:solidFill>
                <a:latin typeface="Calibri" pitchFamily="34" charset="0"/>
                <a:ea typeface="Calibri" pitchFamily="34" charset="-122"/>
                <a:cs typeface="Calibri" pitchFamily="34" charset="-120"/>
              </a:rPr>
              <a:t>The initial application is itself the first row, written in the same transaction as the application.</a:t>
            </a:r>
            <a:endParaRPr lang="en-US" sz="1100" dirty="0"/>
          </a:p>
        </p:txBody>
      </p:sp>
      <p:sp>
        <p:nvSpPr>
          <p:cNvPr id="20" name="Shape 18"/>
          <p:cNvSpPr/>
          <p:nvPr/>
        </p:nvSpPr>
        <p:spPr>
          <a:xfrm>
            <a:off x="6510528" y="1389888"/>
            <a:ext cx="5114239" cy="4206240"/>
          </a:xfrm>
          <a:prstGeom prst="roundRect">
            <a:avLst>
              <a:gd name="adj" fmla="val 217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1" name="Text 19"/>
          <p:cNvSpPr/>
          <p:nvPr/>
        </p:nvSpPr>
        <p:spPr>
          <a:xfrm>
            <a:off x="6766560" y="1609344"/>
            <a:ext cx="456559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Where it surfaces</a:t>
            </a:r>
            <a:endParaRPr lang="en-US" sz="1600" dirty="0"/>
          </a:p>
        </p:txBody>
      </p:sp>
      <p:sp>
        <p:nvSpPr>
          <p:cNvPr id="22" name="Shape 20"/>
          <p:cNvSpPr/>
          <p:nvPr/>
        </p:nvSpPr>
        <p:spPr>
          <a:xfrm>
            <a:off x="6766560" y="2194560"/>
            <a:ext cx="164592" cy="164592"/>
          </a:xfrm>
          <a:prstGeom prst="ellipse">
            <a:avLst/>
          </a:prstGeom>
          <a:solidFill>
            <a:srgbClr val="D3EF4C"/>
          </a:solidFill>
          <a:ln w="12700">
            <a:solidFill>
              <a:srgbClr val="D3EF4C"/>
            </a:solidFill>
            <a:prstDash val="solid"/>
          </a:ln>
        </p:spPr>
      </p:sp>
      <p:sp>
        <p:nvSpPr>
          <p:cNvPr id="23" name="Text 21"/>
          <p:cNvSpPr/>
          <p:nvPr/>
        </p:nvSpPr>
        <p:spPr>
          <a:xfrm>
            <a:off x="7059168" y="2121408"/>
            <a:ext cx="4291279"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Admin application detail</a:t>
            </a:r>
            <a:endParaRPr lang="en-US" sz="1350" dirty="0"/>
          </a:p>
        </p:txBody>
      </p:sp>
      <p:sp>
        <p:nvSpPr>
          <p:cNvPr id="24" name="Text 22"/>
          <p:cNvSpPr/>
          <p:nvPr/>
        </p:nvSpPr>
        <p:spPr>
          <a:xfrm>
            <a:off x="7059168" y="2377440"/>
            <a:ext cx="429127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A full timeline of the application's life</a:t>
            </a:r>
            <a:endParaRPr lang="en-US" sz="1150" dirty="0"/>
          </a:p>
        </p:txBody>
      </p:sp>
      <p:sp>
        <p:nvSpPr>
          <p:cNvPr id="25" name="Shape 23"/>
          <p:cNvSpPr/>
          <p:nvPr/>
        </p:nvSpPr>
        <p:spPr>
          <a:xfrm>
            <a:off x="6766560" y="3017520"/>
            <a:ext cx="164592" cy="164592"/>
          </a:xfrm>
          <a:prstGeom prst="ellipse">
            <a:avLst/>
          </a:prstGeom>
          <a:solidFill>
            <a:srgbClr val="D3EF4C"/>
          </a:solidFill>
          <a:ln w="12700">
            <a:solidFill>
              <a:srgbClr val="D3EF4C"/>
            </a:solidFill>
            <a:prstDash val="solid"/>
          </a:ln>
        </p:spPr>
      </p:sp>
      <p:sp>
        <p:nvSpPr>
          <p:cNvPr id="26" name="Text 24"/>
          <p:cNvSpPr/>
          <p:nvPr/>
        </p:nvSpPr>
        <p:spPr>
          <a:xfrm>
            <a:off x="7059168" y="2944368"/>
            <a:ext cx="4291279"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Student applications list</a:t>
            </a:r>
            <a:endParaRPr lang="en-US" sz="1350" dirty="0"/>
          </a:p>
        </p:txBody>
      </p:sp>
      <p:sp>
        <p:nvSpPr>
          <p:cNvPr id="27" name="Text 25"/>
          <p:cNvSpPr/>
          <p:nvPr/>
        </p:nvSpPr>
        <p:spPr>
          <a:xfrm>
            <a:off x="7059168" y="3200400"/>
            <a:ext cx="429127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Compact stage chips under each application</a:t>
            </a:r>
            <a:endParaRPr lang="en-US" sz="1150" dirty="0"/>
          </a:p>
        </p:txBody>
      </p:sp>
      <p:sp>
        <p:nvSpPr>
          <p:cNvPr id="28" name="Shape 26"/>
          <p:cNvSpPr/>
          <p:nvPr/>
        </p:nvSpPr>
        <p:spPr>
          <a:xfrm>
            <a:off x="6766560" y="3840480"/>
            <a:ext cx="164592" cy="164592"/>
          </a:xfrm>
          <a:prstGeom prst="ellipse">
            <a:avLst/>
          </a:prstGeom>
          <a:solidFill>
            <a:srgbClr val="D3EF4C"/>
          </a:solidFill>
          <a:ln w="12700">
            <a:solidFill>
              <a:srgbClr val="D3EF4C"/>
            </a:solidFill>
            <a:prstDash val="solid"/>
          </a:ln>
        </p:spPr>
      </p:sp>
      <p:sp>
        <p:nvSpPr>
          <p:cNvPr id="29" name="Text 27"/>
          <p:cNvSpPr/>
          <p:nvPr/>
        </p:nvSpPr>
        <p:spPr>
          <a:xfrm>
            <a:off x="7059168" y="3767328"/>
            <a:ext cx="4291279"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Season review</a:t>
            </a:r>
            <a:endParaRPr lang="en-US" sz="1350" dirty="0"/>
          </a:p>
        </p:txBody>
      </p:sp>
      <p:sp>
        <p:nvSpPr>
          <p:cNvPr id="30" name="Text 28"/>
          <p:cNvSpPr/>
          <p:nvPr/>
        </p:nvSpPr>
        <p:spPr>
          <a:xfrm>
            <a:off x="7059168" y="4023360"/>
            <a:ext cx="429127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The cell can reconstruct when any decision was made</a:t>
            </a:r>
            <a:endParaRPr lang="en-US" sz="1150" dirty="0"/>
          </a:p>
        </p:txBody>
      </p:sp>
      <p:sp>
        <p:nvSpPr>
          <p:cNvPr id="31" name="Shape 29"/>
          <p:cNvSpPr/>
          <p:nvPr/>
        </p:nvSpPr>
        <p:spPr>
          <a:xfrm>
            <a:off x="6766560" y="4663440"/>
            <a:ext cx="164592" cy="164592"/>
          </a:xfrm>
          <a:prstGeom prst="ellipse">
            <a:avLst/>
          </a:prstGeom>
          <a:solidFill>
            <a:srgbClr val="D3EF4C"/>
          </a:solidFill>
          <a:ln w="12700">
            <a:solidFill>
              <a:srgbClr val="D3EF4C"/>
            </a:solidFill>
            <a:prstDash val="solid"/>
          </a:ln>
        </p:spPr>
      </p:sp>
      <p:sp>
        <p:nvSpPr>
          <p:cNvPr id="32" name="Text 30"/>
          <p:cNvSpPr/>
          <p:nvPr/>
        </p:nvSpPr>
        <p:spPr>
          <a:xfrm>
            <a:off x="7059168" y="4590288"/>
            <a:ext cx="4291279"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Cascade delete</a:t>
            </a:r>
            <a:endParaRPr lang="en-US" sz="1350" dirty="0"/>
          </a:p>
        </p:txBody>
      </p:sp>
      <p:sp>
        <p:nvSpPr>
          <p:cNvPr id="33" name="Text 31"/>
          <p:cNvSpPr/>
          <p:nvPr/>
        </p:nvSpPr>
        <p:spPr>
          <a:xfrm>
            <a:off x="7059168" y="4846320"/>
            <a:ext cx="4291279" cy="457200"/>
          </a:xfrm>
          <a:prstGeom prst="rect">
            <a:avLst/>
          </a:prstGeom>
          <a:noFill/>
          <a:ln/>
        </p:spPr>
        <p:txBody>
          <a:bodyPr wrap="square" lIns="0" tIns="0" rIns="0" bIns="0" rtlCol="0" anchor="ctr"/>
          <a:lstStyle/>
          <a:p>
            <a:pPr indent="0" marL="0">
              <a:lnSpc>
                <a:spcPts val="1550"/>
              </a:lnSpc>
              <a:buNone/>
            </a:pPr>
            <a:r>
              <a:rPr lang="en-US" sz="1150" dirty="0">
                <a:solidFill>
                  <a:srgbClr val="A8BDB2"/>
                </a:solidFill>
                <a:latin typeface="Calibri" pitchFamily="34" charset="0"/>
                <a:ea typeface="Calibri" pitchFamily="34" charset="-122"/>
                <a:cs typeface="Calibri" pitchFamily="34" charset="-120"/>
              </a:rPr>
              <a:t>Rows are removed only when the whole application is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SECURITY</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Sessions in a split deployment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Because the interface and the API run on different subdomains, the cookie choice forces a guard.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566928" y="1389888"/>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41248" y="1645920"/>
            <a:ext cx="4815688" cy="365760"/>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Signed session cookie</a:t>
            </a:r>
            <a:endParaRPr lang="en-US" sz="1700" dirty="0"/>
          </a:p>
        </p:txBody>
      </p:sp>
      <p:sp>
        <p:nvSpPr>
          <p:cNvPr id="9" name="Text 7"/>
          <p:cNvSpPr/>
          <p:nvPr/>
        </p:nvSpPr>
        <p:spPr>
          <a:xfrm>
            <a:off x="841248" y="2139696"/>
            <a:ext cx="4815688" cy="1097280"/>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Flask's client-side session, signed with SECRET_KEY. Production refuses to boot without a real key, so the development fallback cannot leak into a deployment.</a:t>
            </a:r>
            <a:endParaRPr lang="en-US" sz="1250" dirty="0"/>
          </a:p>
        </p:txBody>
      </p:sp>
      <p:sp>
        <p:nvSpPr>
          <p:cNvPr id="10" name="Shape 8"/>
          <p:cNvSpPr/>
          <p:nvPr/>
        </p:nvSpPr>
        <p:spPr>
          <a:xfrm>
            <a:off x="6260440" y="1389888"/>
            <a:ext cx="5364328" cy="2048256"/>
          </a:xfrm>
          <a:prstGeom prst="roundRect">
            <a:avLst>
              <a:gd name="adj" fmla="val 446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6534760" y="1645920"/>
            <a:ext cx="4815688" cy="365760"/>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SameSite=None + Secure</a:t>
            </a:r>
            <a:endParaRPr lang="en-US" sz="1700" dirty="0"/>
          </a:p>
        </p:txBody>
      </p:sp>
      <p:sp>
        <p:nvSpPr>
          <p:cNvPr id="12" name="Text 10"/>
          <p:cNvSpPr/>
          <p:nvPr/>
        </p:nvSpPr>
        <p:spPr>
          <a:xfrm>
            <a:off x="6534760" y="2139696"/>
            <a:ext cx="4815688" cy="1097280"/>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Required for the cross-site cookie the split deployment needs — and it means the browser will also attach the cookie to cross-site POSTs.</a:t>
            </a:r>
            <a:endParaRPr lang="en-US" sz="1250" dirty="0"/>
          </a:p>
        </p:txBody>
      </p:sp>
      <p:sp>
        <p:nvSpPr>
          <p:cNvPr id="13" name="Shape 11"/>
          <p:cNvSpPr/>
          <p:nvPr/>
        </p:nvSpPr>
        <p:spPr>
          <a:xfrm>
            <a:off x="566928" y="3621024"/>
            <a:ext cx="5364328" cy="2048256"/>
          </a:xfrm>
          <a:prstGeom prst="roundRect">
            <a:avLst>
              <a:gd name="adj" fmla="val 446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841248" y="3877056"/>
            <a:ext cx="4815688" cy="365760"/>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Request-origin guard</a:t>
            </a:r>
            <a:endParaRPr lang="en-US" sz="1700" dirty="0"/>
          </a:p>
        </p:txBody>
      </p:sp>
      <p:sp>
        <p:nvSpPr>
          <p:cNvPr id="15" name="Text 13"/>
          <p:cNvSpPr/>
          <p:nvPr/>
        </p:nvSpPr>
        <p:spPr>
          <a:xfrm>
            <a:off x="841248" y="4370832"/>
            <a:ext cx="4815688" cy="1097280"/>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Before any POST, PUT, PATCH or DELETE, the Origin (or Referer) host must match the API's own host or the configured frontend origin. A browser-sent cross-site POST gets 403.</a:t>
            </a:r>
            <a:endParaRPr lang="en-US" sz="1250" dirty="0"/>
          </a:p>
        </p:txBody>
      </p:sp>
      <p:sp>
        <p:nvSpPr>
          <p:cNvPr id="16" name="Shape 14"/>
          <p:cNvSpPr/>
          <p:nvPr/>
        </p:nvSpPr>
        <p:spPr>
          <a:xfrm>
            <a:off x="6260440" y="3621024"/>
            <a:ext cx="5364328" cy="2048256"/>
          </a:xfrm>
          <a:prstGeom prst="roundRect">
            <a:avLst>
              <a:gd name="adj" fmla="val 446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7" name="Text 15"/>
          <p:cNvSpPr/>
          <p:nvPr/>
        </p:nvSpPr>
        <p:spPr>
          <a:xfrm>
            <a:off x="6534760" y="3877056"/>
            <a:ext cx="4815688" cy="365760"/>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Header-less clients allowed</a:t>
            </a:r>
            <a:endParaRPr lang="en-US" sz="1700" dirty="0"/>
          </a:p>
        </p:txBody>
      </p:sp>
      <p:sp>
        <p:nvSpPr>
          <p:cNvPr id="18" name="Text 16"/>
          <p:cNvSpPr/>
          <p:nvPr/>
        </p:nvSpPr>
        <p:spPr>
          <a:xfrm>
            <a:off x="6534760" y="4370832"/>
            <a:ext cx="4815688" cy="1097280"/>
          </a:xfrm>
          <a:prstGeom prst="rect">
            <a:avLst/>
          </a:prstGeom>
          <a:noFill/>
          <a:ln/>
        </p:spPr>
        <p:txBody>
          <a:bodyPr wrap="square" lIns="0" tIns="0" rIns="0" bIns="0" rtlCol="0" anchor="ctr"/>
          <a:lstStyle/>
          <a:p>
            <a:pPr indent="0" marL="0">
              <a:lnSpc>
                <a:spcPts val="1750"/>
              </a:lnSpc>
              <a:buNone/>
            </a:pPr>
            <a:r>
              <a:rPr lang="en-US" sz="1250" dirty="0">
                <a:solidFill>
                  <a:srgbClr val="A8BDB2"/>
                </a:solidFill>
                <a:latin typeface="Calibri" pitchFamily="34" charset="0"/>
                <a:ea typeface="Calibri" pitchFamily="34" charset="-122"/>
                <a:cs typeface="Calibri" pitchFamily="34" charset="-120"/>
              </a:rPr>
              <a:t>Non-browser clients send neither header; they are allowed. The guard runs only in production, so the Vite dev proxy is unaffected.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814"/>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B4632"/>
          </a:solidFill>
          <a:ln w="12700">
            <a:solidFill>
              <a:srgbClr val="1B4632"/>
            </a:solidFill>
            <a:prstDash val="solid"/>
          </a:ln>
        </p:spPr>
      </p:sp>
      <p:sp>
        <p:nvSpPr>
          <p:cNvPr id="3" name="Text 1"/>
          <p:cNvSpPr/>
          <p:nvPr/>
        </p:nvSpPr>
        <p:spPr>
          <a:xfrm>
            <a:off x="566928" y="2084832"/>
            <a:ext cx="7315200" cy="274320"/>
          </a:xfrm>
          <a:prstGeom prst="rect">
            <a:avLst/>
          </a:prstGeom>
          <a:noFill/>
          <a:ln/>
        </p:spPr>
        <p:txBody>
          <a:bodyPr wrap="square" lIns="0" tIns="0" rIns="0" bIns="0" rtlCol="0" anchor="ctr"/>
          <a:lstStyle/>
          <a:p>
            <a:pPr indent="0" marL="0">
              <a:buNone/>
            </a:pPr>
            <a:r>
              <a:rPr lang="en-US" sz="1300" b="1" spc="300" kern="0" dirty="0">
                <a:solidFill>
                  <a:srgbClr val="22C55E"/>
                </a:solidFill>
                <a:latin typeface="Calibri" pitchFamily="34" charset="0"/>
                <a:ea typeface="Calibri" pitchFamily="34" charset="-122"/>
                <a:cs typeface="Calibri" pitchFamily="34" charset="-120"/>
              </a:rPr>
              <a:t>PART ONE</a:t>
            </a:r>
            <a:endParaRPr lang="en-US" sz="1300" dirty="0"/>
          </a:p>
        </p:txBody>
      </p:sp>
      <p:sp>
        <p:nvSpPr>
          <p:cNvPr id="4" name="Text 2"/>
          <p:cNvSpPr/>
          <p:nvPr/>
        </p:nvSpPr>
        <p:spPr>
          <a:xfrm>
            <a:off x="566928" y="2395728"/>
            <a:ext cx="8229600" cy="859536"/>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Student portal</a:t>
            </a:r>
            <a:endParaRPr lang="en-US" sz="4600" dirty="0"/>
          </a:p>
        </p:txBody>
      </p:sp>
      <p:sp>
        <p:nvSpPr>
          <p:cNvPr id="5" name="Text 3"/>
          <p:cNvSpPr/>
          <p:nvPr/>
        </p:nvSpPr>
        <p:spPr>
          <a:xfrm>
            <a:off x="566928" y="3310128"/>
            <a:ext cx="7680960" cy="822960"/>
          </a:xfrm>
          <a:prstGeom prst="rect">
            <a:avLst/>
          </a:prstGeom>
          <a:noFill/>
          <a:ln/>
        </p:spPr>
        <p:txBody>
          <a:bodyPr wrap="square" lIns="0" tIns="0" rIns="0" bIns="0" rtlCol="0" anchor="ctr"/>
          <a:lstStyle/>
          <a:p>
            <a:pPr indent="0" marL="0">
              <a:lnSpc>
                <a:spcPts val="2200"/>
              </a:lnSpc>
              <a:buNone/>
            </a:pPr>
            <a:r>
              <a:rPr lang="en-US" sz="1500" dirty="0">
                <a:solidFill>
                  <a:srgbClr val="A8BDB2"/>
                </a:solidFill>
                <a:latin typeface="Calibri" pitchFamily="34" charset="0"/>
                <a:ea typeface="Calibri" pitchFamily="34" charset="-122"/>
                <a:cs typeface="Calibri" pitchFamily="34" charset="-120"/>
              </a:rPr>
              <a:t>Four screens, reachable from a mobile tab bar as well as the desktop rail.</a:t>
            </a:r>
            <a:endParaRPr lang="en-US" sz="1500" dirty="0"/>
          </a:p>
          <a:p>
            <a:pPr indent="0" marL="0">
              <a:lnSpc>
                <a:spcPts val="2200"/>
              </a:lnSpc>
              <a:buNone/>
            </a:pPr>
            <a:r>
              <a:rPr lang="en-US" sz="1500" dirty="0">
                <a:solidFill>
                  <a:srgbClr val="A8BDB2"/>
                </a:solidFill>
                <a:latin typeface="Calibri" pitchFamily="34" charset="0"/>
                <a:ea typeface="Calibri" pitchFamily="34" charset="-122"/>
                <a:cs typeface="Calibri" pitchFamily="34" charset="-120"/>
              </a:rPr>
              <a:t>Every drive a student sees already carries its own eligibility verdict.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STUDENT PORTAL  ·  1 OF 4</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Home: the season at a glance</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Route /portal — greeting, placement status, four counters, deadlines, notices, quick actions.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14</a:t>
            </a:r>
            <a:endParaRPr lang="en-US" sz="1000" dirty="0"/>
          </a:p>
        </p:txBody>
      </p:sp>
      <p:sp>
        <p:nvSpPr>
          <p:cNvPr id="7" name="Shape 5"/>
          <p:cNvSpPr/>
          <p:nvPr/>
        </p:nvSpPr>
        <p:spPr>
          <a:xfrm>
            <a:off x="566928" y="1389888"/>
            <a:ext cx="2599868" cy="1170432"/>
          </a:xfrm>
          <a:prstGeom prst="roundRect">
            <a:avLst>
              <a:gd name="adj" fmla="val 7813"/>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786384" y="1591056"/>
            <a:ext cx="2160956" cy="219456"/>
          </a:xfrm>
          <a:prstGeom prst="rect">
            <a:avLst/>
          </a:prstGeom>
          <a:noFill/>
          <a:ln/>
        </p:spPr>
        <p:txBody>
          <a:bodyPr wrap="square" lIns="0" tIns="0" rIns="0" bIns="0" rtlCol="0" anchor="ctr"/>
          <a:lstStyle/>
          <a:p>
            <a:pPr indent="0" marL="0">
              <a:buNone/>
            </a:pPr>
            <a:r>
              <a:rPr lang="en-US" sz="1050" b="1" spc="140" kern="0" dirty="0">
                <a:solidFill>
                  <a:srgbClr val="A8BDB2"/>
                </a:solidFill>
                <a:latin typeface="Calibri" pitchFamily="34" charset="0"/>
                <a:ea typeface="Calibri" pitchFamily="34" charset="-122"/>
                <a:cs typeface="Calibri" pitchFamily="34" charset="-120"/>
              </a:rPr>
              <a:t>APPLIED</a:t>
            </a:r>
            <a:endParaRPr lang="en-US" sz="1050" dirty="0"/>
          </a:p>
        </p:txBody>
      </p:sp>
      <p:sp>
        <p:nvSpPr>
          <p:cNvPr id="9" name="Text 7"/>
          <p:cNvSpPr/>
          <p:nvPr/>
        </p:nvSpPr>
        <p:spPr>
          <a:xfrm>
            <a:off x="786384" y="1847088"/>
            <a:ext cx="2160956" cy="566928"/>
          </a:xfrm>
          <a:prstGeom prst="rect">
            <a:avLst/>
          </a:prstGeom>
          <a:noFill/>
          <a:ln/>
        </p:spPr>
        <p:txBody>
          <a:bodyPr wrap="square" lIns="0" tIns="0" rIns="0" bIns="0" rtlCol="0" anchor="ctr"/>
          <a:lstStyle/>
          <a:p>
            <a:pPr indent="0" marL="0">
              <a:buNone/>
            </a:pPr>
            <a:r>
              <a:rPr lang="en-US" sz="3400" b="1" dirty="0">
                <a:solidFill>
                  <a:srgbClr val="22C55E"/>
                </a:solidFill>
                <a:latin typeface="Cambria" pitchFamily="34" charset="0"/>
                <a:ea typeface="Cambria" pitchFamily="34" charset="-122"/>
                <a:cs typeface="Cambria" pitchFamily="34" charset="-120"/>
              </a:rPr>
              <a:t>4</a:t>
            </a:r>
            <a:endParaRPr lang="en-US" sz="3400" dirty="0"/>
          </a:p>
        </p:txBody>
      </p:sp>
      <p:sp>
        <p:nvSpPr>
          <p:cNvPr id="10" name="Shape 8"/>
          <p:cNvSpPr/>
          <p:nvPr/>
        </p:nvSpPr>
        <p:spPr>
          <a:xfrm>
            <a:off x="3386252" y="1389888"/>
            <a:ext cx="2599868" cy="1170432"/>
          </a:xfrm>
          <a:prstGeom prst="roundRect">
            <a:avLst>
              <a:gd name="adj" fmla="val 7813"/>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3605708" y="1591056"/>
            <a:ext cx="2160956" cy="219456"/>
          </a:xfrm>
          <a:prstGeom prst="rect">
            <a:avLst/>
          </a:prstGeom>
          <a:noFill/>
          <a:ln/>
        </p:spPr>
        <p:txBody>
          <a:bodyPr wrap="square" lIns="0" tIns="0" rIns="0" bIns="0" rtlCol="0" anchor="ctr"/>
          <a:lstStyle/>
          <a:p>
            <a:pPr indent="0" marL="0">
              <a:buNone/>
            </a:pPr>
            <a:r>
              <a:rPr lang="en-US" sz="1050" b="1" spc="140" kern="0" dirty="0">
                <a:solidFill>
                  <a:srgbClr val="A8BDB2"/>
                </a:solidFill>
                <a:latin typeface="Calibri" pitchFamily="34" charset="0"/>
                <a:ea typeface="Calibri" pitchFamily="34" charset="-122"/>
                <a:cs typeface="Calibri" pitchFamily="34" charset="-120"/>
              </a:rPr>
              <a:t>SHORTLISTED</a:t>
            </a:r>
            <a:endParaRPr lang="en-US" sz="1050" dirty="0"/>
          </a:p>
        </p:txBody>
      </p:sp>
      <p:sp>
        <p:nvSpPr>
          <p:cNvPr id="12" name="Text 10"/>
          <p:cNvSpPr/>
          <p:nvPr/>
        </p:nvSpPr>
        <p:spPr>
          <a:xfrm>
            <a:off x="3605708" y="1847088"/>
            <a:ext cx="2160956" cy="566928"/>
          </a:xfrm>
          <a:prstGeom prst="rect">
            <a:avLst/>
          </a:prstGeom>
          <a:noFill/>
          <a:ln/>
        </p:spPr>
        <p:txBody>
          <a:bodyPr wrap="square" lIns="0" tIns="0" rIns="0" bIns="0" rtlCol="0" anchor="ctr"/>
          <a:lstStyle/>
          <a:p>
            <a:pPr indent="0" marL="0">
              <a:buNone/>
            </a:pPr>
            <a:r>
              <a:rPr lang="en-US" sz="3400" b="1" dirty="0">
                <a:solidFill>
                  <a:srgbClr val="D3EF4C"/>
                </a:solidFill>
                <a:latin typeface="Cambria" pitchFamily="34" charset="0"/>
                <a:ea typeface="Cambria" pitchFamily="34" charset="-122"/>
                <a:cs typeface="Cambria" pitchFamily="34" charset="-120"/>
              </a:rPr>
              <a:t>2</a:t>
            </a:r>
            <a:endParaRPr lang="en-US" sz="3400" dirty="0"/>
          </a:p>
        </p:txBody>
      </p:sp>
      <p:sp>
        <p:nvSpPr>
          <p:cNvPr id="13" name="Shape 11"/>
          <p:cNvSpPr/>
          <p:nvPr/>
        </p:nvSpPr>
        <p:spPr>
          <a:xfrm>
            <a:off x="6205576" y="1389888"/>
            <a:ext cx="2599868" cy="1170432"/>
          </a:xfrm>
          <a:prstGeom prst="roundRect">
            <a:avLst>
              <a:gd name="adj" fmla="val 7813"/>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6425032" y="1591056"/>
            <a:ext cx="2160956" cy="219456"/>
          </a:xfrm>
          <a:prstGeom prst="rect">
            <a:avLst/>
          </a:prstGeom>
          <a:noFill/>
          <a:ln/>
        </p:spPr>
        <p:txBody>
          <a:bodyPr wrap="square" lIns="0" tIns="0" rIns="0" bIns="0" rtlCol="0" anchor="ctr"/>
          <a:lstStyle/>
          <a:p>
            <a:pPr indent="0" marL="0">
              <a:buNone/>
            </a:pPr>
            <a:r>
              <a:rPr lang="en-US" sz="1050" b="1" spc="140" kern="0" dirty="0">
                <a:solidFill>
                  <a:srgbClr val="A8BDB2"/>
                </a:solidFill>
                <a:latin typeface="Calibri" pitchFamily="34" charset="0"/>
                <a:ea typeface="Calibri" pitchFamily="34" charset="-122"/>
                <a:cs typeface="Calibri" pitchFamily="34" charset="-120"/>
              </a:rPr>
              <a:t>SELECTED</a:t>
            </a:r>
            <a:endParaRPr lang="en-US" sz="1050" dirty="0"/>
          </a:p>
        </p:txBody>
      </p:sp>
      <p:sp>
        <p:nvSpPr>
          <p:cNvPr id="15" name="Text 13"/>
          <p:cNvSpPr/>
          <p:nvPr/>
        </p:nvSpPr>
        <p:spPr>
          <a:xfrm>
            <a:off x="6425032" y="1847088"/>
            <a:ext cx="2160956" cy="566928"/>
          </a:xfrm>
          <a:prstGeom prst="rect">
            <a:avLst/>
          </a:prstGeom>
          <a:noFill/>
          <a:ln/>
        </p:spPr>
        <p:txBody>
          <a:bodyPr wrap="square" lIns="0" tIns="0" rIns="0" bIns="0" rtlCol="0" anchor="ctr"/>
          <a:lstStyle/>
          <a:p>
            <a:pPr indent="0" marL="0">
              <a:buNone/>
            </a:pPr>
            <a:r>
              <a:rPr lang="en-US" sz="3400" b="1" dirty="0">
                <a:solidFill>
                  <a:srgbClr val="22C55E"/>
                </a:solidFill>
                <a:latin typeface="Cambria" pitchFamily="34" charset="0"/>
                <a:ea typeface="Cambria" pitchFamily="34" charset="-122"/>
                <a:cs typeface="Cambria" pitchFamily="34" charset="-120"/>
              </a:rPr>
              <a:t>1</a:t>
            </a:r>
            <a:endParaRPr lang="en-US" sz="3400" dirty="0"/>
          </a:p>
        </p:txBody>
      </p:sp>
      <p:sp>
        <p:nvSpPr>
          <p:cNvPr id="16" name="Shape 14"/>
          <p:cNvSpPr/>
          <p:nvPr/>
        </p:nvSpPr>
        <p:spPr>
          <a:xfrm>
            <a:off x="9024899" y="1389888"/>
            <a:ext cx="2599868" cy="1170432"/>
          </a:xfrm>
          <a:prstGeom prst="roundRect">
            <a:avLst>
              <a:gd name="adj" fmla="val 7813"/>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7" name="Text 15"/>
          <p:cNvSpPr/>
          <p:nvPr/>
        </p:nvSpPr>
        <p:spPr>
          <a:xfrm>
            <a:off x="9244355" y="1591056"/>
            <a:ext cx="2160956" cy="219456"/>
          </a:xfrm>
          <a:prstGeom prst="rect">
            <a:avLst/>
          </a:prstGeom>
          <a:noFill/>
          <a:ln/>
        </p:spPr>
        <p:txBody>
          <a:bodyPr wrap="square" lIns="0" tIns="0" rIns="0" bIns="0" rtlCol="0" anchor="ctr"/>
          <a:lstStyle/>
          <a:p>
            <a:pPr indent="0" marL="0">
              <a:buNone/>
            </a:pPr>
            <a:r>
              <a:rPr lang="en-US" sz="1050" b="1" spc="140" kern="0" dirty="0">
                <a:solidFill>
                  <a:srgbClr val="A8BDB2"/>
                </a:solidFill>
                <a:latin typeface="Calibri" pitchFamily="34" charset="0"/>
                <a:ea typeface="Calibri" pitchFamily="34" charset="-122"/>
                <a:cs typeface="Calibri" pitchFamily="34" charset="-120"/>
              </a:rPr>
              <a:t>REJECTED</a:t>
            </a:r>
            <a:endParaRPr lang="en-US" sz="1050" dirty="0"/>
          </a:p>
        </p:txBody>
      </p:sp>
      <p:sp>
        <p:nvSpPr>
          <p:cNvPr id="18" name="Text 16"/>
          <p:cNvSpPr/>
          <p:nvPr/>
        </p:nvSpPr>
        <p:spPr>
          <a:xfrm>
            <a:off x="9244355" y="1847088"/>
            <a:ext cx="2160956" cy="566928"/>
          </a:xfrm>
          <a:prstGeom prst="rect">
            <a:avLst/>
          </a:prstGeom>
          <a:noFill/>
          <a:ln/>
        </p:spPr>
        <p:txBody>
          <a:bodyPr wrap="square" lIns="0" tIns="0" rIns="0" bIns="0" rtlCol="0" anchor="ctr"/>
          <a:lstStyle/>
          <a:p>
            <a:pPr indent="0" marL="0">
              <a:buNone/>
            </a:pPr>
            <a:r>
              <a:rPr lang="en-US" sz="3400" b="1" dirty="0">
                <a:solidFill>
                  <a:srgbClr val="F87171"/>
                </a:solidFill>
                <a:latin typeface="Cambria" pitchFamily="34" charset="0"/>
                <a:ea typeface="Cambria" pitchFamily="34" charset="-122"/>
                <a:cs typeface="Cambria" pitchFamily="34" charset="-120"/>
              </a:rPr>
              <a:t>1</a:t>
            </a:r>
            <a:endParaRPr lang="en-US" sz="3400" dirty="0"/>
          </a:p>
        </p:txBody>
      </p:sp>
      <p:sp>
        <p:nvSpPr>
          <p:cNvPr id="19" name="Shape 17"/>
          <p:cNvSpPr/>
          <p:nvPr/>
        </p:nvSpPr>
        <p:spPr>
          <a:xfrm>
            <a:off x="566928" y="2816352"/>
            <a:ext cx="5486400" cy="2779776"/>
          </a:xfrm>
          <a:prstGeom prst="roundRect">
            <a:avLst>
              <a:gd name="adj" fmla="val 3289"/>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Text 18"/>
          <p:cNvSpPr/>
          <p:nvPr/>
        </p:nvSpPr>
        <p:spPr>
          <a:xfrm>
            <a:off x="822960" y="3017520"/>
            <a:ext cx="4937760" cy="274320"/>
          </a:xfrm>
          <a:prstGeom prst="rect">
            <a:avLst/>
          </a:prstGeom>
          <a:noFill/>
          <a:ln/>
        </p:spPr>
        <p:txBody>
          <a:bodyPr wrap="square" lIns="0" tIns="0" rIns="0" bIns="0" rtlCol="0" anchor="ctr"/>
          <a:lstStyle/>
          <a:p>
            <a:pPr indent="0" marL="0">
              <a:buNone/>
            </a:pPr>
            <a:r>
              <a:rPr lang="en-US" sz="1500" b="1" dirty="0">
                <a:solidFill>
                  <a:srgbClr val="D3EF4C"/>
                </a:solidFill>
                <a:latin typeface="Cambria" pitchFamily="34" charset="0"/>
                <a:ea typeface="Cambria" pitchFamily="34" charset="-122"/>
                <a:cs typeface="Cambria" pitchFamily="34" charset="-120"/>
              </a:rPr>
              <a:t>Upcoming deadlines</a:t>
            </a:r>
            <a:endParaRPr lang="en-US" sz="1500" dirty="0"/>
          </a:p>
        </p:txBody>
      </p:sp>
      <p:sp>
        <p:nvSpPr>
          <p:cNvPr id="21" name="Text 19"/>
          <p:cNvSpPr/>
          <p:nvPr/>
        </p:nvSpPr>
        <p:spPr>
          <a:xfrm>
            <a:off x="822960" y="3383280"/>
            <a:ext cx="37490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Nimbus Analytics · Data Analyst</a:t>
            </a:r>
            <a:endParaRPr lang="en-US" sz="1200" dirty="0"/>
          </a:p>
        </p:txBody>
      </p:sp>
      <p:sp>
        <p:nvSpPr>
          <p:cNvPr id="22" name="Text 20"/>
          <p:cNvSpPr/>
          <p:nvPr/>
        </p:nvSpPr>
        <p:spPr>
          <a:xfrm>
            <a:off x="822960" y="3621024"/>
            <a:ext cx="3749040" cy="237744"/>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8.5 LPA</a:t>
            </a:r>
            <a:endParaRPr lang="en-US" sz="1050" dirty="0"/>
          </a:p>
        </p:txBody>
      </p:sp>
      <p:sp>
        <p:nvSpPr>
          <p:cNvPr id="23" name="Text 21"/>
          <p:cNvSpPr/>
          <p:nvPr/>
        </p:nvSpPr>
        <p:spPr>
          <a:xfrm>
            <a:off x="4590288" y="3438144"/>
            <a:ext cx="1188720" cy="274320"/>
          </a:xfrm>
          <a:prstGeom prst="rect">
            <a:avLst/>
          </a:prstGeom>
          <a:noFill/>
          <a:ln/>
        </p:spPr>
        <p:txBody>
          <a:bodyPr wrap="square" lIns="0" tIns="0" rIns="0" bIns="0" rtlCol="0" anchor="ctr"/>
          <a:lstStyle/>
          <a:p>
            <a:pPr algn="r" indent="0" marL="0">
              <a:buNone/>
            </a:pPr>
            <a:r>
              <a:rPr lang="en-US" sz="1150" dirty="0">
                <a:solidFill>
                  <a:srgbClr val="D3EF4C"/>
                </a:solidFill>
                <a:latin typeface="Calibri" pitchFamily="34" charset="0"/>
                <a:ea typeface="Calibri" pitchFamily="34" charset="-122"/>
                <a:cs typeface="Calibri" pitchFamily="34" charset="-120"/>
              </a:rPr>
              <a:t>12 Oct</a:t>
            </a:r>
            <a:endParaRPr lang="en-US" sz="1150" dirty="0"/>
          </a:p>
        </p:txBody>
      </p:sp>
      <p:sp>
        <p:nvSpPr>
          <p:cNvPr id="24" name="Text 22"/>
          <p:cNvSpPr/>
          <p:nvPr/>
        </p:nvSpPr>
        <p:spPr>
          <a:xfrm>
            <a:off x="822960" y="4005072"/>
            <a:ext cx="37490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Vertex Systems · QA Engineer</a:t>
            </a:r>
            <a:endParaRPr lang="en-US" sz="1200" dirty="0"/>
          </a:p>
        </p:txBody>
      </p:sp>
      <p:sp>
        <p:nvSpPr>
          <p:cNvPr id="25" name="Text 23"/>
          <p:cNvSpPr/>
          <p:nvPr/>
        </p:nvSpPr>
        <p:spPr>
          <a:xfrm>
            <a:off x="822960" y="4242816"/>
            <a:ext cx="3749040" cy="237744"/>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6.0 LPA</a:t>
            </a:r>
            <a:endParaRPr lang="en-US" sz="1050" dirty="0"/>
          </a:p>
        </p:txBody>
      </p:sp>
      <p:sp>
        <p:nvSpPr>
          <p:cNvPr id="26" name="Text 24"/>
          <p:cNvSpPr/>
          <p:nvPr/>
        </p:nvSpPr>
        <p:spPr>
          <a:xfrm>
            <a:off x="4590288" y="4059936"/>
            <a:ext cx="1188720" cy="274320"/>
          </a:xfrm>
          <a:prstGeom prst="rect">
            <a:avLst/>
          </a:prstGeom>
          <a:noFill/>
          <a:ln/>
        </p:spPr>
        <p:txBody>
          <a:bodyPr wrap="square" lIns="0" tIns="0" rIns="0" bIns="0" rtlCol="0" anchor="ctr"/>
          <a:lstStyle/>
          <a:p>
            <a:pPr algn="r" indent="0" marL="0">
              <a:buNone/>
            </a:pPr>
            <a:r>
              <a:rPr lang="en-US" sz="1150" dirty="0">
                <a:solidFill>
                  <a:srgbClr val="D3EF4C"/>
                </a:solidFill>
                <a:latin typeface="Calibri" pitchFamily="34" charset="0"/>
                <a:ea typeface="Calibri" pitchFamily="34" charset="-122"/>
                <a:cs typeface="Calibri" pitchFamily="34" charset="-120"/>
              </a:rPr>
              <a:t>18 Oct</a:t>
            </a:r>
            <a:endParaRPr lang="en-US" sz="1150" dirty="0"/>
          </a:p>
        </p:txBody>
      </p:sp>
      <p:sp>
        <p:nvSpPr>
          <p:cNvPr id="27" name="Text 25"/>
          <p:cNvSpPr/>
          <p:nvPr/>
        </p:nvSpPr>
        <p:spPr>
          <a:xfrm>
            <a:off x="822960" y="4626864"/>
            <a:ext cx="37490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Helios Retail · Business Analyst</a:t>
            </a:r>
            <a:endParaRPr lang="en-US" sz="1200" dirty="0"/>
          </a:p>
        </p:txBody>
      </p:sp>
      <p:sp>
        <p:nvSpPr>
          <p:cNvPr id="28" name="Text 26"/>
          <p:cNvSpPr/>
          <p:nvPr/>
        </p:nvSpPr>
        <p:spPr>
          <a:xfrm>
            <a:off x="822960" y="4864608"/>
            <a:ext cx="3749040" cy="237744"/>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Package TBD</a:t>
            </a:r>
            <a:endParaRPr lang="en-US" sz="1050" dirty="0"/>
          </a:p>
        </p:txBody>
      </p:sp>
      <p:sp>
        <p:nvSpPr>
          <p:cNvPr id="29" name="Text 27"/>
          <p:cNvSpPr/>
          <p:nvPr/>
        </p:nvSpPr>
        <p:spPr>
          <a:xfrm>
            <a:off x="4590288" y="4681728"/>
            <a:ext cx="1188720" cy="274320"/>
          </a:xfrm>
          <a:prstGeom prst="rect">
            <a:avLst/>
          </a:prstGeom>
          <a:noFill/>
          <a:ln/>
        </p:spPr>
        <p:txBody>
          <a:bodyPr wrap="square" lIns="0" tIns="0" rIns="0" bIns="0" rtlCol="0" anchor="ctr"/>
          <a:lstStyle/>
          <a:p>
            <a:pPr algn="r" indent="0" marL="0">
              <a:buNone/>
            </a:pPr>
            <a:r>
              <a:rPr lang="en-US" sz="1150" dirty="0">
                <a:solidFill>
                  <a:srgbClr val="D3EF4C"/>
                </a:solidFill>
                <a:latin typeface="Calibri" pitchFamily="34" charset="0"/>
                <a:ea typeface="Calibri" pitchFamily="34" charset="-122"/>
                <a:cs typeface="Calibri" pitchFamily="34" charset="-120"/>
              </a:rPr>
              <a:t>24 Oct</a:t>
            </a:r>
            <a:endParaRPr lang="en-US" sz="1150" dirty="0"/>
          </a:p>
        </p:txBody>
      </p:sp>
      <p:sp>
        <p:nvSpPr>
          <p:cNvPr id="30" name="Shape 28"/>
          <p:cNvSpPr/>
          <p:nvPr/>
        </p:nvSpPr>
        <p:spPr>
          <a:xfrm>
            <a:off x="6373368" y="2816352"/>
            <a:ext cx="5251399" cy="2779776"/>
          </a:xfrm>
          <a:prstGeom prst="roundRect">
            <a:avLst>
              <a:gd name="adj" fmla="val 3289"/>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1" name="Text 29"/>
          <p:cNvSpPr/>
          <p:nvPr/>
        </p:nvSpPr>
        <p:spPr>
          <a:xfrm>
            <a:off x="6629400" y="3017520"/>
            <a:ext cx="4748479" cy="274320"/>
          </a:xfrm>
          <a:prstGeom prst="rect">
            <a:avLst/>
          </a:prstGeom>
          <a:noFill/>
          <a:ln/>
        </p:spPr>
        <p:txBody>
          <a:bodyPr wrap="square" lIns="0" tIns="0" rIns="0" bIns="0" rtlCol="0" anchor="ctr"/>
          <a:lstStyle/>
          <a:p>
            <a:pPr indent="0" marL="0">
              <a:buNone/>
            </a:pPr>
            <a:r>
              <a:rPr lang="en-US" sz="1500" b="1" dirty="0">
                <a:solidFill>
                  <a:srgbClr val="D3EF4C"/>
                </a:solidFill>
                <a:latin typeface="Cambria" pitchFamily="34" charset="0"/>
                <a:ea typeface="Cambria" pitchFamily="34" charset="-122"/>
                <a:cs typeface="Cambria" pitchFamily="34" charset="-120"/>
              </a:rPr>
              <a:t>Latest notices &amp; quick actions</a:t>
            </a:r>
            <a:endParaRPr lang="en-US" sz="1500" dirty="0"/>
          </a:p>
        </p:txBody>
      </p:sp>
      <p:sp>
        <p:nvSpPr>
          <p:cNvPr id="32" name="Text 30"/>
          <p:cNvSpPr/>
          <p:nvPr/>
        </p:nvSpPr>
        <p:spPr>
          <a:xfrm>
            <a:off x="6629400" y="3401568"/>
            <a:ext cx="4702759" cy="2011680"/>
          </a:xfrm>
          <a:prstGeom prst="rect">
            <a:avLst/>
          </a:prstGeom>
          <a:noFill/>
          <a:ln/>
        </p:spPr>
        <p:txBody>
          <a:bodyPr wrap="square" lIns="0" tIns="0" rIns="0" bIns="0" rtlCol="0" anchor="t"/>
          <a:lstStyle/>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Apply to drives — browse what you qualify for</a:t>
            </a:r>
            <a:endParaRPr lang="en-US" sz="1250" dirty="0"/>
          </a:p>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Track applications — every stage so far</a:t>
            </a:r>
            <a:endParaRPr lang="en-US" sz="1250" dirty="0"/>
          </a:p>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Update profile — keep phone and skills current</a:t>
            </a:r>
            <a:endParaRPr lang="en-US" sz="1250" dirty="0"/>
          </a:p>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Read notices — posted by the placement cell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STUDENT PORTAL  ·  2 OF 4</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Drives: eligibility shown up front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Route /portal/drives — each card carries the verdict, so the student never guesses.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66928" y="1389888"/>
            <a:ext cx="3478682" cy="3200400"/>
          </a:xfrm>
          <a:prstGeom prst="roundRect">
            <a:avLst>
              <a:gd name="adj" fmla="val 285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04672" y="1627632"/>
            <a:ext cx="1188720" cy="310896"/>
          </a:xfrm>
          <a:prstGeom prst="roundRect">
            <a:avLst>
              <a:gd name="adj" fmla="val 50000"/>
            </a:avLst>
          </a:prstGeom>
          <a:solidFill>
            <a:srgbClr val="22C55E"/>
          </a:solidFill>
          <a:ln w="12700">
            <a:solidFill>
              <a:srgbClr val="22C55E"/>
            </a:solidFill>
            <a:prstDash val="solid"/>
          </a:ln>
        </p:spPr>
      </p:sp>
      <p:sp>
        <p:nvSpPr>
          <p:cNvPr id="9" name="Text 7"/>
          <p:cNvSpPr/>
          <p:nvPr/>
        </p:nvSpPr>
        <p:spPr>
          <a:xfrm>
            <a:off x="804672" y="1682496"/>
            <a:ext cx="1188720" cy="219456"/>
          </a:xfrm>
          <a:prstGeom prst="rect">
            <a:avLst/>
          </a:prstGeom>
          <a:noFill/>
          <a:ln/>
        </p:spPr>
        <p:txBody>
          <a:bodyPr wrap="square" lIns="0" tIns="0" rIns="0" bIns="0" rtlCol="0" anchor="ctr"/>
          <a:lstStyle/>
          <a:p>
            <a:pPr algn="ctr" indent="0" marL="0">
              <a:buNone/>
            </a:pPr>
            <a:r>
              <a:rPr lang="en-US" sz="1000" b="1" dirty="0">
                <a:solidFill>
                  <a:srgbClr val="0B1814"/>
                </a:solidFill>
                <a:latin typeface="Calibri" pitchFamily="34" charset="0"/>
                <a:ea typeface="Calibri" pitchFamily="34" charset="-122"/>
                <a:cs typeface="Calibri" pitchFamily="34" charset="-120"/>
              </a:rPr>
              <a:t>Eligible</a:t>
            </a:r>
            <a:endParaRPr lang="en-US" sz="1000" dirty="0"/>
          </a:p>
        </p:txBody>
      </p:sp>
      <p:sp>
        <p:nvSpPr>
          <p:cNvPr id="10" name="Text 8"/>
          <p:cNvSpPr/>
          <p:nvPr/>
        </p:nvSpPr>
        <p:spPr>
          <a:xfrm>
            <a:off x="804672" y="2084832"/>
            <a:ext cx="3003194"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Nimbus Analytics</a:t>
            </a:r>
            <a:endParaRPr lang="en-US" sz="1700" dirty="0"/>
          </a:p>
        </p:txBody>
      </p:sp>
      <p:sp>
        <p:nvSpPr>
          <p:cNvPr id="11" name="Text 9"/>
          <p:cNvSpPr/>
          <p:nvPr/>
        </p:nvSpPr>
        <p:spPr>
          <a:xfrm>
            <a:off x="804672" y="2414016"/>
            <a:ext cx="3003194" cy="256032"/>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Data Analyst · Full time</a:t>
            </a:r>
            <a:endParaRPr lang="en-US" sz="1150" dirty="0"/>
          </a:p>
        </p:txBody>
      </p:sp>
      <p:sp>
        <p:nvSpPr>
          <p:cNvPr id="12" name="Shape 10"/>
          <p:cNvSpPr/>
          <p:nvPr/>
        </p:nvSpPr>
        <p:spPr>
          <a:xfrm>
            <a:off x="804672" y="2761488"/>
            <a:ext cx="3003194" cy="749808"/>
          </a:xfrm>
          <a:prstGeom prst="roundRect">
            <a:avLst>
              <a:gd name="adj" fmla="val 12195"/>
            </a:avLst>
          </a:prstGeom>
          <a:solidFill>
            <a:srgbClr val="173328"/>
          </a:solidFill>
          <a:ln w="9525">
            <a:solidFill>
              <a:srgbClr val="274A3C"/>
            </a:solidFill>
            <a:prstDash val="solid"/>
          </a:ln>
        </p:spPr>
      </p:sp>
      <p:sp>
        <p:nvSpPr>
          <p:cNvPr id="13" name="Text 11"/>
          <p:cNvSpPr/>
          <p:nvPr/>
        </p:nvSpPr>
        <p:spPr>
          <a:xfrm>
            <a:off x="896112" y="2852928"/>
            <a:ext cx="940105" cy="365760"/>
          </a:xfrm>
          <a:prstGeom prst="rect">
            <a:avLst/>
          </a:prstGeom>
          <a:noFill/>
          <a:ln/>
        </p:spPr>
        <p:txBody>
          <a:bodyPr wrap="square" lIns="0" tIns="0" rIns="0" bIns="0" rtlCol="0" anchor="ctr"/>
          <a:lstStyle/>
          <a:p>
            <a:pPr algn="ctr" indent="0" marL="0">
              <a:buNone/>
            </a:pPr>
            <a:r>
              <a:rPr lang="en-US" sz="1900" b="1" dirty="0">
                <a:solidFill>
                  <a:srgbClr val="D3EF4C"/>
                </a:solidFill>
                <a:latin typeface="Cambria" pitchFamily="34" charset="0"/>
                <a:ea typeface="Cambria" pitchFamily="34" charset="-122"/>
                <a:cs typeface="Cambria" pitchFamily="34" charset="-120"/>
              </a:rPr>
              <a:t>8.5</a:t>
            </a:r>
            <a:endParaRPr lang="en-US" sz="1900" dirty="0"/>
          </a:p>
        </p:txBody>
      </p:sp>
      <p:sp>
        <p:nvSpPr>
          <p:cNvPr id="14" name="Text 12"/>
          <p:cNvSpPr/>
          <p:nvPr/>
        </p:nvSpPr>
        <p:spPr>
          <a:xfrm>
            <a:off x="1836217" y="2852928"/>
            <a:ext cx="940105"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7.0</a:t>
            </a:r>
            <a:endParaRPr lang="en-US" sz="1900" dirty="0"/>
          </a:p>
        </p:txBody>
      </p:sp>
      <p:sp>
        <p:nvSpPr>
          <p:cNvPr id="15" name="Text 13"/>
          <p:cNvSpPr/>
          <p:nvPr/>
        </p:nvSpPr>
        <p:spPr>
          <a:xfrm>
            <a:off x="2776322" y="2852928"/>
            <a:ext cx="940105" cy="365760"/>
          </a:xfrm>
          <a:prstGeom prst="rect">
            <a:avLst/>
          </a:prstGeom>
          <a:noFill/>
          <a:ln/>
        </p:spPr>
        <p:txBody>
          <a:bodyPr wrap="square" lIns="0" tIns="0" rIns="0" bIns="0" rtlCol="0" anchor="ctr"/>
          <a:lstStyle/>
          <a:p>
            <a:pPr algn="ctr" indent="0" marL="0">
              <a:buNone/>
            </a:pPr>
            <a:r>
              <a:rPr lang="en-US" sz="1900" b="1" dirty="0">
                <a:solidFill>
                  <a:srgbClr val="A8BDB2"/>
                </a:solidFill>
                <a:latin typeface="Cambria" pitchFamily="34" charset="0"/>
                <a:ea typeface="Cambria" pitchFamily="34" charset="-122"/>
                <a:cs typeface="Cambria" pitchFamily="34" charset="-120"/>
              </a:rPr>
              <a:t>—</a:t>
            </a:r>
            <a:endParaRPr lang="en-US" sz="1900" dirty="0"/>
          </a:p>
        </p:txBody>
      </p:sp>
      <p:sp>
        <p:nvSpPr>
          <p:cNvPr id="16" name="Text 14"/>
          <p:cNvSpPr/>
          <p:nvPr/>
        </p:nvSpPr>
        <p:spPr>
          <a:xfrm>
            <a:off x="896112"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LPA</a:t>
            </a:r>
            <a:endParaRPr lang="en-US" sz="850" dirty="0"/>
          </a:p>
        </p:txBody>
      </p:sp>
      <p:sp>
        <p:nvSpPr>
          <p:cNvPr id="17" name="Text 15"/>
          <p:cNvSpPr/>
          <p:nvPr/>
        </p:nvSpPr>
        <p:spPr>
          <a:xfrm>
            <a:off x="1836217"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MIN CGPA</a:t>
            </a:r>
            <a:endParaRPr lang="en-US" sz="850" dirty="0"/>
          </a:p>
        </p:txBody>
      </p:sp>
      <p:sp>
        <p:nvSpPr>
          <p:cNvPr id="18" name="Text 16"/>
          <p:cNvSpPr/>
          <p:nvPr/>
        </p:nvSpPr>
        <p:spPr>
          <a:xfrm>
            <a:off x="2776322"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STATUS</a:t>
            </a:r>
            <a:endParaRPr lang="en-US" sz="850" dirty="0"/>
          </a:p>
        </p:txBody>
      </p:sp>
      <p:sp>
        <p:nvSpPr>
          <p:cNvPr id="19" name="Shape 17"/>
          <p:cNvSpPr/>
          <p:nvPr/>
        </p:nvSpPr>
        <p:spPr>
          <a:xfrm>
            <a:off x="804672" y="3785616"/>
            <a:ext cx="3003194" cy="530352"/>
          </a:xfrm>
          <a:prstGeom prst="roundRect">
            <a:avLst>
              <a:gd name="adj" fmla="val 20690"/>
            </a:avLst>
          </a:prstGeom>
          <a:solidFill>
            <a:srgbClr val="173328"/>
          </a:solidFill>
          <a:ln w="12700">
            <a:solidFill>
              <a:srgbClr val="274A3C"/>
            </a:solidFill>
            <a:prstDash val="solid"/>
          </a:ln>
        </p:spPr>
      </p:sp>
      <p:sp>
        <p:nvSpPr>
          <p:cNvPr id="20" name="Text 18"/>
          <p:cNvSpPr/>
          <p:nvPr/>
        </p:nvSpPr>
        <p:spPr>
          <a:xfrm>
            <a:off x="841248" y="3931920"/>
            <a:ext cx="2930042" cy="256032"/>
          </a:xfrm>
          <a:prstGeom prst="rect">
            <a:avLst/>
          </a:prstGeom>
          <a:noFill/>
          <a:ln/>
        </p:spPr>
        <p:txBody>
          <a:bodyPr wrap="square" lIns="0" tIns="0" rIns="0" bIns="0" rtlCol="0" anchor="ctr"/>
          <a:lstStyle/>
          <a:p>
            <a:pPr algn="ctr" indent="0" marL="0">
              <a:buNone/>
            </a:pPr>
            <a:r>
              <a:rPr lang="en-US" sz="1100" b="1" dirty="0">
                <a:solidFill>
                  <a:srgbClr val="D3EF4C"/>
                </a:solidFill>
                <a:latin typeface="Calibri" pitchFamily="34" charset="0"/>
                <a:ea typeface="Calibri" pitchFamily="34" charset="-122"/>
                <a:cs typeface="Calibri" pitchFamily="34" charset="-120"/>
              </a:rPr>
              <a:t>APPLY NOW</a:t>
            </a:r>
            <a:endParaRPr lang="en-US" sz="1100" dirty="0"/>
          </a:p>
        </p:txBody>
      </p:sp>
      <p:sp>
        <p:nvSpPr>
          <p:cNvPr id="21" name="Text 19"/>
          <p:cNvSpPr/>
          <p:nvPr/>
        </p:nvSpPr>
        <p:spPr>
          <a:xfrm>
            <a:off x="804672" y="4352544"/>
            <a:ext cx="3003194" cy="365760"/>
          </a:xfrm>
          <a:prstGeom prst="rect">
            <a:avLst/>
          </a:prstGeom>
          <a:noFill/>
          <a:ln/>
        </p:spPr>
        <p:txBody>
          <a:bodyPr wrap="square" lIns="0" tIns="0" rIns="0" bIns="0" rtlCol="0" anchor="ctr"/>
          <a:lstStyle/>
          <a:p>
            <a:pPr indent="0" marL="0">
              <a:lnSpc>
                <a:spcPts val="1350"/>
              </a:lnSpc>
              <a:buNone/>
            </a:pPr>
            <a:r>
              <a:rPr lang="en-US" sz="1050" i="1" dirty="0">
                <a:solidFill>
                  <a:srgbClr val="A8BDB2"/>
                </a:solidFill>
                <a:latin typeface="Calibri" pitchFamily="34" charset="0"/>
                <a:ea typeface="Calibri" pitchFamily="34" charset="-122"/>
                <a:cs typeface="Calibri" pitchFamily="34" charset="-120"/>
              </a:rPr>
              <a:t>CGPA 8.1 clears the 7.0 minimum</a:t>
            </a:r>
            <a:endParaRPr lang="en-US" sz="1050" dirty="0"/>
          </a:p>
        </p:txBody>
      </p:sp>
      <p:sp>
        <p:nvSpPr>
          <p:cNvPr id="22" name="Shape 20"/>
          <p:cNvSpPr/>
          <p:nvPr/>
        </p:nvSpPr>
        <p:spPr>
          <a:xfrm>
            <a:off x="4356506" y="1389888"/>
            <a:ext cx="3478682" cy="3200400"/>
          </a:xfrm>
          <a:prstGeom prst="roundRect">
            <a:avLst>
              <a:gd name="adj" fmla="val 285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Shape 21"/>
          <p:cNvSpPr/>
          <p:nvPr/>
        </p:nvSpPr>
        <p:spPr>
          <a:xfrm>
            <a:off x="4594250" y="1627632"/>
            <a:ext cx="1188720" cy="310896"/>
          </a:xfrm>
          <a:prstGeom prst="roundRect">
            <a:avLst>
              <a:gd name="adj" fmla="val 50000"/>
            </a:avLst>
          </a:prstGeom>
          <a:solidFill>
            <a:srgbClr val="D3EF4C"/>
          </a:solidFill>
          <a:ln w="12700">
            <a:solidFill>
              <a:srgbClr val="D3EF4C"/>
            </a:solidFill>
            <a:prstDash val="solid"/>
          </a:ln>
        </p:spPr>
      </p:sp>
      <p:sp>
        <p:nvSpPr>
          <p:cNvPr id="24" name="Text 22"/>
          <p:cNvSpPr/>
          <p:nvPr/>
        </p:nvSpPr>
        <p:spPr>
          <a:xfrm>
            <a:off x="4594250" y="1682496"/>
            <a:ext cx="1188720" cy="219456"/>
          </a:xfrm>
          <a:prstGeom prst="rect">
            <a:avLst/>
          </a:prstGeom>
          <a:noFill/>
          <a:ln/>
        </p:spPr>
        <p:txBody>
          <a:bodyPr wrap="square" lIns="0" tIns="0" rIns="0" bIns="0" rtlCol="0" anchor="ctr"/>
          <a:lstStyle/>
          <a:p>
            <a:pPr algn="ctr" indent="0" marL="0">
              <a:buNone/>
            </a:pPr>
            <a:r>
              <a:rPr lang="en-US" sz="1000" b="1" dirty="0">
                <a:solidFill>
                  <a:srgbClr val="0B1814"/>
                </a:solidFill>
                <a:latin typeface="Calibri" pitchFamily="34" charset="0"/>
                <a:ea typeface="Calibri" pitchFamily="34" charset="-122"/>
                <a:cs typeface="Calibri" pitchFamily="34" charset="-120"/>
              </a:rPr>
              <a:t>Already applied</a:t>
            </a:r>
            <a:endParaRPr lang="en-US" sz="1000" dirty="0"/>
          </a:p>
        </p:txBody>
      </p:sp>
      <p:sp>
        <p:nvSpPr>
          <p:cNvPr id="25" name="Text 23"/>
          <p:cNvSpPr/>
          <p:nvPr/>
        </p:nvSpPr>
        <p:spPr>
          <a:xfrm>
            <a:off x="4594250" y="2084832"/>
            <a:ext cx="3003194"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Vertex Systems</a:t>
            </a:r>
            <a:endParaRPr lang="en-US" sz="1700" dirty="0"/>
          </a:p>
        </p:txBody>
      </p:sp>
      <p:sp>
        <p:nvSpPr>
          <p:cNvPr id="26" name="Text 24"/>
          <p:cNvSpPr/>
          <p:nvPr/>
        </p:nvSpPr>
        <p:spPr>
          <a:xfrm>
            <a:off x="4594250" y="2414016"/>
            <a:ext cx="3003194" cy="256032"/>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Data Analyst · Full time</a:t>
            </a:r>
            <a:endParaRPr lang="en-US" sz="1150" dirty="0"/>
          </a:p>
        </p:txBody>
      </p:sp>
      <p:sp>
        <p:nvSpPr>
          <p:cNvPr id="27" name="Shape 25"/>
          <p:cNvSpPr/>
          <p:nvPr/>
        </p:nvSpPr>
        <p:spPr>
          <a:xfrm>
            <a:off x="4594250" y="2761488"/>
            <a:ext cx="3003194" cy="749808"/>
          </a:xfrm>
          <a:prstGeom prst="roundRect">
            <a:avLst>
              <a:gd name="adj" fmla="val 12195"/>
            </a:avLst>
          </a:prstGeom>
          <a:solidFill>
            <a:srgbClr val="173328"/>
          </a:solidFill>
          <a:ln w="9525">
            <a:solidFill>
              <a:srgbClr val="274A3C"/>
            </a:solidFill>
            <a:prstDash val="solid"/>
          </a:ln>
        </p:spPr>
      </p:sp>
      <p:sp>
        <p:nvSpPr>
          <p:cNvPr id="28" name="Text 26"/>
          <p:cNvSpPr/>
          <p:nvPr/>
        </p:nvSpPr>
        <p:spPr>
          <a:xfrm>
            <a:off x="4685690" y="2852928"/>
            <a:ext cx="940105" cy="365760"/>
          </a:xfrm>
          <a:prstGeom prst="rect">
            <a:avLst/>
          </a:prstGeom>
          <a:noFill/>
          <a:ln/>
        </p:spPr>
        <p:txBody>
          <a:bodyPr wrap="square" lIns="0" tIns="0" rIns="0" bIns="0" rtlCol="0" anchor="ctr"/>
          <a:lstStyle/>
          <a:p>
            <a:pPr algn="ctr" indent="0" marL="0">
              <a:buNone/>
            </a:pPr>
            <a:r>
              <a:rPr lang="en-US" sz="1900" b="1" dirty="0">
                <a:solidFill>
                  <a:srgbClr val="D3EF4C"/>
                </a:solidFill>
                <a:latin typeface="Cambria" pitchFamily="34" charset="0"/>
                <a:ea typeface="Cambria" pitchFamily="34" charset="-122"/>
                <a:cs typeface="Cambria" pitchFamily="34" charset="-120"/>
              </a:rPr>
              <a:t>6.0</a:t>
            </a:r>
            <a:endParaRPr lang="en-US" sz="1900" dirty="0"/>
          </a:p>
        </p:txBody>
      </p:sp>
      <p:sp>
        <p:nvSpPr>
          <p:cNvPr id="29" name="Text 27"/>
          <p:cNvSpPr/>
          <p:nvPr/>
        </p:nvSpPr>
        <p:spPr>
          <a:xfrm>
            <a:off x="5625795" y="2852928"/>
            <a:ext cx="940105"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6.0</a:t>
            </a:r>
            <a:endParaRPr lang="en-US" sz="1900" dirty="0"/>
          </a:p>
        </p:txBody>
      </p:sp>
      <p:sp>
        <p:nvSpPr>
          <p:cNvPr id="30" name="Text 28"/>
          <p:cNvSpPr/>
          <p:nvPr/>
        </p:nvSpPr>
        <p:spPr>
          <a:xfrm>
            <a:off x="6565900" y="2852928"/>
            <a:ext cx="940105" cy="365760"/>
          </a:xfrm>
          <a:prstGeom prst="rect">
            <a:avLst/>
          </a:prstGeom>
          <a:noFill/>
          <a:ln/>
        </p:spPr>
        <p:txBody>
          <a:bodyPr wrap="square" lIns="0" tIns="0" rIns="0" bIns="0" rtlCol="0" anchor="ctr"/>
          <a:lstStyle/>
          <a:p>
            <a:pPr algn="ctr" indent="0" marL="0">
              <a:buNone/>
            </a:pPr>
            <a:r>
              <a:rPr lang="en-US" sz="1900" b="1" dirty="0">
                <a:solidFill>
                  <a:srgbClr val="A8BDB2"/>
                </a:solidFill>
                <a:latin typeface="Cambria" pitchFamily="34" charset="0"/>
                <a:ea typeface="Cambria" pitchFamily="34" charset="-122"/>
                <a:cs typeface="Cambria" pitchFamily="34" charset="-120"/>
              </a:rPr>
              <a:t>—</a:t>
            </a:r>
            <a:endParaRPr lang="en-US" sz="1900" dirty="0"/>
          </a:p>
        </p:txBody>
      </p:sp>
      <p:sp>
        <p:nvSpPr>
          <p:cNvPr id="31" name="Text 29"/>
          <p:cNvSpPr/>
          <p:nvPr/>
        </p:nvSpPr>
        <p:spPr>
          <a:xfrm>
            <a:off x="4685690"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LPA</a:t>
            </a:r>
            <a:endParaRPr lang="en-US" sz="850" dirty="0"/>
          </a:p>
        </p:txBody>
      </p:sp>
      <p:sp>
        <p:nvSpPr>
          <p:cNvPr id="32" name="Text 30"/>
          <p:cNvSpPr/>
          <p:nvPr/>
        </p:nvSpPr>
        <p:spPr>
          <a:xfrm>
            <a:off x="5625795"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MIN CGPA</a:t>
            </a:r>
            <a:endParaRPr lang="en-US" sz="850" dirty="0"/>
          </a:p>
        </p:txBody>
      </p:sp>
      <p:sp>
        <p:nvSpPr>
          <p:cNvPr id="33" name="Text 31"/>
          <p:cNvSpPr/>
          <p:nvPr/>
        </p:nvSpPr>
        <p:spPr>
          <a:xfrm>
            <a:off x="6565900"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STATUS</a:t>
            </a:r>
            <a:endParaRPr lang="en-US" sz="850" dirty="0"/>
          </a:p>
        </p:txBody>
      </p:sp>
      <p:sp>
        <p:nvSpPr>
          <p:cNvPr id="34" name="Shape 32"/>
          <p:cNvSpPr/>
          <p:nvPr/>
        </p:nvSpPr>
        <p:spPr>
          <a:xfrm>
            <a:off x="4594250" y="3785616"/>
            <a:ext cx="3003194" cy="530352"/>
          </a:xfrm>
          <a:prstGeom prst="roundRect">
            <a:avLst>
              <a:gd name="adj" fmla="val 20690"/>
            </a:avLst>
          </a:prstGeom>
          <a:solidFill>
            <a:srgbClr val="173328"/>
          </a:solidFill>
          <a:ln w="12700">
            <a:solidFill>
              <a:srgbClr val="274A3C"/>
            </a:solidFill>
            <a:prstDash val="solid"/>
          </a:ln>
        </p:spPr>
      </p:sp>
      <p:sp>
        <p:nvSpPr>
          <p:cNvPr id="35" name="Text 33"/>
          <p:cNvSpPr/>
          <p:nvPr/>
        </p:nvSpPr>
        <p:spPr>
          <a:xfrm>
            <a:off x="4630826" y="3931920"/>
            <a:ext cx="2930042" cy="256032"/>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APPLIED · SHORTLISTED</a:t>
            </a:r>
            <a:endParaRPr lang="en-US" sz="1100" dirty="0"/>
          </a:p>
        </p:txBody>
      </p:sp>
      <p:sp>
        <p:nvSpPr>
          <p:cNvPr id="36" name="Text 34"/>
          <p:cNvSpPr/>
          <p:nvPr/>
        </p:nvSpPr>
        <p:spPr>
          <a:xfrm>
            <a:off x="4594250" y="4352544"/>
            <a:ext cx="3003194" cy="365760"/>
          </a:xfrm>
          <a:prstGeom prst="rect">
            <a:avLst/>
          </a:prstGeom>
          <a:noFill/>
          <a:ln/>
        </p:spPr>
        <p:txBody>
          <a:bodyPr wrap="square" lIns="0" tIns="0" rIns="0" bIns="0" rtlCol="0" anchor="ctr"/>
          <a:lstStyle/>
          <a:p>
            <a:pPr indent="0" marL="0">
              <a:lnSpc>
                <a:spcPts val="1350"/>
              </a:lnSpc>
              <a:buNone/>
            </a:pPr>
            <a:r>
              <a:rPr lang="en-US" sz="1050" i="1" dirty="0">
                <a:solidFill>
                  <a:srgbClr val="A8BDB2"/>
                </a:solidFill>
                <a:latin typeface="Calibri" pitchFamily="34" charset="0"/>
                <a:ea typeface="Calibri" pitchFamily="34" charset="-122"/>
                <a:cs typeface="Calibri" pitchFamily="34" charset="-120"/>
              </a:rPr>
              <a:t>Duplicate applies are refused by a unique constraint</a:t>
            </a:r>
            <a:endParaRPr lang="en-US" sz="1050" dirty="0"/>
          </a:p>
        </p:txBody>
      </p:sp>
      <p:sp>
        <p:nvSpPr>
          <p:cNvPr id="37" name="Shape 35"/>
          <p:cNvSpPr/>
          <p:nvPr/>
        </p:nvSpPr>
        <p:spPr>
          <a:xfrm>
            <a:off x="8146085" y="1389888"/>
            <a:ext cx="3478682" cy="3200400"/>
          </a:xfrm>
          <a:prstGeom prst="roundRect">
            <a:avLst>
              <a:gd name="adj" fmla="val 285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8" name="Shape 36"/>
          <p:cNvSpPr/>
          <p:nvPr/>
        </p:nvSpPr>
        <p:spPr>
          <a:xfrm>
            <a:off x="8383829" y="1627632"/>
            <a:ext cx="1188720" cy="310896"/>
          </a:xfrm>
          <a:prstGeom prst="roundRect">
            <a:avLst>
              <a:gd name="adj" fmla="val 50000"/>
            </a:avLst>
          </a:prstGeom>
          <a:solidFill>
            <a:srgbClr val="F87171"/>
          </a:solidFill>
          <a:ln w="12700">
            <a:solidFill>
              <a:srgbClr val="F87171"/>
            </a:solidFill>
            <a:prstDash val="solid"/>
          </a:ln>
        </p:spPr>
      </p:sp>
      <p:sp>
        <p:nvSpPr>
          <p:cNvPr id="39" name="Text 37"/>
          <p:cNvSpPr/>
          <p:nvPr/>
        </p:nvSpPr>
        <p:spPr>
          <a:xfrm>
            <a:off x="8383829" y="1682496"/>
            <a:ext cx="1188720" cy="219456"/>
          </a:xfrm>
          <a:prstGeom prst="rect">
            <a:avLst/>
          </a:prstGeom>
          <a:noFill/>
          <a:ln/>
        </p:spPr>
        <p:txBody>
          <a:bodyPr wrap="square" lIns="0" tIns="0" rIns="0" bIns="0" rtlCol="0" anchor="ctr"/>
          <a:lstStyle/>
          <a:p>
            <a:pPr algn="ctr" indent="0" marL="0">
              <a:buNone/>
            </a:pPr>
            <a:r>
              <a:rPr lang="en-US" sz="1000" b="1" dirty="0">
                <a:solidFill>
                  <a:srgbClr val="0B1814"/>
                </a:solidFill>
                <a:latin typeface="Calibri" pitchFamily="34" charset="0"/>
                <a:ea typeface="Calibri" pitchFamily="34" charset="-122"/>
                <a:cs typeface="Calibri" pitchFamily="34" charset="-120"/>
              </a:rPr>
              <a:t>Not eligible</a:t>
            </a:r>
            <a:endParaRPr lang="en-US" sz="1000" dirty="0"/>
          </a:p>
        </p:txBody>
      </p:sp>
      <p:sp>
        <p:nvSpPr>
          <p:cNvPr id="40" name="Text 38"/>
          <p:cNvSpPr/>
          <p:nvPr/>
        </p:nvSpPr>
        <p:spPr>
          <a:xfrm>
            <a:off x="8383829" y="2084832"/>
            <a:ext cx="3003194"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Orion Labs</a:t>
            </a:r>
            <a:endParaRPr lang="en-US" sz="1700" dirty="0"/>
          </a:p>
        </p:txBody>
      </p:sp>
      <p:sp>
        <p:nvSpPr>
          <p:cNvPr id="41" name="Text 39"/>
          <p:cNvSpPr/>
          <p:nvPr/>
        </p:nvSpPr>
        <p:spPr>
          <a:xfrm>
            <a:off x="8383829" y="2414016"/>
            <a:ext cx="3003194" cy="256032"/>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Data Analyst · Full time</a:t>
            </a:r>
            <a:endParaRPr lang="en-US" sz="1150" dirty="0"/>
          </a:p>
        </p:txBody>
      </p:sp>
      <p:sp>
        <p:nvSpPr>
          <p:cNvPr id="42" name="Shape 40"/>
          <p:cNvSpPr/>
          <p:nvPr/>
        </p:nvSpPr>
        <p:spPr>
          <a:xfrm>
            <a:off x="8383829" y="2761488"/>
            <a:ext cx="3003194" cy="749808"/>
          </a:xfrm>
          <a:prstGeom prst="roundRect">
            <a:avLst>
              <a:gd name="adj" fmla="val 12195"/>
            </a:avLst>
          </a:prstGeom>
          <a:solidFill>
            <a:srgbClr val="173328"/>
          </a:solidFill>
          <a:ln w="9525">
            <a:solidFill>
              <a:srgbClr val="274A3C"/>
            </a:solidFill>
            <a:prstDash val="solid"/>
          </a:ln>
        </p:spPr>
      </p:sp>
      <p:sp>
        <p:nvSpPr>
          <p:cNvPr id="43" name="Text 41"/>
          <p:cNvSpPr/>
          <p:nvPr/>
        </p:nvSpPr>
        <p:spPr>
          <a:xfrm>
            <a:off x="8475269" y="2852928"/>
            <a:ext cx="940105" cy="365760"/>
          </a:xfrm>
          <a:prstGeom prst="rect">
            <a:avLst/>
          </a:prstGeom>
          <a:noFill/>
          <a:ln/>
        </p:spPr>
        <p:txBody>
          <a:bodyPr wrap="square" lIns="0" tIns="0" rIns="0" bIns="0" rtlCol="0" anchor="ctr"/>
          <a:lstStyle/>
          <a:p>
            <a:pPr algn="ctr" indent="0" marL="0">
              <a:buNone/>
            </a:pPr>
            <a:r>
              <a:rPr lang="en-US" sz="1900" b="1" dirty="0">
                <a:solidFill>
                  <a:srgbClr val="D3EF4C"/>
                </a:solidFill>
                <a:latin typeface="Cambria" pitchFamily="34" charset="0"/>
                <a:ea typeface="Cambria" pitchFamily="34" charset="-122"/>
                <a:cs typeface="Cambria" pitchFamily="34" charset="-120"/>
              </a:rPr>
              <a:t>12.0</a:t>
            </a:r>
            <a:endParaRPr lang="en-US" sz="1900" dirty="0"/>
          </a:p>
        </p:txBody>
      </p:sp>
      <p:sp>
        <p:nvSpPr>
          <p:cNvPr id="44" name="Text 42"/>
          <p:cNvSpPr/>
          <p:nvPr/>
        </p:nvSpPr>
        <p:spPr>
          <a:xfrm>
            <a:off x="9415374" y="2852928"/>
            <a:ext cx="940105"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8.5</a:t>
            </a:r>
            <a:endParaRPr lang="en-US" sz="1900" dirty="0"/>
          </a:p>
        </p:txBody>
      </p:sp>
      <p:sp>
        <p:nvSpPr>
          <p:cNvPr id="45" name="Text 43"/>
          <p:cNvSpPr/>
          <p:nvPr/>
        </p:nvSpPr>
        <p:spPr>
          <a:xfrm>
            <a:off x="10355478" y="2852928"/>
            <a:ext cx="940105" cy="365760"/>
          </a:xfrm>
          <a:prstGeom prst="rect">
            <a:avLst/>
          </a:prstGeom>
          <a:noFill/>
          <a:ln/>
        </p:spPr>
        <p:txBody>
          <a:bodyPr wrap="square" lIns="0" tIns="0" rIns="0" bIns="0" rtlCol="0" anchor="ctr"/>
          <a:lstStyle/>
          <a:p>
            <a:pPr algn="ctr" indent="0" marL="0">
              <a:buNone/>
            </a:pPr>
            <a:r>
              <a:rPr lang="en-US" sz="1900" b="1" dirty="0">
                <a:solidFill>
                  <a:srgbClr val="A8BDB2"/>
                </a:solidFill>
                <a:latin typeface="Cambria" pitchFamily="34" charset="0"/>
                <a:ea typeface="Cambria" pitchFamily="34" charset="-122"/>
                <a:cs typeface="Cambria" pitchFamily="34" charset="-120"/>
              </a:rPr>
              <a:t>—</a:t>
            </a:r>
            <a:endParaRPr lang="en-US" sz="1900" dirty="0"/>
          </a:p>
        </p:txBody>
      </p:sp>
      <p:sp>
        <p:nvSpPr>
          <p:cNvPr id="46" name="Text 44"/>
          <p:cNvSpPr/>
          <p:nvPr/>
        </p:nvSpPr>
        <p:spPr>
          <a:xfrm>
            <a:off x="8475269"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LPA</a:t>
            </a:r>
            <a:endParaRPr lang="en-US" sz="850" dirty="0"/>
          </a:p>
        </p:txBody>
      </p:sp>
      <p:sp>
        <p:nvSpPr>
          <p:cNvPr id="47" name="Text 45"/>
          <p:cNvSpPr/>
          <p:nvPr/>
        </p:nvSpPr>
        <p:spPr>
          <a:xfrm>
            <a:off x="9415374"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MIN CGPA</a:t>
            </a:r>
            <a:endParaRPr lang="en-US" sz="850" dirty="0"/>
          </a:p>
        </p:txBody>
      </p:sp>
      <p:sp>
        <p:nvSpPr>
          <p:cNvPr id="48" name="Text 46"/>
          <p:cNvSpPr/>
          <p:nvPr/>
        </p:nvSpPr>
        <p:spPr>
          <a:xfrm>
            <a:off x="10355478" y="3236976"/>
            <a:ext cx="940105" cy="201168"/>
          </a:xfrm>
          <a:prstGeom prst="rect">
            <a:avLst/>
          </a:prstGeom>
          <a:noFill/>
          <a:ln/>
        </p:spPr>
        <p:txBody>
          <a:bodyPr wrap="square" lIns="0" tIns="0" rIns="0" bIns="0" rtlCol="0" anchor="ctr"/>
          <a:lstStyle/>
          <a:p>
            <a:pPr algn="ctr" indent="0" marL="0">
              <a:buNone/>
            </a:pPr>
            <a:r>
              <a:rPr lang="en-US" sz="850" spc="100" kern="0" dirty="0">
                <a:solidFill>
                  <a:srgbClr val="A8BDB2"/>
                </a:solidFill>
                <a:latin typeface="Calibri" pitchFamily="34" charset="0"/>
                <a:ea typeface="Calibri" pitchFamily="34" charset="-122"/>
                <a:cs typeface="Calibri" pitchFamily="34" charset="-120"/>
              </a:rPr>
              <a:t>STATUS</a:t>
            </a:r>
            <a:endParaRPr lang="en-US" sz="850" dirty="0"/>
          </a:p>
        </p:txBody>
      </p:sp>
      <p:sp>
        <p:nvSpPr>
          <p:cNvPr id="49" name="Shape 47"/>
          <p:cNvSpPr/>
          <p:nvPr/>
        </p:nvSpPr>
        <p:spPr>
          <a:xfrm>
            <a:off x="8383829" y="3785616"/>
            <a:ext cx="3003194" cy="530352"/>
          </a:xfrm>
          <a:prstGeom prst="roundRect">
            <a:avLst>
              <a:gd name="adj" fmla="val 20690"/>
            </a:avLst>
          </a:prstGeom>
          <a:solidFill>
            <a:srgbClr val="3A2020"/>
          </a:solidFill>
          <a:ln w="12700">
            <a:solidFill>
              <a:srgbClr val="F87171"/>
            </a:solidFill>
            <a:prstDash val="solid"/>
          </a:ln>
        </p:spPr>
      </p:sp>
      <p:sp>
        <p:nvSpPr>
          <p:cNvPr id="50" name="Text 48"/>
          <p:cNvSpPr/>
          <p:nvPr/>
        </p:nvSpPr>
        <p:spPr>
          <a:xfrm>
            <a:off x="8420405" y="3931920"/>
            <a:ext cx="2930042" cy="256032"/>
          </a:xfrm>
          <a:prstGeom prst="rect">
            <a:avLst/>
          </a:prstGeom>
          <a:noFill/>
          <a:ln/>
        </p:spPr>
        <p:txBody>
          <a:bodyPr wrap="square" lIns="0" tIns="0" rIns="0" bIns="0"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NEEDS CGPA ≥ 8.5</a:t>
            </a:r>
            <a:endParaRPr lang="en-US" sz="1100" dirty="0"/>
          </a:p>
        </p:txBody>
      </p:sp>
      <p:sp>
        <p:nvSpPr>
          <p:cNvPr id="51" name="Text 49"/>
          <p:cNvSpPr/>
          <p:nvPr/>
        </p:nvSpPr>
        <p:spPr>
          <a:xfrm>
            <a:off x="8383829" y="4352544"/>
            <a:ext cx="3003194" cy="365760"/>
          </a:xfrm>
          <a:prstGeom prst="rect">
            <a:avLst/>
          </a:prstGeom>
          <a:noFill/>
          <a:ln/>
        </p:spPr>
        <p:txBody>
          <a:bodyPr wrap="square" lIns="0" tIns="0" rIns="0" bIns="0" rtlCol="0" anchor="ctr"/>
          <a:lstStyle/>
          <a:p>
            <a:pPr indent="0" marL="0">
              <a:lnSpc>
                <a:spcPts val="1350"/>
              </a:lnSpc>
              <a:buNone/>
            </a:pPr>
            <a:r>
              <a:rPr lang="en-US" sz="1050" i="1" dirty="0">
                <a:solidFill>
                  <a:srgbClr val="A8BDB2"/>
                </a:solidFill>
                <a:latin typeface="Calibri" pitchFamily="34" charset="0"/>
                <a:ea typeface="Calibri" pitchFamily="34" charset="-122"/>
                <a:cs typeface="Calibri" pitchFamily="34" charset="-120"/>
              </a:rPr>
              <a:t>The reason string comes from the engine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STUDENT PORTAL  ·  3 OF 4</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Applications: stage and history</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Route /portal/applications — each row shows package, drive date and the stage chips.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66928" y="1389888"/>
            <a:ext cx="11057839" cy="1371600"/>
          </a:xfrm>
          <a:prstGeom prst="roundRect">
            <a:avLst>
              <a:gd name="adj" fmla="val 666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41248" y="1609344"/>
            <a:ext cx="594360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Nimbus Analytics · Data Analyst</a:t>
            </a:r>
            <a:endParaRPr lang="en-US" sz="1700" dirty="0"/>
          </a:p>
        </p:txBody>
      </p:sp>
      <p:sp>
        <p:nvSpPr>
          <p:cNvPr id="9" name="Text 7"/>
          <p:cNvSpPr/>
          <p:nvPr/>
        </p:nvSpPr>
        <p:spPr>
          <a:xfrm>
            <a:off x="841248" y="1920240"/>
            <a:ext cx="5943600" cy="256032"/>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Analyst drive 2026</a:t>
            </a:r>
            <a:endParaRPr lang="en-US" sz="1150" dirty="0"/>
          </a:p>
        </p:txBody>
      </p:sp>
      <p:sp>
        <p:nvSpPr>
          <p:cNvPr id="10" name="Shape 8"/>
          <p:cNvSpPr/>
          <p:nvPr/>
        </p:nvSpPr>
        <p:spPr>
          <a:xfrm>
            <a:off x="8887968" y="1645920"/>
            <a:ext cx="1737360" cy="384048"/>
          </a:xfrm>
          <a:prstGeom prst="roundRect">
            <a:avLst>
              <a:gd name="adj" fmla="val 50000"/>
            </a:avLst>
          </a:prstGeom>
          <a:solidFill>
            <a:srgbClr val="D3EF4C"/>
          </a:solidFill>
          <a:ln w="12700">
            <a:solidFill>
              <a:srgbClr val="D3EF4C"/>
            </a:solidFill>
            <a:prstDash val="solid"/>
          </a:ln>
        </p:spPr>
      </p:sp>
      <p:sp>
        <p:nvSpPr>
          <p:cNvPr id="11" name="Text 9"/>
          <p:cNvSpPr/>
          <p:nvPr/>
        </p:nvSpPr>
        <p:spPr>
          <a:xfrm>
            <a:off x="8887968" y="1728216"/>
            <a:ext cx="1737360" cy="237744"/>
          </a:xfrm>
          <a:prstGeom prst="rect">
            <a:avLst/>
          </a:prstGeom>
          <a:noFill/>
          <a:ln/>
        </p:spPr>
        <p:txBody>
          <a:bodyPr wrap="square" lIns="0" tIns="0" rIns="0" bIns="0" rtlCol="0" anchor="ctr"/>
          <a:lstStyle/>
          <a:p>
            <a:pPr algn="ctr" indent="0" marL="0">
              <a:buNone/>
            </a:pPr>
            <a:r>
              <a:rPr lang="en-US" sz="1150" b="1" dirty="0">
                <a:solidFill>
                  <a:srgbClr val="0B1814"/>
                </a:solidFill>
                <a:latin typeface="Calibri" pitchFamily="34" charset="0"/>
                <a:ea typeface="Calibri" pitchFamily="34" charset="-122"/>
                <a:cs typeface="Calibri" pitchFamily="34" charset="-120"/>
              </a:rPr>
              <a:t>Shortlisted</a:t>
            </a:r>
            <a:endParaRPr lang="en-US" sz="1150" dirty="0"/>
          </a:p>
        </p:txBody>
      </p:sp>
      <p:sp>
        <p:nvSpPr>
          <p:cNvPr id="12" name="Text 10"/>
          <p:cNvSpPr/>
          <p:nvPr/>
        </p:nvSpPr>
        <p:spPr>
          <a:xfrm>
            <a:off x="841248" y="2249424"/>
            <a:ext cx="2194560" cy="274320"/>
          </a:xfrm>
          <a:prstGeom prst="rect">
            <a:avLst/>
          </a:prstGeom>
          <a:noFill/>
          <a:ln/>
        </p:spPr>
        <p:txBody>
          <a:bodyPr wrap="square" lIns="0" tIns="0" rIns="0" bIns="0" rtlCol="0" anchor="ctr"/>
          <a:lstStyle/>
          <a:p>
            <a:pPr indent="0" marL="0">
              <a:buNone/>
            </a:pPr>
            <a:r>
              <a:rPr lang="en-US" sz="1300" b="1" dirty="0">
                <a:solidFill>
                  <a:srgbClr val="D3EF4C"/>
                </a:solidFill>
                <a:latin typeface="Calibri" pitchFamily="34" charset="0"/>
                <a:ea typeface="Calibri" pitchFamily="34" charset="-122"/>
                <a:cs typeface="Calibri" pitchFamily="34" charset="-120"/>
              </a:rPr>
              <a:t>8.5 LPA</a:t>
            </a:r>
            <a:endParaRPr lang="en-US" sz="1300" dirty="0"/>
          </a:p>
        </p:txBody>
      </p:sp>
      <p:sp>
        <p:nvSpPr>
          <p:cNvPr id="13" name="Text 11"/>
          <p:cNvSpPr/>
          <p:nvPr/>
        </p:nvSpPr>
        <p:spPr>
          <a:xfrm>
            <a:off x="841248" y="2523744"/>
            <a:ext cx="2194560" cy="219456"/>
          </a:xfrm>
          <a:prstGeom prst="rect">
            <a:avLst/>
          </a:prstGeom>
          <a:noFill/>
          <a:ln/>
        </p:spPr>
        <p:txBody>
          <a:bodyPr wrap="square" lIns="0" tIns="0" rIns="0" bIns="0" rtlCol="0" anchor="ctr"/>
          <a:lstStyle/>
          <a:p>
            <a:pPr indent="0" marL="0">
              <a:buNone/>
            </a:pPr>
            <a:r>
              <a:rPr lang="en-US" sz="1000" dirty="0">
                <a:solidFill>
                  <a:srgbClr val="A8BDB2"/>
                </a:solidFill>
                <a:latin typeface="Calibri" pitchFamily="34" charset="0"/>
                <a:ea typeface="Calibri" pitchFamily="34" charset="-122"/>
                <a:cs typeface="Calibri" pitchFamily="34" charset="-120"/>
              </a:rPr>
              <a:t>Package</a:t>
            </a:r>
            <a:endParaRPr lang="en-US" sz="1000" dirty="0"/>
          </a:p>
        </p:txBody>
      </p:sp>
      <p:sp>
        <p:nvSpPr>
          <p:cNvPr id="14" name="Text 12"/>
          <p:cNvSpPr/>
          <p:nvPr/>
        </p:nvSpPr>
        <p:spPr>
          <a:xfrm>
            <a:off x="3310128" y="2249424"/>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12 Oct</a:t>
            </a:r>
            <a:endParaRPr lang="en-US" sz="1300" dirty="0"/>
          </a:p>
        </p:txBody>
      </p:sp>
      <p:sp>
        <p:nvSpPr>
          <p:cNvPr id="15" name="Text 13"/>
          <p:cNvSpPr/>
          <p:nvPr/>
        </p:nvSpPr>
        <p:spPr>
          <a:xfrm>
            <a:off x="3310128" y="2523744"/>
            <a:ext cx="2194560" cy="219456"/>
          </a:xfrm>
          <a:prstGeom prst="rect">
            <a:avLst/>
          </a:prstGeom>
          <a:noFill/>
          <a:ln/>
        </p:spPr>
        <p:txBody>
          <a:bodyPr wrap="square" lIns="0" tIns="0" rIns="0" bIns="0" rtlCol="0" anchor="ctr"/>
          <a:lstStyle/>
          <a:p>
            <a:pPr indent="0" marL="0">
              <a:buNone/>
            </a:pPr>
            <a:r>
              <a:rPr lang="en-US" sz="1000" dirty="0">
                <a:solidFill>
                  <a:srgbClr val="A8BDB2"/>
                </a:solidFill>
                <a:latin typeface="Calibri" pitchFamily="34" charset="0"/>
                <a:ea typeface="Calibri" pitchFamily="34" charset="-122"/>
                <a:cs typeface="Calibri" pitchFamily="34" charset="-120"/>
              </a:rPr>
              <a:t>Drive date</a:t>
            </a:r>
            <a:endParaRPr lang="en-US" sz="1000" dirty="0"/>
          </a:p>
        </p:txBody>
      </p:sp>
      <p:sp>
        <p:nvSpPr>
          <p:cNvPr id="16" name="Text 14"/>
          <p:cNvSpPr/>
          <p:nvPr/>
        </p:nvSpPr>
        <p:spPr>
          <a:xfrm>
            <a:off x="5779008" y="2249424"/>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02 Sep</a:t>
            </a:r>
            <a:endParaRPr lang="en-US" sz="1300" dirty="0"/>
          </a:p>
        </p:txBody>
      </p:sp>
      <p:sp>
        <p:nvSpPr>
          <p:cNvPr id="17" name="Text 15"/>
          <p:cNvSpPr/>
          <p:nvPr/>
        </p:nvSpPr>
        <p:spPr>
          <a:xfrm>
            <a:off x="5779008" y="2523744"/>
            <a:ext cx="2194560" cy="219456"/>
          </a:xfrm>
          <a:prstGeom prst="rect">
            <a:avLst/>
          </a:prstGeom>
          <a:noFill/>
          <a:ln/>
        </p:spPr>
        <p:txBody>
          <a:bodyPr wrap="square" lIns="0" tIns="0" rIns="0" bIns="0" rtlCol="0" anchor="ctr"/>
          <a:lstStyle/>
          <a:p>
            <a:pPr indent="0" marL="0">
              <a:buNone/>
            </a:pPr>
            <a:r>
              <a:rPr lang="en-US" sz="1000" dirty="0">
                <a:solidFill>
                  <a:srgbClr val="A8BDB2"/>
                </a:solidFill>
                <a:latin typeface="Calibri" pitchFamily="34" charset="0"/>
                <a:ea typeface="Calibri" pitchFamily="34" charset="-122"/>
                <a:cs typeface="Calibri" pitchFamily="34" charset="-120"/>
              </a:rPr>
              <a:t>Applied</a:t>
            </a:r>
            <a:endParaRPr lang="en-US" sz="1000" dirty="0"/>
          </a:p>
        </p:txBody>
      </p:sp>
      <p:sp>
        <p:nvSpPr>
          <p:cNvPr id="18" name="Shape 16"/>
          <p:cNvSpPr/>
          <p:nvPr/>
        </p:nvSpPr>
        <p:spPr>
          <a:xfrm>
            <a:off x="566928" y="2999232"/>
            <a:ext cx="11057839" cy="2596896"/>
          </a:xfrm>
          <a:prstGeom prst="roundRect">
            <a:avLst>
              <a:gd name="adj" fmla="val 3521"/>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9" name="Text 17"/>
          <p:cNvSpPr/>
          <p:nvPr/>
        </p:nvSpPr>
        <p:spPr>
          <a:xfrm>
            <a:off x="841248" y="3200400"/>
            <a:ext cx="7315200" cy="274320"/>
          </a:xfrm>
          <a:prstGeom prst="rect">
            <a:avLst/>
          </a:prstGeom>
          <a:noFill/>
          <a:ln/>
        </p:spPr>
        <p:txBody>
          <a:bodyPr wrap="square" lIns="0" tIns="0" rIns="0" bIns="0" rtlCol="0" anchor="ctr"/>
          <a:lstStyle/>
          <a:p>
            <a:pPr indent="0" marL="0">
              <a:buNone/>
            </a:pPr>
            <a:r>
              <a:rPr lang="en-US" sz="1500" b="1" dirty="0">
                <a:solidFill>
                  <a:srgbClr val="D3EF4C"/>
                </a:solidFill>
                <a:latin typeface="Cambria" pitchFamily="34" charset="0"/>
                <a:ea typeface="Cambria" pitchFamily="34" charset="-122"/>
                <a:cs typeface="Cambria" pitchFamily="34" charset="-120"/>
              </a:rPr>
              <a:t>Status history from the audit table</a:t>
            </a:r>
            <a:endParaRPr lang="en-US" sz="1500" dirty="0"/>
          </a:p>
        </p:txBody>
      </p:sp>
      <p:sp>
        <p:nvSpPr>
          <p:cNvPr id="20" name="Shape 18"/>
          <p:cNvSpPr/>
          <p:nvPr/>
        </p:nvSpPr>
        <p:spPr>
          <a:xfrm>
            <a:off x="950976" y="3767328"/>
            <a:ext cx="182880" cy="182880"/>
          </a:xfrm>
          <a:prstGeom prst="ellipse">
            <a:avLst/>
          </a:prstGeom>
          <a:solidFill>
            <a:srgbClr val="22C55E"/>
          </a:solidFill>
          <a:ln w="12700">
            <a:solidFill>
              <a:srgbClr val="22C55E"/>
            </a:solidFill>
            <a:prstDash val="solid"/>
          </a:ln>
        </p:spPr>
      </p:sp>
      <p:sp>
        <p:nvSpPr>
          <p:cNvPr id="21" name="Shape 19"/>
          <p:cNvSpPr/>
          <p:nvPr/>
        </p:nvSpPr>
        <p:spPr>
          <a:xfrm>
            <a:off x="1033272" y="3968496"/>
            <a:ext cx="18288" cy="420624"/>
          </a:xfrm>
          <a:prstGeom prst="rect">
            <a:avLst/>
          </a:prstGeom>
          <a:solidFill>
            <a:srgbClr val="274A3C"/>
          </a:solidFill>
          <a:ln w="12700">
            <a:solidFill>
              <a:srgbClr val="274A3C"/>
            </a:solidFill>
            <a:prstDash val="solid"/>
          </a:ln>
        </p:spPr>
      </p:sp>
      <p:sp>
        <p:nvSpPr>
          <p:cNvPr id="22" name="Text 20"/>
          <p:cNvSpPr/>
          <p:nvPr/>
        </p:nvSpPr>
        <p:spPr>
          <a:xfrm>
            <a:off x="1353312" y="3675888"/>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Applied</a:t>
            </a:r>
            <a:endParaRPr lang="en-US" sz="1300" dirty="0"/>
          </a:p>
        </p:txBody>
      </p:sp>
      <p:sp>
        <p:nvSpPr>
          <p:cNvPr id="23" name="Text 21"/>
          <p:cNvSpPr/>
          <p:nvPr/>
        </p:nvSpPr>
        <p:spPr>
          <a:xfrm>
            <a:off x="3584448" y="3675888"/>
            <a:ext cx="2011680" cy="274320"/>
          </a:xfrm>
          <a:prstGeom prst="rect">
            <a:avLst/>
          </a:prstGeom>
          <a:noFill/>
          <a:ln/>
        </p:spPr>
        <p:txBody>
          <a:bodyPr wrap="square" lIns="0" tIns="0" rIns="0" bIns="0" rtlCol="0" anchor="ctr"/>
          <a:lstStyle/>
          <a:p>
            <a:pPr indent="0" marL="0">
              <a:buNone/>
            </a:pPr>
            <a:r>
              <a:rPr lang="en-US" sz="1200" dirty="0">
                <a:solidFill>
                  <a:srgbClr val="D3EF4C"/>
                </a:solidFill>
                <a:latin typeface="Calibri" pitchFamily="34" charset="0"/>
                <a:ea typeface="Calibri" pitchFamily="34" charset="-122"/>
                <a:cs typeface="Calibri" pitchFamily="34" charset="-120"/>
              </a:rPr>
              <a:t>02 Sep 2026</a:t>
            </a:r>
            <a:endParaRPr lang="en-US" sz="1200" dirty="0"/>
          </a:p>
        </p:txBody>
      </p:sp>
      <p:sp>
        <p:nvSpPr>
          <p:cNvPr id="24" name="Text 22"/>
          <p:cNvSpPr/>
          <p:nvPr/>
        </p:nvSpPr>
        <p:spPr>
          <a:xfrm>
            <a:off x="5687568" y="3675888"/>
            <a:ext cx="5571439" cy="274320"/>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Application created</a:t>
            </a:r>
            <a:endParaRPr lang="en-US" sz="1200" dirty="0"/>
          </a:p>
        </p:txBody>
      </p:sp>
      <p:sp>
        <p:nvSpPr>
          <p:cNvPr id="25" name="Shape 23"/>
          <p:cNvSpPr/>
          <p:nvPr/>
        </p:nvSpPr>
        <p:spPr>
          <a:xfrm>
            <a:off x="950976" y="4370832"/>
            <a:ext cx="182880" cy="182880"/>
          </a:xfrm>
          <a:prstGeom prst="ellipse">
            <a:avLst/>
          </a:prstGeom>
          <a:solidFill>
            <a:srgbClr val="D3EF4C"/>
          </a:solidFill>
          <a:ln w="12700">
            <a:solidFill>
              <a:srgbClr val="D3EF4C"/>
            </a:solidFill>
            <a:prstDash val="solid"/>
          </a:ln>
        </p:spPr>
      </p:sp>
      <p:sp>
        <p:nvSpPr>
          <p:cNvPr id="26" name="Shape 24"/>
          <p:cNvSpPr/>
          <p:nvPr/>
        </p:nvSpPr>
        <p:spPr>
          <a:xfrm>
            <a:off x="1033272" y="4572000"/>
            <a:ext cx="18288" cy="420624"/>
          </a:xfrm>
          <a:prstGeom prst="rect">
            <a:avLst/>
          </a:prstGeom>
          <a:solidFill>
            <a:srgbClr val="274A3C"/>
          </a:solidFill>
          <a:ln w="12700">
            <a:solidFill>
              <a:srgbClr val="274A3C"/>
            </a:solidFill>
            <a:prstDash val="solid"/>
          </a:ln>
        </p:spPr>
      </p:sp>
      <p:sp>
        <p:nvSpPr>
          <p:cNvPr id="27" name="Text 25"/>
          <p:cNvSpPr/>
          <p:nvPr/>
        </p:nvSpPr>
        <p:spPr>
          <a:xfrm>
            <a:off x="1353312" y="4279392"/>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Shortlisted</a:t>
            </a:r>
            <a:endParaRPr lang="en-US" sz="1300" dirty="0"/>
          </a:p>
        </p:txBody>
      </p:sp>
      <p:sp>
        <p:nvSpPr>
          <p:cNvPr id="28" name="Text 26"/>
          <p:cNvSpPr/>
          <p:nvPr/>
        </p:nvSpPr>
        <p:spPr>
          <a:xfrm>
            <a:off x="3584448" y="4279392"/>
            <a:ext cx="2011680" cy="274320"/>
          </a:xfrm>
          <a:prstGeom prst="rect">
            <a:avLst/>
          </a:prstGeom>
          <a:noFill/>
          <a:ln/>
        </p:spPr>
        <p:txBody>
          <a:bodyPr wrap="square" lIns="0" tIns="0" rIns="0" bIns="0" rtlCol="0" anchor="ctr"/>
          <a:lstStyle/>
          <a:p>
            <a:pPr indent="0" marL="0">
              <a:buNone/>
            </a:pPr>
            <a:r>
              <a:rPr lang="en-US" sz="1200" dirty="0">
                <a:solidFill>
                  <a:srgbClr val="D3EF4C"/>
                </a:solidFill>
                <a:latin typeface="Calibri" pitchFamily="34" charset="0"/>
                <a:ea typeface="Calibri" pitchFamily="34" charset="-122"/>
                <a:cs typeface="Calibri" pitchFamily="34" charset="-120"/>
              </a:rPr>
              <a:t>05 Sep 2026</a:t>
            </a:r>
            <a:endParaRPr lang="en-US" sz="1200" dirty="0"/>
          </a:p>
        </p:txBody>
      </p:sp>
      <p:sp>
        <p:nvSpPr>
          <p:cNvPr id="29" name="Text 27"/>
          <p:cNvSpPr/>
          <p:nvPr/>
        </p:nvSpPr>
        <p:spPr>
          <a:xfrm>
            <a:off x="5687568" y="4279392"/>
            <a:ext cx="5571439" cy="274320"/>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Cleared the aptitude round</a:t>
            </a:r>
            <a:endParaRPr lang="en-US" sz="1200" dirty="0"/>
          </a:p>
        </p:txBody>
      </p:sp>
      <p:sp>
        <p:nvSpPr>
          <p:cNvPr id="30" name="Shape 28"/>
          <p:cNvSpPr/>
          <p:nvPr/>
        </p:nvSpPr>
        <p:spPr>
          <a:xfrm>
            <a:off x="950976" y="4974336"/>
            <a:ext cx="182880" cy="182880"/>
          </a:xfrm>
          <a:prstGeom prst="ellipse">
            <a:avLst/>
          </a:prstGeom>
          <a:solidFill>
            <a:srgbClr val="D3EF4C"/>
          </a:solidFill>
          <a:ln w="12700">
            <a:solidFill>
              <a:srgbClr val="D3EF4C"/>
            </a:solidFill>
            <a:prstDash val="solid"/>
          </a:ln>
        </p:spPr>
      </p:sp>
      <p:sp>
        <p:nvSpPr>
          <p:cNvPr id="31" name="Text 29"/>
          <p:cNvSpPr/>
          <p:nvPr/>
        </p:nvSpPr>
        <p:spPr>
          <a:xfrm>
            <a:off x="1353312" y="4882896"/>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Shortlisted</a:t>
            </a:r>
            <a:endParaRPr lang="en-US" sz="1300" dirty="0"/>
          </a:p>
        </p:txBody>
      </p:sp>
      <p:sp>
        <p:nvSpPr>
          <p:cNvPr id="32" name="Text 30"/>
          <p:cNvSpPr/>
          <p:nvPr/>
        </p:nvSpPr>
        <p:spPr>
          <a:xfrm>
            <a:off x="3584448" y="4882896"/>
            <a:ext cx="2011680" cy="274320"/>
          </a:xfrm>
          <a:prstGeom prst="rect">
            <a:avLst/>
          </a:prstGeom>
          <a:noFill/>
          <a:ln/>
        </p:spPr>
        <p:txBody>
          <a:bodyPr wrap="square" lIns="0" tIns="0" rIns="0" bIns="0" rtlCol="0" anchor="ctr"/>
          <a:lstStyle/>
          <a:p>
            <a:pPr indent="0" marL="0">
              <a:buNone/>
            </a:pPr>
            <a:r>
              <a:rPr lang="en-US" sz="1200" dirty="0">
                <a:solidFill>
                  <a:srgbClr val="D3EF4C"/>
                </a:solidFill>
                <a:latin typeface="Calibri" pitchFamily="34" charset="0"/>
                <a:ea typeface="Calibri" pitchFamily="34" charset="-122"/>
                <a:cs typeface="Calibri" pitchFamily="34" charset="-120"/>
              </a:rPr>
              <a:t>07 Sep 2026</a:t>
            </a:r>
            <a:endParaRPr lang="en-US" sz="1200" dirty="0"/>
          </a:p>
        </p:txBody>
      </p:sp>
      <p:sp>
        <p:nvSpPr>
          <p:cNvPr id="33" name="Text 31"/>
          <p:cNvSpPr/>
          <p:nvPr/>
        </p:nvSpPr>
        <p:spPr>
          <a:xfrm>
            <a:off x="5687568" y="4882896"/>
            <a:ext cx="5571439" cy="274320"/>
          </a:xfrm>
          <a:prstGeom prst="rect">
            <a:avLst/>
          </a:prstGeom>
          <a:noFill/>
          <a:ln/>
        </p:spPr>
        <p:txBody>
          <a:bodyPr wrap="square" lIns="0" tIns="0" rIns="0" bIns="0" rtlCol="0" anchor="ctr"/>
          <a:lstStyle/>
          <a:p>
            <a:pPr indent="0" marL="0">
              <a:buNone/>
            </a:pPr>
            <a:r>
              <a:rPr lang="en-US" sz="1200" dirty="0">
                <a:solidFill>
                  <a:srgbClr val="A8BDB2"/>
                </a:solidFill>
                <a:latin typeface="Calibri" pitchFamily="34" charset="0"/>
                <a:ea typeface="Calibri" pitchFamily="34" charset="-122"/>
                <a:cs typeface="Calibri" pitchFamily="34" charset="-120"/>
              </a:rPr>
              <a:t>Moved to the technical panel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STUDENT PORTAL  ·  4 OF 4</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Profile and account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Route /portal/profile — the student maintains the record the placement cell relies on.</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17</a:t>
            </a:r>
            <a:endParaRPr lang="en-US" sz="1000" dirty="0"/>
          </a:p>
        </p:txBody>
      </p:sp>
      <p:sp>
        <p:nvSpPr>
          <p:cNvPr id="7" name="Shape 5"/>
          <p:cNvSpPr/>
          <p:nvPr/>
        </p:nvSpPr>
        <p:spPr>
          <a:xfrm>
            <a:off x="566928" y="1389888"/>
            <a:ext cx="5577840" cy="2011680"/>
          </a:xfrm>
          <a:prstGeom prst="roundRect">
            <a:avLst>
              <a:gd name="adj" fmla="val 4545"/>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41248" y="1609344"/>
            <a:ext cx="502920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Personal details</a:t>
            </a:r>
            <a:endParaRPr lang="en-US" sz="1600" dirty="0"/>
          </a:p>
        </p:txBody>
      </p:sp>
      <p:sp>
        <p:nvSpPr>
          <p:cNvPr id="9" name="Text 7"/>
          <p:cNvSpPr/>
          <p:nvPr/>
        </p:nvSpPr>
        <p:spPr>
          <a:xfrm>
            <a:off x="841248" y="1993392"/>
            <a:ext cx="1554480" cy="201168"/>
          </a:xfrm>
          <a:prstGeom prst="rect">
            <a:avLst/>
          </a:prstGeom>
          <a:noFill/>
          <a:ln/>
        </p:spPr>
        <p:txBody>
          <a:bodyPr wrap="square" lIns="0" tIns="0" rIns="0" bIns="0" rtlCol="0" anchor="ctr"/>
          <a:lstStyle/>
          <a:p>
            <a:pPr indent="0" marL="0">
              <a:buNone/>
            </a:pPr>
            <a:r>
              <a:rPr lang="en-US" sz="900" spc="120" kern="0" dirty="0">
                <a:solidFill>
                  <a:srgbClr val="A8BDB2"/>
                </a:solidFill>
                <a:latin typeface="Calibri" pitchFamily="34" charset="0"/>
                <a:ea typeface="Calibri" pitchFamily="34" charset="-122"/>
                <a:cs typeface="Calibri" pitchFamily="34" charset="-120"/>
              </a:rPr>
              <a:t>NAME</a:t>
            </a:r>
            <a:endParaRPr lang="en-US" sz="900" dirty="0"/>
          </a:p>
        </p:txBody>
      </p:sp>
      <p:sp>
        <p:nvSpPr>
          <p:cNvPr id="10" name="Text 8"/>
          <p:cNvSpPr/>
          <p:nvPr/>
        </p:nvSpPr>
        <p:spPr>
          <a:xfrm>
            <a:off x="841248" y="2194560"/>
            <a:ext cx="16002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Aarav Sharma</a:t>
            </a:r>
            <a:endParaRPr lang="en-US" sz="1200" dirty="0"/>
          </a:p>
        </p:txBody>
      </p:sp>
      <p:sp>
        <p:nvSpPr>
          <p:cNvPr id="11" name="Text 9"/>
          <p:cNvSpPr/>
          <p:nvPr/>
        </p:nvSpPr>
        <p:spPr>
          <a:xfrm>
            <a:off x="2532888" y="1993392"/>
            <a:ext cx="1554480" cy="201168"/>
          </a:xfrm>
          <a:prstGeom prst="rect">
            <a:avLst/>
          </a:prstGeom>
          <a:noFill/>
          <a:ln/>
        </p:spPr>
        <p:txBody>
          <a:bodyPr wrap="square" lIns="0" tIns="0" rIns="0" bIns="0" rtlCol="0" anchor="ctr"/>
          <a:lstStyle/>
          <a:p>
            <a:pPr indent="0" marL="0">
              <a:buNone/>
            </a:pPr>
            <a:r>
              <a:rPr lang="en-US" sz="900" spc="120" kern="0" dirty="0">
                <a:solidFill>
                  <a:srgbClr val="A8BDB2"/>
                </a:solidFill>
                <a:latin typeface="Calibri" pitchFamily="34" charset="0"/>
                <a:ea typeface="Calibri" pitchFamily="34" charset="-122"/>
                <a:cs typeface="Calibri" pitchFamily="34" charset="-120"/>
              </a:rPr>
              <a:t>EMAIL</a:t>
            </a:r>
            <a:endParaRPr lang="en-US" sz="900" dirty="0"/>
          </a:p>
        </p:txBody>
      </p:sp>
      <p:sp>
        <p:nvSpPr>
          <p:cNvPr id="12" name="Text 10"/>
          <p:cNvSpPr/>
          <p:nvPr/>
        </p:nvSpPr>
        <p:spPr>
          <a:xfrm>
            <a:off x="2532888" y="2194560"/>
            <a:ext cx="16002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aarav@example.com</a:t>
            </a:r>
            <a:endParaRPr lang="en-US" sz="1200" dirty="0"/>
          </a:p>
        </p:txBody>
      </p:sp>
      <p:sp>
        <p:nvSpPr>
          <p:cNvPr id="13" name="Text 11"/>
          <p:cNvSpPr/>
          <p:nvPr/>
        </p:nvSpPr>
        <p:spPr>
          <a:xfrm>
            <a:off x="4224528" y="1993392"/>
            <a:ext cx="1554480" cy="201168"/>
          </a:xfrm>
          <a:prstGeom prst="rect">
            <a:avLst/>
          </a:prstGeom>
          <a:noFill/>
          <a:ln/>
        </p:spPr>
        <p:txBody>
          <a:bodyPr wrap="square" lIns="0" tIns="0" rIns="0" bIns="0" rtlCol="0" anchor="ctr"/>
          <a:lstStyle/>
          <a:p>
            <a:pPr indent="0" marL="0">
              <a:buNone/>
            </a:pPr>
            <a:r>
              <a:rPr lang="en-US" sz="900" spc="120" kern="0" dirty="0">
                <a:solidFill>
                  <a:srgbClr val="A8BDB2"/>
                </a:solidFill>
                <a:latin typeface="Calibri" pitchFamily="34" charset="0"/>
                <a:ea typeface="Calibri" pitchFamily="34" charset="-122"/>
                <a:cs typeface="Calibri" pitchFamily="34" charset="-120"/>
              </a:rPr>
              <a:t>PROGRAM</a:t>
            </a:r>
            <a:endParaRPr lang="en-US" sz="900" dirty="0"/>
          </a:p>
        </p:txBody>
      </p:sp>
      <p:sp>
        <p:nvSpPr>
          <p:cNvPr id="14" name="Text 12"/>
          <p:cNvSpPr/>
          <p:nvPr/>
        </p:nvSpPr>
        <p:spPr>
          <a:xfrm>
            <a:off x="4224528" y="2194560"/>
            <a:ext cx="16002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B.Tech</a:t>
            </a:r>
            <a:endParaRPr lang="en-US" sz="1200" dirty="0"/>
          </a:p>
        </p:txBody>
      </p:sp>
      <p:sp>
        <p:nvSpPr>
          <p:cNvPr id="15" name="Text 13"/>
          <p:cNvSpPr/>
          <p:nvPr/>
        </p:nvSpPr>
        <p:spPr>
          <a:xfrm>
            <a:off x="841248" y="2596896"/>
            <a:ext cx="1554480" cy="201168"/>
          </a:xfrm>
          <a:prstGeom prst="rect">
            <a:avLst/>
          </a:prstGeom>
          <a:noFill/>
          <a:ln/>
        </p:spPr>
        <p:txBody>
          <a:bodyPr wrap="square" lIns="0" tIns="0" rIns="0" bIns="0" rtlCol="0" anchor="ctr"/>
          <a:lstStyle/>
          <a:p>
            <a:pPr indent="0" marL="0">
              <a:buNone/>
            </a:pPr>
            <a:r>
              <a:rPr lang="en-US" sz="900" spc="120" kern="0" dirty="0">
                <a:solidFill>
                  <a:srgbClr val="A8BDB2"/>
                </a:solidFill>
                <a:latin typeface="Calibri" pitchFamily="34" charset="0"/>
                <a:ea typeface="Calibri" pitchFamily="34" charset="-122"/>
                <a:cs typeface="Calibri" pitchFamily="34" charset="-120"/>
              </a:rPr>
              <a:t>DEPARTMENT</a:t>
            </a:r>
            <a:endParaRPr lang="en-US" sz="900" dirty="0"/>
          </a:p>
        </p:txBody>
      </p:sp>
      <p:sp>
        <p:nvSpPr>
          <p:cNvPr id="16" name="Text 14"/>
          <p:cNvSpPr/>
          <p:nvPr/>
        </p:nvSpPr>
        <p:spPr>
          <a:xfrm>
            <a:off x="841248" y="2798064"/>
            <a:ext cx="16002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CSE</a:t>
            </a:r>
            <a:endParaRPr lang="en-US" sz="1200" dirty="0"/>
          </a:p>
        </p:txBody>
      </p:sp>
      <p:sp>
        <p:nvSpPr>
          <p:cNvPr id="17" name="Text 15"/>
          <p:cNvSpPr/>
          <p:nvPr/>
        </p:nvSpPr>
        <p:spPr>
          <a:xfrm>
            <a:off x="2532888" y="2596896"/>
            <a:ext cx="1554480" cy="201168"/>
          </a:xfrm>
          <a:prstGeom prst="rect">
            <a:avLst/>
          </a:prstGeom>
          <a:noFill/>
          <a:ln/>
        </p:spPr>
        <p:txBody>
          <a:bodyPr wrap="square" lIns="0" tIns="0" rIns="0" bIns="0" rtlCol="0" anchor="ctr"/>
          <a:lstStyle/>
          <a:p>
            <a:pPr indent="0" marL="0">
              <a:buNone/>
            </a:pPr>
            <a:r>
              <a:rPr lang="en-US" sz="900" spc="120" kern="0" dirty="0">
                <a:solidFill>
                  <a:srgbClr val="A8BDB2"/>
                </a:solidFill>
                <a:latin typeface="Calibri" pitchFamily="34" charset="0"/>
                <a:ea typeface="Calibri" pitchFamily="34" charset="-122"/>
                <a:cs typeface="Calibri" pitchFamily="34" charset="-120"/>
              </a:rPr>
              <a:t>CGPA</a:t>
            </a:r>
            <a:endParaRPr lang="en-US" sz="900" dirty="0"/>
          </a:p>
        </p:txBody>
      </p:sp>
      <p:sp>
        <p:nvSpPr>
          <p:cNvPr id="18" name="Text 16"/>
          <p:cNvSpPr/>
          <p:nvPr/>
        </p:nvSpPr>
        <p:spPr>
          <a:xfrm>
            <a:off x="2532888" y="2798064"/>
            <a:ext cx="16002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8.10</a:t>
            </a:r>
            <a:endParaRPr lang="en-US" sz="1200" dirty="0"/>
          </a:p>
        </p:txBody>
      </p:sp>
      <p:sp>
        <p:nvSpPr>
          <p:cNvPr id="19" name="Shape 17"/>
          <p:cNvSpPr/>
          <p:nvPr/>
        </p:nvSpPr>
        <p:spPr>
          <a:xfrm>
            <a:off x="6373368" y="1389888"/>
            <a:ext cx="5251399" cy="2011680"/>
          </a:xfrm>
          <a:prstGeom prst="roundRect">
            <a:avLst>
              <a:gd name="adj" fmla="val 4545"/>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Text 18"/>
          <p:cNvSpPr/>
          <p:nvPr/>
        </p:nvSpPr>
        <p:spPr>
          <a:xfrm>
            <a:off x="6629400" y="1609344"/>
            <a:ext cx="474847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Editable by the student</a:t>
            </a:r>
            <a:endParaRPr lang="en-US" sz="1600" dirty="0"/>
          </a:p>
        </p:txBody>
      </p:sp>
      <p:sp>
        <p:nvSpPr>
          <p:cNvPr id="21" name="Text 19"/>
          <p:cNvSpPr/>
          <p:nvPr/>
        </p:nvSpPr>
        <p:spPr>
          <a:xfrm>
            <a:off x="6629400" y="2011680"/>
            <a:ext cx="4702759" cy="1188720"/>
          </a:xfrm>
          <a:prstGeom prst="rect">
            <a:avLst/>
          </a:prstGeom>
          <a:noFill/>
          <a:ln/>
        </p:spPr>
        <p:txBody>
          <a:bodyPr wrap="square" lIns="0" tIns="0" rIns="0" bIns="0" rtlCol="0" anchor="t"/>
          <a:lstStyle/>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Phone number</a:t>
            </a:r>
            <a:endParaRPr lang="en-US" sz="1250" dirty="0"/>
          </a:p>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Skills, as a comma-separated list</a:t>
            </a:r>
            <a:endParaRPr lang="en-US" sz="1250" dirty="0"/>
          </a:p>
          <a:p>
            <a:pPr marL="342900" indent="-342900">
              <a:lnSpc>
                <a:spcPts val="18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Change own password (current + new)</a:t>
            </a:r>
            <a:endParaRPr lang="en-US" sz="1250" dirty="0"/>
          </a:p>
        </p:txBody>
      </p:sp>
      <p:sp>
        <p:nvSpPr>
          <p:cNvPr id="22" name="Shape 20"/>
          <p:cNvSpPr/>
          <p:nvPr/>
        </p:nvSpPr>
        <p:spPr>
          <a:xfrm>
            <a:off x="566928" y="3675888"/>
            <a:ext cx="11057839" cy="1920240"/>
          </a:xfrm>
          <a:prstGeom prst="roundRect">
            <a:avLst>
              <a:gd name="adj" fmla="val 4762"/>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Text 21"/>
          <p:cNvSpPr/>
          <p:nvPr/>
        </p:nvSpPr>
        <p:spPr>
          <a:xfrm>
            <a:off x="841248" y="3877056"/>
            <a:ext cx="5486400" cy="292608"/>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How a student gets an account</a:t>
            </a:r>
            <a:endParaRPr lang="en-US" sz="1600" dirty="0"/>
          </a:p>
        </p:txBody>
      </p:sp>
      <p:sp>
        <p:nvSpPr>
          <p:cNvPr id="24" name="Text 22"/>
          <p:cNvSpPr/>
          <p:nvPr/>
        </p:nvSpPr>
        <p:spPr>
          <a:xfrm>
            <a:off x="841248" y="4315968"/>
            <a:ext cx="3474720" cy="256032"/>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No self-registration</a:t>
            </a:r>
            <a:endParaRPr lang="en-US" sz="1250" dirty="0"/>
          </a:p>
        </p:txBody>
      </p:sp>
      <p:sp>
        <p:nvSpPr>
          <p:cNvPr id="25" name="Text 23"/>
          <p:cNvSpPr/>
          <p:nvPr/>
        </p:nvSpPr>
        <p:spPr>
          <a:xfrm>
            <a:off x="841248" y="4590288"/>
            <a:ext cx="3429000" cy="822960"/>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Identities are created by the placement cell, not by the public.</a:t>
            </a:r>
            <a:endParaRPr lang="en-US" sz="1100" dirty="0"/>
          </a:p>
        </p:txBody>
      </p:sp>
      <p:sp>
        <p:nvSpPr>
          <p:cNvPr id="26" name="Text 24"/>
          <p:cNvSpPr/>
          <p:nvPr/>
        </p:nvSpPr>
        <p:spPr>
          <a:xfrm>
            <a:off x="4498848" y="4315968"/>
            <a:ext cx="3474720" cy="256032"/>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Random temp password</a:t>
            </a:r>
            <a:endParaRPr lang="en-US" sz="1250" dirty="0"/>
          </a:p>
        </p:txBody>
      </p:sp>
      <p:sp>
        <p:nvSpPr>
          <p:cNvPr id="27" name="Text 25"/>
          <p:cNvSpPr/>
          <p:nvPr/>
        </p:nvSpPr>
        <p:spPr>
          <a:xfrm>
            <a:off x="4498848" y="4590288"/>
            <a:ext cx="3429000" cy="822960"/>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A generated value shown to the admin at creation or reset. Not derived from roll numbers, and not a fixed default.</a:t>
            </a:r>
            <a:endParaRPr lang="en-US" sz="1100" dirty="0"/>
          </a:p>
        </p:txBody>
      </p:sp>
      <p:sp>
        <p:nvSpPr>
          <p:cNvPr id="28" name="Text 26"/>
          <p:cNvSpPr/>
          <p:nvPr/>
        </p:nvSpPr>
        <p:spPr>
          <a:xfrm>
            <a:off x="8156448" y="4315968"/>
            <a:ext cx="3474720" cy="256032"/>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First-login change</a:t>
            </a:r>
            <a:endParaRPr lang="en-US" sz="1250" dirty="0"/>
          </a:p>
        </p:txBody>
      </p:sp>
      <p:sp>
        <p:nvSpPr>
          <p:cNvPr id="29" name="Text 27"/>
          <p:cNvSpPr/>
          <p:nvPr/>
        </p:nvSpPr>
        <p:spPr>
          <a:xfrm>
            <a:off x="8156448" y="4590288"/>
            <a:ext cx="3429000" cy="822960"/>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The student changes it from this screen via the password endpoint.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814"/>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24402A"/>
          </a:solidFill>
          <a:ln w="12700">
            <a:solidFill>
              <a:srgbClr val="24402A"/>
            </a:solidFill>
            <a:prstDash val="solid"/>
          </a:ln>
        </p:spPr>
      </p:sp>
      <p:sp>
        <p:nvSpPr>
          <p:cNvPr id="3" name="Text 1"/>
          <p:cNvSpPr/>
          <p:nvPr/>
        </p:nvSpPr>
        <p:spPr>
          <a:xfrm>
            <a:off x="566928" y="2084832"/>
            <a:ext cx="7315200" cy="274320"/>
          </a:xfrm>
          <a:prstGeom prst="rect">
            <a:avLst/>
          </a:prstGeom>
          <a:noFill/>
          <a:ln/>
        </p:spPr>
        <p:txBody>
          <a:bodyPr wrap="square" lIns="0" tIns="0" rIns="0" bIns="0" rtlCol="0" anchor="ctr"/>
          <a:lstStyle/>
          <a:p>
            <a:pPr indent="0" marL="0">
              <a:buNone/>
            </a:pPr>
            <a:r>
              <a:rPr lang="en-US" sz="1300" b="1" spc="300" kern="0" dirty="0">
                <a:solidFill>
                  <a:srgbClr val="D3EF4C"/>
                </a:solidFill>
                <a:latin typeface="Calibri" pitchFamily="34" charset="0"/>
                <a:ea typeface="Calibri" pitchFamily="34" charset="-122"/>
                <a:cs typeface="Calibri" pitchFamily="34" charset="-120"/>
              </a:rPr>
              <a:t>PART TWO</a:t>
            </a:r>
            <a:endParaRPr lang="en-US" sz="1300" dirty="0"/>
          </a:p>
        </p:txBody>
      </p:sp>
      <p:sp>
        <p:nvSpPr>
          <p:cNvPr id="4" name="Text 2"/>
          <p:cNvSpPr/>
          <p:nvPr/>
        </p:nvSpPr>
        <p:spPr>
          <a:xfrm>
            <a:off x="566928" y="2395728"/>
            <a:ext cx="9601200" cy="859536"/>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Teacher / placement-cell portal</a:t>
            </a:r>
            <a:endParaRPr lang="en-US" sz="4000" dirty="0"/>
          </a:p>
        </p:txBody>
      </p:sp>
      <p:sp>
        <p:nvSpPr>
          <p:cNvPr id="5" name="Text 3"/>
          <p:cNvSpPr/>
          <p:nvPr/>
        </p:nvSpPr>
        <p:spPr>
          <a:xfrm>
            <a:off x="566928" y="3310128"/>
            <a:ext cx="8595360" cy="822960"/>
          </a:xfrm>
          <a:prstGeom prst="rect">
            <a:avLst/>
          </a:prstGeom>
          <a:noFill/>
          <a:ln/>
        </p:spPr>
        <p:txBody>
          <a:bodyPr wrap="square" lIns="0" tIns="0" rIns="0" bIns="0" rtlCol="0" anchor="ctr"/>
          <a:lstStyle/>
          <a:p>
            <a:pPr indent="0" marL="0">
              <a:lnSpc>
                <a:spcPts val="2200"/>
              </a:lnSpc>
              <a:buNone/>
            </a:pPr>
            <a:r>
              <a:rPr lang="en-US" sz="1500" dirty="0">
                <a:solidFill>
                  <a:srgbClr val="A8BDB2"/>
                </a:solidFill>
                <a:latin typeface="Calibri" pitchFamily="34" charset="0"/>
                <a:ea typeface="Calibri" pitchFamily="34" charset="-122"/>
                <a:cs typeface="Calibri" pitchFamily="34" charset="-120"/>
              </a:rPr>
              <a:t>The operations console. Six rail sections: Home, Students, Companies, Drives,</a:t>
            </a:r>
            <a:endParaRPr lang="en-US" sz="1500" dirty="0"/>
          </a:p>
          <a:p>
            <a:pPr indent="0" marL="0">
              <a:lnSpc>
                <a:spcPts val="2200"/>
              </a:lnSpc>
              <a:buNone/>
            </a:pPr>
            <a:r>
              <a:rPr lang="en-US" sz="1500" dirty="0">
                <a:solidFill>
                  <a:srgbClr val="A8BDB2"/>
                </a:solidFill>
                <a:latin typeface="Calibri" pitchFamily="34" charset="0"/>
                <a:ea typeface="Calibri" pitchFamily="34" charset="-122"/>
                <a:cs typeface="Calibri" pitchFamily="34" charset="-120"/>
              </a:rPr>
              <a:t>Applications and Notices — plus CSV import and export on every major table.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1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Home: the whole season on one screen</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KPIs, an application trend, a funnel, skill demand, and department statistics.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19</a:t>
            </a:r>
            <a:endParaRPr lang="en-US" sz="1000" dirty="0"/>
          </a:p>
        </p:txBody>
      </p:sp>
      <p:sp>
        <p:nvSpPr>
          <p:cNvPr id="7" name="Shape 5"/>
          <p:cNvSpPr/>
          <p:nvPr/>
        </p:nvSpPr>
        <p:spPr>
          <a:xfrm>
            <a:off x="566928"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731520"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STUDENTS</a:t>
            </a:r>
            <a:endParaRPr lang="en-US" sz="900" dirty="0"/>
          </a:p>
        </p:txBody>
      </p:sp>
      <p:sp>
        <p:nvSpPr>
          <p:cNvPr id="9" name="Text 7"/>
          <p:cNvSpPr/>
          <p:nvPr/>
        </p:nvSpPr>
        <p:spPr>
          <a:xfrm>
            <a:off x="731520"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412</a:t>
            </a:r>
            <a:endParaRPr lang="en-US" sz="2400" dirty="0"/>
          </a:p>
        </p:txBody>
      </p:sp>
      <p:sp>
        <p:nvSpPr>
          <p:cNvPr id="10" name="Shape 8"/>
          <p:cNvSpPr/>
          <p:nvPr/>
        </p:nvSpPr>
        <p:spPr>
          <a:xfrm>
            <a:off x="2437333"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2601925"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COMPANIES</a:t>
            </a:r>
            <a:endParaRPr lang="en-US" sz="900" dirty="0"/>
          </a:p>
        </p:txBody>
      </p:sp>
      <p:sp>
        <p:nvSpPr>
          <p:cNvPr id="12" name="Text 10"/>
          <p:cNvSpPr/>
          <p:nvPr/>
        </p:nvSpPr>
        <p:spPr>
          <a:xfrm>
            <a:off x="2601925"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38</a:t>
            </a:r>
            <a:endParaRPr lang="en-US" sz="2400" dirty="0"/>
          </a:p>
        </p:txBody>
      </p:sp>
      <p:sp>
        <p:nvSpPr>
          <p:cNvPr id="13" name="Shape 11"/>
          <p:cNvSpPr/>
          <p:nvPr/>
        </p:nvSpPr>
        <p:spPr>
          <a:xfrm>
            <a:off x="4307738"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4472330"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ACTIVE DRIVES</a:t>
            </a:r>
            <a:endParaRPr lang="en-US" sz="900" dirty="0"/>
          </a:p>
        </p:txBody>
      </p:sp>
      <p:sp>
        <p:nvSpPr>
          <p:cNvPr id="15" name="Text 13"/>
          <p:cNvSpPr/>
          <p:nvPr/>
        </p:nvSpPr>
        <p:spPr>
          <a:xfrm>
            <a:off x="4472330"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11</a:t>
            </a:r>
            <a:endParaRPr lang="en-US" sz="2400" dirty="0"/>
          </a:p>
        </p:txBody>
      </p:sp>
      <p:sp>
        <p:nvSpPr>
          <p:cNvPr id="16" name="Shape 14"/>
          <p:cNvSpPr/>
          <p:nvPr/>
        </p:nvSpPr>
        <p:spPr>
          <a:xfrm>
            <a:off x="6178144"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7" name="Text 15"/>
          <p:cNvSpPr/>
          <p:nvPr/>
        </p:nvSpPr>
        <p:spPr>
          <a:xfrm>
            <a:off x="6342736"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APPLICATIONS</a:t>
            </a:r>
            <a:endParaRPr lang="en-US" sz="900" dirty="0"/>
          </a:p>
        </p:txBody>
      </p:sp>
      <p:sp>
        <p:nvSpPr>
          <p:cNvPr id="18" name="Text 16"/>
          <p:cNvSpPr/>
          <p:nvPr/>
        </p:nvSpPr>
        <p:spPr>
          <a:xfrm>
            <a:off x="6342736"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1 264</a:t>
            </a:r>
            <a:endParaRPr lang="en-US" sz="2400" dirty="0"/>
          </a:p>
        </p:txBody>
      </p:sp>
      <p:sp>
        <p:nvSpPr>
          <p:cNvPr id="19" name="Shape 17"/>
          <p:cNvSpPr/>
          <p:nvPr/>
        </p:nvSpPr>
        <p:spPr>
          <a:xfrm>
            <a:off x="8048549"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Text 18"/>
          <p:cNvSpPr/>
          <p:nvPr/>
        </p:nvSpPr>
        <p:spPr>
          <a:xfrm>
            <a:off x="8213141"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SHORTLISTED</a:t>
            </a:r>
            <a:endParaRPr lang="en-US" sz="900" dirty="0"/>
          </a:p>
        </p:txBody>
      </p:sp>
      <p:sp>
        <p:nvSpPr>
          <p:cNvPr id="21" name="Text 19"/>
          <p:cNvSpPr/>
          <p:nvPr/>
        </p:nvSpPr>
        <p:spPr>
          <a:xfrm>
            <a:off x="8213141"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318</a:t>
            </a:r>
            <a:endParaRPr lang="en-US" sz="2400" dirty="0"/>
          </a:p>
        </p:txBody>
      </p:sp>
      <p:sp>
        <p:nvSpPr>
          <p:cNvPr id="22" name="Shape 20"/>
          <p:cNvSpPr/>
          <p:nvPr/>
        </p:nvSpPr>
        <p:spPr>
          <a:xfrm>
            <a:off x="9918954" y="1389888"/>
            <a:ext cx="1705813" cy="896112"/>
          </a:xfrm>
          <a:prstGeom prst="roundRect">
            <a:avLst>
              <a:gd name="adj" fmla="val 1020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Text 21"/>
          <p:cNvSpPr/>
          <p:nvPr/>
        </p:nvSpPr>
        <p:spPr>
          <a:xfrm>
            <a:off x="10083546" y="1536192"/>
            <a:ext cx="1376629" cy="201168"/>
          </a:xfrm>
          <a:prstGeom prst="rect">
            <a:avLst/>
          </a:prstGeom>
          <a:noFill/>
          <a:ln/>
        </p:spPr>
        <p:txBody>
          <a:bodyPr wrap="square" lIns="0" tIns="0" rIns="0" bIns="0" rtlCol="0" anchor="ctr"/>
          <a:lstStyle/>
          <a:p>
            <a:pPr indent="0" marL="0">
              <a:buNone/>
            </a:pPr>
            <a:r>
              <a:rPr lang="en-US" sz="900" spc="110" kern="0" dirty="0">
                <a:solidFill>
                  <a:srgbClr val="A8BDB2"/>
                </a:solidFill>
                <a:latin typeface="Calibri" pitchFamily="34" charset="0"/>
                <a:ea typeface="Calibri" pitchFamily="34" charset="-122"/>
                <a:cs typeface="Calibri" pitchFamily="34" charset="-120"/>
              </a:rPr>
              <a:t>SELECTED</a:t>
            </a:r>
            <a:endParaRPr lang="en-US" sz="900" dirty="0"/>
          </a:p>
        </p:txBody>
      </p:sp>
      <p:sp>
        <p:nvSpPr>
          <p:cNvPr id="24" name="Text 22"/>
          <p:cNvSpPr/>
          <p:nvPr/>
        </p:nvSpPr>
        <p:spPr>
          <a:xfrm>
            <a:off x="10083546" y="1755648"/>
            <a:ext cx="1376629" cy="420624"/>
          </a:xfrm>
          <a:prstGeom prst="rect">
            <a:avLst/>
          </a:prstGeom>
          <a:noFill/>
          <a:ln/>
        </p:spPr>
        <p:txBody>
          <a:bodyPr wrap="square" lIns="0" tIns="0" rIns="0" bIns="0" rtlCol="0" anchor="ctr"/>
          <a:lstStyle/>
          <a:p>
            <a:pPr indent="0" marL="0">
              <a:buNone/>
            </a:pPr>
            <a:r>
              <a:rPr lang="en-US" sz="2400" b="1" dirty="0">
                <a:solidFill>
                  <a:srgbClr val="D3EF4C"/>
                </a:solidFill>
                <a:latin typeface="Cambria" pitchFamily="34" charset="0"/>
                <a:ea typeface="Cambria" pitchFamily="34" charset="-122"/>
                <a:cs typeface="Cambria" pitchFamily="34" charset="-120"/>
              </a:rPr>
              <a:t>166</a:t>
            </a:r>
            <a:endParaRPr lang="en-US" sz="2400" dirty="0"/>
          </a:p>
        </p:txBody>
      </p:sp>
      <p:sp>
        <p:nvSpPr>
          <p:cNvPr id="25" name="Shape 23"/>
          <p:cNvSpPr/>
          <p:nvPr/>
        </p:nvSpPr>
        <p:spPr>
          <a:xfrm>
            <a:off x="566928" y="2487168"/>
            <a:ext cx="2743200" cy="1371600"/>
          </a:xfrm>
          <a:prstGeom prst="roundRect">
            <a:avLst>
              <a:gd name="adj" fmla="val 666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6" name="Text 24"/>
          <p:cNvSpPr/>
          <p:nvPr/>
        </p:nvSpPr>
        <p:spPr>
          <a:xfrm>
            <a:off x="786384" y="2633472"/>
            <a:ext cx="2304288" cy="585216"/>
          </a:xfrm>
          <a:prstGeom prst="rect">
            <a:avLst/>
          </a:prstGeom>
          <a:noFill/>
          <a:ln/>
        </p:spPr>
        <p:txBody>
          <a:bodyPr wrap="square" lIns="0" tIns="0" rIns="0" bIns="0" rtlCol="0" anchor="ctr"/>
          <a:lstStyle/>
          <a:p>
            <a:pPr indent="0" marL="0">
              <a:buNone/>
            </a:pPr>
            <a:r>
              <a:rPr lang="en-US" sz="3200" b="1" dirty="0">
                <a:solidFill>
                  <a:srgbClr val="22C55E"/>
                </a:solidFill>
                <a:latin typeface="Cambria" pitchFamily="34" charset="0"/>
                <a:ea typeface="Cambria" pitchFamily="34" charset="-122"/>
                <a:cs typeface="Cambria" pitchFamily="34" charset="-120"/>
              </a:rPr>
              <a:t>12.5</a:t>
            </a:r>
            <a:endParaRPr lang="en-US" sz="3200" dirty="0"/>
          </a:p>
        </p:txBody>
      </p:sp>
      <p:sp>
        <p:nvSpPr>
          <p:cNvPr id="27" name="Text 25"/>
          <p:cNvSpPr/>
          <p:nvPr/>
        </p:nvSpPr>
        <p:spPr>
          <a:xfrm>
            <a:off x="786384" y="3236976"/>
            <a:ext cx="230428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Highest package (LPA), from actual offers</a:t>
            </a:r>
            <a:endParaRPr lang="en-US" sz="1050" dirty="0"/>
          </a:p>
        </p:txBody>
      </p:sp>
      <p:sp>
        <p:nvSpPr>
          <p:cNvPr id="28" name="Shape 26"/>
          <p:cNvSpPr/>
          <p:nvPr/>
        </p:nvSpPr>
        <p:spPr>
          <a:xfrm>
            <a:off x="3529584" y="2487168"/>
            <a:ext cx="2743200" cy="1371600"/>
          </a:xfrm>
          <a:prstGeom prst="roundRect">
            <a:avLst>
              <a:gd name="adj" fmla="val 666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9" name="Text 27"/>
          <p:cNvSpPr/>
          <p:nvPr/>
        </p:nvSpPr>
        <p:spPr>
          <a:xfrm>
            <a:off x="3749040" y="2633472"/>
            <a:ext cx="2304288" cy="585216"/>
          </a:xfrm>
          <a:prstGeom prst="rect">
            <a:avLst/>
          </a:prstGeom>
          <a:noFill/>
          <a:ln/>
        </p:spPr>
        <p:txBody>
          <a:bodyPr wrap="square" lIns="0" tIns="0" rIns="0" bIns="0" rtlCol="0" anchor="ctr"/>
          <a:lstStyle/>
          <a:p>
            <a:pPr indent="0" marL="0">
              <a:buNone/>
            </a:pPr>
            <a:r>
              <a:rPr lang="en-US" sz="3200" b="1" dirty="0">
                <a:solidFill>
                  <a:srgbClr val="22C55E"/>
                </a:solidFill>
                <a:latin typeface="Cambria" pitchFamily="34" charset="0"/>
                <a:ea typeface="Cambria" pitchFamily="34" charset="-122"/>
                <a:cs typeface="Cambria" pitchFamily="34" charset="-120"/>
              </a:rPr>
              <a:t>6.4</a:t>
            </a:r>
            <a:endParaRPr lang="en-US" sz="3200" dirty="0"/>
          </a:p>
        </p:txBody>
      </p:sp>
      <p:sp>
        <p:nvSpPr>
          <p:cNvPr id="30" name="Text 28"/>
          <p:cNvSpPr/>
          <p:nvPr/>
        </p:nvSpPr>
        <p:spPr>
          <a:xfrm>
            <a:off x="3749040" y="3236976"/>
            <a:ext cx="230428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Average package (LPA) across placed students</a:t>
            </a:r>
            <a:endParaRPr lang="en-US" sz="1050" dirty="0"/>
          </a:p>
        </p:txBody>
      </p:sp>
      <p:sp>
        <p:nvSpPr>
          <p:cNvPr id="31" name="Shape 29"/>
          <p:cNvSpPr/>
          <p:nvPr/>
        </p:nvSpPr>
        <p:spPr>
          <a:xfrm>
            <a:off x="6492240" y="2487168"/>
            <a:ext cx="2743200" cy="1371600"/>
          </a:xfrm>
          <a:prstGeom prst="roundRect">
            <a:avLst>
              <a:gd name="adj" fmla="val 666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2" name="Text 30"/>
          <p:cNvSpPr/>
          <p:nvPr/>
        </p:nvSpPr>
        <p:spPr>
          <a:xfrm>
            <a:off x="6711696" y="2633472"/>
            <a:ext cx="2304288" cy="585216"/>
          </a:xfrm>
          <a:prstGeom prst="rect">
            <a:avLst/>
          </a:prstGeom>
          <a:noFill/>
          <a:ln/>
        </p:spPr>
        <p:txBody>
          <a:bodyPr wrap="square" lIns="0" tIns="0" rIns="0" bIns="0" rtlCol="0" anchor="ctr"/>
          <a:lstStyle/>
          <a:p>
            <a:pPr indent="0" marL="0">
              <a:buNone/>
            </a:pPr>
            <a:r>
              <a:rPr lang="en-US" sz="3200" b="1" dirty="0">
                <a:solidFill>
                  <a:srgbClr val="D3EF4C"/>
                </a:solidFill>
                <a:latin typeface="Cambria" pitchFamily="34" charset="0"/>
                <a:ea typeface="Cambria" pitchFamily="34" charset="-122"/>
                <a:cs typeface="Cambria" pitchFamily="34" charset="-120"/>
              </a:rPr>
              <a:t>40%</a:t>
            </a:r>
            <a:endParaRPr lang="en-US" sz="3200" dirty="0"/>
          </a:p>
        </p:txBody>
      </p:sp>
      <p:sp>
        <p:nvSpPr>
          <p:cNvPr id="33" name="Text 31"/>
          <p:cNvSpPr/>
          <p:nvPr/>
        </p:nvSpPr>
        <p:spPr>
          <a:xfrm>
            <a:off x="6711696" y="3236976"/>
            <a:ext cx="230428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Placement rate, plus a derived unplaced count</a:t>
            </a:r>
            <a:endParaRPr lang="en-US" sz="1050" dirty="0"/>
          </a:p>
        </p:txBody>
      </p:sp>
      <p:sp>
        <p:nvSpPr>
          <p:cNvPr id="34" name="Shape 32"/>
          <p:cNvSpPr/>
          <p:nvPr/>
        </p:nvSpPr>
        <p:spPr>
          <a:xfrm>
            <a:off x="9454896" y="2487168"/>
            <a:ext cx="2169871" cy="1371600"/>
          </a:xfrm>
          <a:prstGeom prst="roundRect">
            <a:avLst>
              <a:gd name="adj" fmla="val 666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5" name="Text 33"/>
          <p:cNvSpPr/>
          <p:nvPr/>
        </p:nvSpPr>
        <p:spPr>
          <a:xfrm>
            <a:off x="9674352" y="2633472"/>
            <a:ext cx="1730959" cy="585216"/>
          </a:xfrm>
          <a:prstGeom prst="rect">
            <a:avLst/>
          </a:prstGeom>
          <a:noFill/>
          <a:ln/>
        </p:spPr>
        <p:txBody>
          <a:bodyPr wrap="square" lIns="0" tIns="0" rIns="0" bIns="0" rtlCol="0" anchor="ctr"/>
          <a:lstStyle/>
          <a:p>
            <a:pPr indent="0" marL="0">
              <a:buNone/>
            </a:pPr>
            <a:r>
              <a:rPr lang="en-US" sz="3200" b="1" dirty="0">
                <a:solidFill>
                  <a:srgbClr val="D9A13B"/>
                </a:solidFill>
                <a:latin typeface="Cambria" pitchFamily="34" charset="0"/>
                <a:ea typeface="Cambria" pitchFamily="34" charset="-122"/>
                <a:cs typeface="Cambria" pitchFamily="34" charset="-120"/>
              </a:rPr>
              <a:t>166</a:t>
            </a:r>
            <a:endParaRPr lang="en-US" sz="3200" dirty="0"/>
          </a:p>
        </p:txBody>
      </p:sp>
      <p:sp>
        <p:nvSpPr>
          <p:cNvPr id="36" name="Text 34"/>
          <p:cNvSpPr/>
          <p:nvPr/>
        </p:nvSpPr>
        <p:spPr>
          <a:xfrm>
            <a:off x="9674352" y="3236976"/>
            <a:ext cx="1730959"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Offers in placement_records</a:t>
            </a:r>
            <a:endParaRPr lang="en-US" sz="1050" dirty="0"/>
          </a:p>
        </p:txBody>
      </p:sp>
      <p:sp>
        <p:nvSpPr>
          <p:cNvPr id="37" name="Shape 35"/>
          <p:cNvSpPr/>
          <p:nvPr/>
        </p:nvSpPr>
        <p:spPr>
          <a:xfrm>
            <a:off x="566928" y="4059936"/>
            <a:ext cx="5486400" cy="1536192"/>
          </a:xfrm>
          <a:prstGeom prst="roundRect">
            <a:avLst>
              <a:gd name="adj" fmla="val 595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8" name="Text 36"/>
          <p:cNvSpPr/>
          <p:nvPr/>
        </p:nvSpPr>
        <p:spPr>
          <a:xfrm>
            <a:off x="804672" y="4187952"/>
            <a:ext cx="5029200" cy="237744"/>
          </a:xfrm>
          <a:prstGeom prst="rect">
            <a:avLst/>
          </a:prstGeom>
          <a:noFill/>
          <a:ln/>
        </p:spPr>
        <p:txBody>
          <a:bodyPr wrap="square" lIns="0" tIns="0" rIns="0" bIns="0" rtlCol="0" anchor="ctr"/>
          <a:lstStyle/>
          <a:p>
            <a:pPr indent="0" marL="0">
              <a:buNone/>
            </a:pPr>
            <a:r>
              <a:rPr lang="en-US" sz="1150" b="1" dirty="0">
                <a:solidFill>
                  <a:srgbClr val="D3EF4C"/>
                </a:solidFill>
                <a:latin typeface="Calibri" pitchFamily="34" charset="0"/>
                <a:ea typeface="Calibri" pitchFamily="34" charset="-122"/>
                <a:cs typeface="Calibri" pitchFamily="34" charset="-120"/>
              </a:rPr>
              <a:t>Chart datasets returned by GET /admin/dashboard</a:t>
            </a:r>
            <a:endParaRPr lang="en-US" sz="1150" dirty="0"/>
          </a:p>
        </p:txBody>
      </p:sp>
      <p:sp>
        <p:nvSpPr>
          <p:cNvPr id="39" name="Text 37"/>
          <p:cNvSpPr/>
          <p:nvPr/>
        </p:nvSpPr>
        <p:spPr>
          <a:xfrm>
            <a:off x="804672" y="4443984"/>
            <a:ext cx="5029200" cy="100584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Applications over time (area)</a:t>
            </a:r>
            <a:endParaRPr lang="en-US" sz="1100" dirty="0"/>
          </a:p>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Application funnel (bar)</a:t>
            </a:r>
            <a:endParaRPr lang="en-US" sz="1100" dirty="0"/>
          </a:p>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Skill demand, horizontal bars</a:t>
            </a:r>
            <a:endParaRPr lang="en-US" sz="1100" dirty="0"/>
          </a:p>
        </p:txBody>
      </p:sp>
      <p:sp>
        <p:nvSpPr>
          <p:cNvPr id="40" name="Shape 38"/>
          <p:cNvSpPr/>
          <p:nvPr/>
        </p:nvSpPr>
        <p:spPr>
          <a:xfrm>
            <a:off x="6373368" y="4059936"/>
            <a:ext cx="5251399" cy="1536192"/>
          </a:xfrm>
          <a:prstGeom prst="roundRect">
            <a:avLst>
              <a:gd name="adj" fmla="val 5952"/>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41" name="Text 39"/>
          <p:cNvSpPr/>
          <p:nvPr/>
        </p:nvSpPr>
        <p:spPr>
          <a:xfrm>
            <a:off x="6629400" y="4187952"/>
            <a:ext cx="4748479" cy="237744"/>
          </a:xfrm>
          <a:prstGeom prst="rect">
            <a:avLst/>
          </a:prstGeom>
          <a:noFill/>
          <a:ln/>
        </p:spPr>
        <p:txBody>
          <a:bodyPr wrap="square" lIns="0" tIns="0" rIns="0" bIns="0" rtlCol="0" anchor="ctr"/>
          <a:lstStyle/>
          <a:p>
            <a:pPr indent="0" marL="0">
              <a:buNone/>
            </a:pPr>
            <a:r>
              <a:rPr lang="en-US" sz="1150" b="1" dirty="0">
                <a:solidFill>
                  <a:srgbClr val="D3EF4C"/>
                </a:solidFill>
                <a:latin typeface="Calibri" pitchFamily="34" charset="0"/>
                <a:ea typeface="Calibri" pitchFamily="34" charset="-122"/>
                <a:cs typeface="Calibri" pitchFamily="34" charset="-120"/>
              </a:rPr>
              <a:t>Department statistics</a:t>
            </a:r>
            <a:endParaRPr lang="en-US" sz="1150" dirty="0"/>
          </a:p>
        </p:txBody>
      </p:sp>
      <p:sp>
        <p:nvSpPr>
          <p:cNvPr id="42" name="Text 40"/>
          <p:cNvSpPr/>
          <p:nvPr/>
        </p:nvSpPr>
        <p:spPr>
          <a:xfrm>
            <a:off x="6629400" y="4443984"/>
            <a:ext cx="4702759" cy="100584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Aggregated with pandas</a:t>
            </a:r>
            <a:endParaRPr lang="en-US" sz="1100" dirty="0"/>
          </a:p>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Table: students, avg CGPA, selected, rate</a:t>
            </a:r>
            <a:endParaRPr lang="en-US" sz="1100" dirty="0"/>
          </a:p>
          <a:p>
            <a:pPr marL="342900" indent="-342900">
              <a:lnSpc>
                <a:spcPts val="14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Placement-rate and average-package bars, plus a selected share donut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2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Students: the cohort record</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Full CRUD, one-time password provisioning, CSV import with per-row errors, CSV export.</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20</a:t>
            </a:r>
            <a:endParaRPr lang="en-US" sz="1000" dirty="0"/>
          </a:p>
        </p:txBody>
      </p:sp>
      <p:sp>
        <p:nvSpPr>
          <p:cNvPr id="7" name="Shape 5"/>
          <p:cNvSpPr/>
          <p:nvPr/>
        </p:nvSpPr>
        <p:spPr>
          <a:xfrm>
            <a:off x="566928" y="1389888"/>
            <a:ext cx="6035040" cy="4206240"/>
          </a:xfrm>
          <a:prstGeom prst="roundRect">
            <a:avLst>
              <a:gd name="adj" fmla="val 217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41248" y="1609344"/>
            <a:ext cx="548640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What the screen does</a:t>
            </a:r>
            <a:endParaRPr lang="en-US" sz="1600" dirty="0"/>
          </a:p>
        </p:txBody>
      </p:sp>
      <p:sp>
        <p:nvSpPr>
          <p:cNvPr id="9" name="Text 7"/>
          <p:cNvSpPr/>
          <p:nvPr/>
        </p:nvSpPr>
        <p:spPr>
          <a:xfrm>
            <a:off x="841248" y="2048256"/>
            <a:ext cx="5486400" cy="3200400"/>
          </a:xfrm>
          <a:prstGeom prst="rect">
            <a:avLst/>
          </a:prstGeom>
          <a:noFill/>
          <a:ln/>
        </p:spPr>
        <p:txBody>
          <a:bodyPr wrap="square" lIns="0" tIns="0" rIns="0" bIns="0" rtlCol="0" anchor="t"/>
          <a:lstStyle/>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Search by name, roll number or email</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Filter by department and by program</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Add a student individually, or import a CSV</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Reset a login password on demand</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Open a student to see their applications and offers</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Export the filtered table as CSV</a:t>
            </a:r>
            <a:endParaRPr lang="en-US" sz="1250" dirty="0"/>
          </a:p>
        </p:txBody>
      </p:sp>
      <p:sp>
        <p:nvSpPr>
          <p:cNvPr id="10" name="Shape 8"/>
          <p:cNvSpPr/>
          <p:nvPr/>
        </p:nvSpPr>
        <p:spPr>
          <a:xfrm>
            <a:off x="6830568" y="1389888"/>
            <a:ext cx="4794199" cy="2011680"/>
          </a:xfrm>
          <a:prstGeom prst="roundRect">
            <a:avLst>
              <a:gd name="adj" fmla="val 4545"/>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7086600" y="1609344"/>
            <a:ext cx="429127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CSV import, done carefully</a:t>
            </a:r>
            <a:endParaRPr lang="en-US" sz="1600" dirty="0"/>
          </a:p>
        </p:txBody>
      </p:sp>
      <p:sp>
        <p:nvSpPr>
          <p:cNvPr id="12" name="Text 10"/>
          <p:cNvSpPr/>
          <p:nvPr/>
        </p:nvSpPr>
        <p:spPr>
          <a:xfrm>
            <a:off x="7086600" y="1993392"/>
            <a:ext cx="4245559" cy="128016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Every column parsed as text, so roll and phone numbers survive</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File capped at 5 000 rows</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Bad rows reported with their reason, the rest still imported</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A downloadable template is linked on the page</a:t>
            </a:r>
            <a:endParaRPr lang="en-US" sz="1150" dirty="0"/>
          </a:p>
        </p:txBody>
      </p:sp>
      <p:sp>
        <p:nvSpPr>
          <p:cNvPr id="13" name="Shape 11"/>
          <p:cNvSpPr/>
          <p:nvPr/>
        </p:nvSpPr>
        <p:spPr>
          <a:xfrm>
            <a:off x="6830568" y="3675888"/>
            <a:ext cx="4794199" cy="1920240"/>
          </a:xfrm>
          <a:prstGeom prst="roundRect">
            <a:avLst>
              <a:gd name="adj" fmla="val 4762"/>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7086600" y="3858768"/>
            <a:ext cx="429127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Two details worth defending</a:t>
            </a:r>
            <a:endParaRPr lang="en-US" sz="1600" dirty="0"/>
          </a:p>
        </p:txBody>
      </p:sp>
      <p:sp>
        <p:nvSpPr>
          <p:cNvPr id="15" name="Text 13"/>
          <p:cNvSpPr/>
          <p:nvPr/>
        </p:nvSpPr>
        <p:spPr>
          <a:xfrm>
            <a:off x="7086600" y="4224528"/>
            <a:ext cx="4245559" cy="1280160"/>
          </a:xfrm>
          <a:prstGeom prst="rect">
            <a:avLst/>
          </a:prstGeom>
          <a:noFill/>
          <a:ln/>
        </p:spPr>
        <p:txBody>
          <a:bodyPr wrap="square" lIns="0" tIns="0" rIns="0" bIns="0" rtlCol="0" anchor="ctr"/>
          <a:lstStyle/>
          <a:p>
            <a:pPr indent="0" marL="0">
              <a:lnSpc>
                <a:spcPts val="1500"/>
              </a:lnSpc>
              <a:buNone/>
            </a:pPr>
            <a:r>
              <a:rPr lang="en-US" sz="1100" dirty="0">
                <a:solidFill>
                  <a:srgbClr val="A8BDB2"/>
                </a:solidFill>
                <a:latin typeface="Calibri" pitchFamily="34" charset="0"/>
                <a:ea typeface="Calibri" pitchFamily="34" charset="-122"/>
                <a:cs typeface="Calibri" pitchFamily="34" charset="-120"/>
              </a:rPr>
              <a:t>Each created student gets a random one-time password, returned once — shown on creation or on an explicit reset. The bulk import returns the same list for the admin to distribute.</a:t>
            </a:r>
            <a:endParaRPr lang="en-US" sz="1100" dirty="0"/>
          </a:p>
          <a:p>
            <a:pPr indent="0" marL="0">
              <a:lnSpc>
                <a:spcPts val="1500"/>
              </a:lnSpc>
              <a:buNone/>
            </a:pPr>
            <a:endParaRPr lang="en-US" sz="1100" dirty="0"/>
          </a:p>
          <a:p>
            <a:pPr indent="0" marL="0">
              <a:lnSpc>
                <a:spcPts val="1500"/>
              </a:lnSpc>
              <a:buNone/>
            </a:pPr>
            <a:r>
              <a:rPr lang="en-US" sz="1100" dirty="0">
                <a:solidFill>
                  <a:srgbClr val="A8BDB2"/>
                </a:solidFill>
                <a:latin typeface="Calibri" pitchFamily="34" charset="0"/>
                <a:ea typeface="Calibri" pitchFamily="34" charset="-122"/>
                <a:cs typeface="Calibri" pitchFamily="34" charset="-120"/>
              </a:rPr>
              <a:t>The export prefixes any cell starting with = + - or @ with an apostrophe, so a CSV opened in Excel or Sheets cannot execute a formula.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3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Companies and drives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A drive is the unit of work: one company, one role, one set of rules, one deadline.</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21</a:t>
            </a:r>
            <a:endParaRPr lang="en-US" sz="1000" dirty="0"/>
          </a:p>
        </p:txBody>
      </p:sp>
      <p:sp>
        <p:nvSpPr>
          <p:cNvPr id="7" name="Shape 5"/>
          <p:cNvSpPr/>
          <p:nvPr/>
        </p:nvSpPr>
        <p:spPr>
          <a:xfrm>
            <a:off x="566928" y="1389888"/>
            <a:ext cx="5029200" cy="2788920"/>
          </a:xfrm>
          <a:prstGeom prst="roundRect">
            <a:avLst>
              <a:gd name="adj" fmla="val 3279"/>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22960" y="1609344"/>
            <a:ext cx="4572000" cy="292608"/>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Companies</a:t>
            </a:r>
            <a:endParaRPr lang="en-US" sz="1700" dirty="0"/>
          </a:p>
        </p:txBody>
      </p:sp>
      <p:sp>
        <p:nvSpPr>
          <p:cNvPr id="9" name="Text 7"/>
          <p:cNvSpPr/>
          <p:nvPr/>
        </p:nvSpPr>
        <p:spPr>
          <a:xfrm>
            <a:off x="822960" y="2048256"/>
            <a:ext cx="4572000" cy="1920240"/>
          </a:xfrm>
          <a:prstGeom prst="rect">
            <a:avLst/>
          </a:prstGeom>
          <a:noFill/>
          <a:ln/>
        </p:spPr>
        <p:txBody>
          <a:bodyPr wrap="square" lIns="0" tIns="0" rIns="0" bIns="0" rtlCol="0" anchor="t"/>
          <a:lstStyle/>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Name, sector, website, contact details</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Search and filter the recruiter list</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Detail view lists every drive for that company</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Deleting a company cascades to its drives and their applications</a:t>
            </a:r>
            <a:endParaRPr lang="en-US" sz="1250" dirty="0"/>
          </a:p>
        </p:txBody>
      </p:sp>
      <p:sp>
        <p:nvSpPr>
          <p:cNvPr id="10" name="Shape 8"/>
          <p:cNvSpPr/>
          <p:nvPr/>
        </p:nvSpPr>
        <p:spPr>
          <a:xfrm>
            <a:off x="5916168" y="1389888"/>
            <a:ext cx="5708599" cy="2788920"/>
          </a:xfrm>
          <a:prstGeom prst="roundRect">
            <a:avLst>
              <a:gd name="adj" fmla="val 3279"/>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6172200" y="1609344"/>
            <a:ext cx="5205679" cy="292608"/>
          </a:xfrm>
          <a:prstGeom prst="rect">
            <a:avLst/>
          </a:prstGeom>
          <a:noFill/>
          <a:ln/>
        </p:spPr>
        <p:txBody>
          <a:bodyPr wrap="square" lIns="0" tIns="0" rIns="0" bIns="0" rtlCol="0" anchor="ctr"/>
          <a:lstStyle/>
          <a:p>
            <a:pPr indent="0" marL="0">
              <a:buNone/>
            </a:pPr>
            <a:r>
              <a:rPr lang="en-US" sz="1700" b="1" dirty="0">
                <a:solidFill>
                  <a:srgbClr val="D3EF4C"/>
                </a:solidFill>
                <a:latin typeface="Cambria" pitchFamily="34" charset="0"/>
                <a:ea typeface="Cambria" pitchFamily="34" charset="-122"/>
                <a:cs typeface="Cambria" pitchFamily="34" charset="-120"/>
              </a:rPr>
              <a:t>Drives</a:t>
            </a:r>
            <a:endParaRPr lang="en-US" sz="1700" dirty="0"/>
          </a:p>
        </p:txBody>
      </p:sp>
      <p:sp>
        <p:nvSpPr>
          <p:cNvPr id="12" name="Text 10"/>
          <p:cNvSpPr/>
          <p:nvPr/>
        </p:nvSpPr>
        <p:spPr>
          <a:xfrm>
            <a:off x="6172200" y="2048256"/>
            <a:ext cx="5159959" cy="1920240"/>
          </a:xfrm>
          <a:prstGeom prst="rect">
            <a:avLst/>
          </a:prstGeom>
          <a:noFill/>
          <a:ln/>
        </p:spPr>
        <p:txBody>
          <a:bodyPr wrap="square" lIns="0" tIns="0" rIns="0" bIns="0" rtlCol="0" anchor="t"/>
          <a:lstStyle/>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Role, package, minimum CGPA, drive date</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Eligible departments and eligible programs, per drive</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Application deadline, and an active/closed toggle</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Targets view: eligible students who have not applied yet</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Delete a drive and its applications in one action</a:t>
            </a:r>
            <a:endParaRPr lang="en-US" sz="1250" dirty="0"/>
          </a:p>
        </p:txBody>
      </p:sp>
      <p:sp>
        <p:nvSpPr>
          <p:cNvPr id="13" name="Shape 11"/>
          <p:cNvSpPr/>
          <p:nvPr/>
        </p:nvSpPr>
        <p:spPr>
          <a:xfrm>
            <a:off x="566928" y="4453128"/>
            <a:ext cx="11057839" cy="1143000"/>
          </a:xfrm>
          <a:prstGeom prst="roundRect">
            <a:avLst>
              <a:gd name="adj" fmla="val 8000"/>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841248" y="4636008"/>
            <a:ext cx="3108960" cy="274320"/>
          </a:xfrm>
          <a:prstGeom prst="rect">
            <a:avLst/>
          </a:prstGeom>
          <a:noFill/>
          <a:ln/>
        </p:spPr>
        <p:txBody>
          <a:bodyPr wrap="square" lIns="0" tIns="0" rIns="0" bIns="0" rtlCol="0" anchor="ctr"/>
          <a:lstStyle/>
          <a:p>
            <a:pPr indent="0" marL="0">
              <a:buNone/>
            </a:pPr>
            <a:r>
              <a:rPr lang="en-US" sz="1250" b="1" dirty="0">
                <a:solidFill>
                  <a:srgbClr val="D3EF4C"/>
                </a:solidFill>
                <a:latin typeface="Calibri" pitchFamily="34" charset="0"/>
                <a:ea typeface="Calibri" pitchFamily="34" charset="-122"/>
                <a:cs typeface="Calibri" pitchFamily="34" charset="-120"/>
              </a:rPr>
              <a:t>The targets view is the quiet win:</a:t>
            </a:r>
            <a:endParaRPr lang="en-US" sz="1250" dirty="0"/>
          </a:p>
        </p:txBody>
      </p:sp>
      <p:sp>
        <p:nvSpPr>
          <p:cNvPr id="15" name="Text 13"/>
          <p:cNvSpPr/>
          <p:nvPr/>
        </p:nvSpPr>
        <p:spPr>
          <a:xfrm>
            <a:off x="4041648" y="4608576"/>
            <a:ext cx="7308799" cy="82296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for any drive, the cell can list the students who are eligible but have not applied — the actual follow-up list, computed by the same eligibility function that gates the student's Apply button. Placed students are excluded by the offer ladder.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4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Applications: decisions and history</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Every status move appends an audit row and, where relevant, touches the offer table.</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22</a:t>
            </a:r>
            <a:endParaRPr lang="en-US" sz="1000" dirty="0"/>
          </a:p>
        </p:txBody>
      </p:sp>
      <p:sp>
        <p:nvSpPr>
          <p:cNvPr id="7" name="Shape 5"/>
          <p:cNvSpPr/>
          <p:nvPr/>
        </p:nvSpPr>
        <p:spPr>
          <a:xfrm>
            <a:off x="566928" y="1389888"/>
            <a:ext cx="2558720" cy="960120"/>
          </a:xfrm>
          <a:prstGeom prst="roundRect">
            <a:avLst>
              <a:gd name="adj" fmla="val 952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786384" y="1645920"/>
            <a:ext cx="146304" cy="146304"/>
          </a:xfrm>
          <a:prstGeom prst="ellipse">
            <a:avLst/>
          </a:prstGeom>
          <a:solidFill>
            <a:srgbClr val="22C55E"/>
          </a:solidFill>
          <a:ln w="12700">
            <a:solidFill>
              <a:srgbClr val="22C55E"/>
            </a:solidFill>
            <a:prstDash val="solid"/>
          </a:ln>
        </p:spPr>
      </p:sp>
      <p:sp>
        <p:nvSpPr>
          <p:cNvPr id="9" name="Text 7"/>
          <p:cNvSpPr/>
          <p:nvPr/>
        </p:nvSpPr>
        <p:spPr>
          <a:xfrm>
            <a:off x="1024128" y="1591056"/>
            <a:ext cx="1918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Applied</a:t>
            </a:r>
            <a:endParaRPr lang="en-US" sz="1400" dirty="0"/>
          </a:p>
        </p:txBody>
      </p:sp>
      <p:sp>
        <p:nvSpPr>
          <p:cNvPr id="10" name="Text 8"/>
          <p:cNvSpPr/>
          <p:nvPr/>
        </p:nvSpPr>
        <p:spPr>
          <a:xfrm>
            <a:off x="786384" y="1938528"/>
            <a:ext cx="2119808" cy="292608"/>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creates the first history row</a:t>
            </a:r>
            <a:endParaRPr lang="en-US" sz="1050" dirty="0"/>
          </a:p>
        </p:txBody>
      </p:sp>
      <p:sp>
        <p:nvSpPr>
          <p:cNvPr id="11" name="Shape 9"/>
          <p:cNvSpPr/>
          <p:nvPr/>
        </p:nvSpPr>
        <p:spPr>
          <a:xfrm>
            <a:off x="3399968" y="1389888"/>
            <a:ext cx="2558720" cy="960120"/>
          </a:xfrm>
          <a:prstGeom prst="roundRect">
            <a:avLst>
              <a:gd name="adj" fmla="val 952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2" name="Shape 10"/>
          <p:cNvSpPr/>
          <p:nvPr/>
        </p:nvSpPr>
        <p:spPr>
          <a:xfrm>
            <a:off x="3619424" y="1645920"/>
            <a:ext cx="146304" cy="146304"/>
          </a:xfrm>
          <a:prstGeom prst="ellipse">
            <a:avLst/>
          </a:prstGeom>
          <a:solidFill>
            <a:srgbClr val="D3EF4C"/>
          </a:solidFill>
          <a:ln w="12700">
            <a:solidFill>
              <a:srgbClr val="D3EF4C"/>
            </a:solidFill>
            <a:prstDash val="solid"/>
          </a:ln>
        </p:spPr>
      </p:sp>
      <p:sp>
        <p:nvSpPr>
          <p:cNvPr id="13" name="Text 11"/>
          <p:cNvSpPr/>
          <p:nvPr/>
        </p:nvSpPr>
        <p:spPr>
          <a:xfrm>
            <a:off x="3857168" y="1591056"/>
            <a:ext cx="1918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Shortlisted</a:t>
            </a:r>
            <a:endParaRPr lang="en-US" sz="1400" dirty="0"/>
          </a:p>
        </p:txBody>
      </p:sp>
      <p:sp>
        <p:nvSpPr>
          <p:cNvPr id="14" name="Text 12"/>
          <p:cNvSpPr/>
          <p:nvPr/>
        </p:nvSpPr>
        <p:spPr>
          <a:xfrm>
            <a:off x="3619424" y="1938528"/>
            <a:ext cx="2119808" cy="292608"/>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may add a note</a:t>
            </a:r>
            <a:endParaRPr lang="en-US" sz="1050" dirty="0"/>
          </a:p>
        </p:txBody>
      </p:sp>
      <p:sp>
        <p:nvSpPr>
          <p:cNvPr id="15" name="Shape 13"/>
          <p:cNvSpPr/>
          <p:nvPr/>
        </p:nvSpPr>
        <p:spPr>
          <a:xfrm>
            <a:off x="6233008" y="1389888"/>
            <a:ext cx="2558720" cy="960120"/>
          </a:xfrm>
          <a:prstGeom prst="roundRect">
            <a:avLst>
              <a:gd name="adj" fmla="val 952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6" name="Shape 14"/>
          <p:cNvSpPr/>
          <p:nvPr/>
        </p:nvSpPr>
        <p:spPr>
          <a:xfrm>
            <a:off x="6452464" y="1645920"/>
            <a:ext cx="146304" cy="146304"/>
          </a:xfrm>
          <a:prstGeom prst="ellipse">
            <a:avLst/>
          </a:prstGeom>
          <a:solidFill>
            <a:srgbClr val="22C55E"/>
          </a:solidFill>
          <a:ln w="12700">
            <a:solidFill>
              <a:srgbClr val="22C55E"/>
            </a:solidFill>
            <a:prstDash val="solid"/>
          </a:ln>
        </p:spPr>
      </p:sp>
      <p:sp>
        <p:nvSpPr>
          <p:cNvPr id="17" name="Text 15"/>
          <p:cNvSpPr/>
          <p:nvPr/>
        </p:nvSpPr>
        <p:spPr>
          <a:xfrm>
            <a:off x="6690208" y="1591056"/>
            <a:ext cx="1918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Selected</a:t>
            </a:r>
            <a:endParaRPr lang="en-US" sz="1400" dirty="0"/>
          </a:p>
        </p:txBody>
      </p:sp>
      <p:sp>
        <p:nvSpPr>
          <p:cNvPr id="18" name="Text 16"/>
          <p:cNvSpPr/>
          <p:nvPr/>
        </p:nvSpPr>
        <p:spPr>
          <a:xfrm>
            <a:off x="6452464" y="1938528"/>
            <a:ext cx="2119808" cy="292608"/>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creates a placement record</a:t>
            </a:r>
            <a:endParaRPr lang="en-US" sz="1050" dirty="0"/>
          </a:p>
        </p:txBody>
      </p:sp>
      <p:sp>
        <p:nvSpPr>
          <p:cNvPr id="19" name="Shape 17"/>
          <p:cNvSpPr/>
          <p:nvPr/>
        </p:nvSpPr>
        <p:spPr>
          <a:xfrm>
            <a:off x="9066047" y="1389888"/>
            <a:ext cx="2558720" cy="960120"/>
          </a:xfrm>
          <a:prstGeom prst="roundRect">
            <a:avLst>
              <a:gd name="adj" fmla="val 952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Shape 18"/>
          <p:cNvSpPr/>
          <p:nvPr/>
        </p:nvSpPr>
        <p:spPr>
          <a:xfrm>
            <a:off x="9285503" y="1645920"/>
            <a:ext cx="146304" cy="146304"/>
          </a:xfrm>
          <a:prstGeom prst="ellipse">
            <a:avLst/>
          </a:prstGeom>
          <a:solidFill>
            <a:srgbClr val="F87171"/>
          </a:solidFill>
          <a:ln w="12700">
            <a:solidFill>
              <a:srgbClr val="F87171"/>
            </a:solidFill>
            <a:prstDash val="solid"/>
          </a:ln>
        </p:spPr>
      </p:sp>
      <p:sp>
        <p:nvSpPr>
          <p:cNvPr id="21" name="Text 19"/>
          <p:cNvSpPr/>
          <p:nvPr/>
        </p:nvSpPr>
        <p:spPr>
          <a:xfrm>
            <a:off x="9523247" y="1591056"/>
            <a:ext cx="1918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p>
        </p:txBody>
      </p:sp>
      <p:sp>
        <p:nvSpPr>
          <p:cNvPr id="22" name="Text 20"/>
          <p:cNvSpPr/>
          <p:nvPr/>
        </p:nvSpPr>
        <p:spPr>
          <a:xfrm>
            <a:off x="9285503" y="1938528"/>
            <a:ext cx="2119808" cy="292608"/>
          </a:xfrm>
          <a:prstGeom prst="rect">
            <a:avLst/>
          </a:prstGeom>
          <a:noFill/>
          <a:ln/>
        </p:spPr>
        <p:txBody>
          <a:bodyPr wrap="square" lIns="0" tIns="0" rIns="0" bIns="0" rtlCol="0" anchor="ctr"/>
          <a:lstStyle/>
          <a:p>
            <a:pPr indent="0" marL="0">
              <a:buNone/>
            </a:pPr>
            <a:r>
              <a:rPr lang="en-US" sz="1050" dirty="0">
                <a:solidFill>
                  <a:srgbClr val="A8BDB2"/>
                </a:solidFill>
                <a:latin typeface="Calibri" pitchFamily="34" charset="0"/>
                <a:ea typeface="Calibri" pitchFamily="34" charset="-122"/>
                <a:cs typeface="Calibri" pitchFamily="34" charset="-120"/>
              </a:rPr>
              <a:t>deletes any placement record</a:t>
            </a:r>
            <a:endParaRPr lang="en-US" sz="1050" dirty="0"/>
          </a:p>
        </p:txBody>
      </p:sp>
      <p:sp>
        <p:nvSpPr>
          <p:cNvPr id="23" name="Shape 21"/>
          <p:cNvSpPr/>
          <p:nvPr/>
        </p:nvSpPr>
        <p:spPr>
          <a:xfrm>
            <a:off x="566928" y="2624328"/>
            <a:ext cx="5852160" cy="2971800"/>
          </a:xfrm>
          <a:prstGeom prst="roundRect">
            <a:avLst>
              <a:gd name="adj" fmla="val 307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4" name="Text 22"/>
          <p:cNvSpPr/>
          <p:nvPr/>
        </p:nvSpPr>
        <p:spPr>
          <a:xfrm>
            <a:off x="841248" y="2825496"/>
            <a:ext cx="530352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List and detail</a:t>
            </a:r>
            <a:endParaRPr lang="en-US" sz="1600" dirty="0"/>
          </a:p>
        </p:txBody>
      </p:sp>
      <p:sp>
        <p:nvSpPr>
          <p:cNvPr id="25" name="Text 23"/>
          <p:cNvSpPr/>
          <p:nvPr/>
        </p:nvSpPr>
        <p:spPr>
          <a:xfrm>
            <a:off x="841248" y="3236976"/>
            <a:ext cx="5303520" cy="2286000"/>
          </a:xfrm>
          <a:prstGeom prst="rect">
            <a:avLst/>
          </a:prstGeom>
          <a:noFill/>
          <a:ln/>
        </p:spPr>
        <p:txBody>
          <a:bodyPr wrap="square" lIns="0" tIns="0" rIns="0" bIns="0" rtlCol="0" anchor="t"/>
          <a:lstStyle/>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Filter by status, department and company</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Every row shows the live eligibility badge and its reason</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Detail page shows the student, the drive, and the full timeline</a:t>
            </a:r>
            <a:endParaRPr lang="en-US" sz="1250" dirty="0"/>
          </a:p>
          <a:p>
            <a:pPr marL="342900" indent="-342900">
              <a:lnSpc>
                <a:spcPts val="175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Notes can be attached to a move, and appear in the history</a:t>
            </a:r>
            <a:endParaRPr lang="en-US" sz="1250" dirty="0"/>
          </a:p>
        </p:txBody>
      </p:sp>
      <p:sp>
        <p:nvSpPr>
          <p:cNvPr id="26" name="Shape 24"/>
          <p:cNvSpPr/>
          <p:nvPr/>
        </p:nvSpPr>
        <p:spPr>
          <a:xfrm>
            <a:off x="6647688" y="2624328"/>
            <a:ext cx="4977079" cy="2971800"/>
          </a:xfrm>
          <a:prstGeom prst="roundRect">
            <a:avLst>
              <a:gd name="adj" fmla="val 3077"/>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7" name="Text 25"/>
          <p:cNvSpPr/>
          <p:nvPr/>
        </p:nvSpPr>
        <p:spPr>
          <a:xfrm>
            <a:off x="6903720" y="2825496"/>
            <a:ext cx="447415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Why the badge matters here</a:t>
            </a:r>
            <a:endParaRPr lang="en-US" sz="1600" dirty="0"/>
          </a:p>
        </p:txBody>
      </p:sp>
      <p:sp>
        <p:nvSpPr>
          <p:cNvPr id="28" name="Text 26"/>
          <p:cNvSpPr/>
          <p:nvPr/>
        </p:nvSpPr>
        <p:spPr>
          <a:xfrm>
            <a:off x="6903720" y="3236976"/>
            <a:ext cx="4428439" cy="2194560"/>
          </a:xfrm>
          <a:prstGeom prst="rect">
            <a:avLst/>
          </a:prstGeom>
          <a:noFill/>
          <a:ln/>
        </p:spPr>
        <p:txBody>
          <a:bodyPr wrap="square" lIns="0" tIns="0" rIns="0" bIns="0" rtlCol="0" anchor="ctr"/>
          <a:lstStyle/>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The placement cell sees the same verdict the student saw. If a candidate is ineligible, the officer sees the identical reason string — not a different message produced by a second implementation of the rules.</a:t>
            </a:r>
            <a:endParaRPr lang="en-US" sz="1150" dirty="0"/>
          </a:p>
          <a:p>
            <a:pPr indent="0" marL="0">
              <a:lnSpc>
                <a:spcPts val="1650"/>
              </a:lnSpc>
              <a:buNone/>
            </a:pPr>
            <a:endParaRPr lang="en-US" sz="1150" dirty="0"/>
          </a:p>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When an application is marked selected, a placement record is created and the offer appears on the student's detail page. Walking the decision back removes it, so offers and statuses stay consistent.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5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Student detail: applications and offers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The one screen where the cell corrects the package a student actually received.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23</a:t>
            </a:r>
            <a:endParaRPr lang="en-US" sz="1000" dirty="0"/>
          </a:p>
        </p:txBody>
      </p:sp>
      <p:sp>
        <p:nvSpPr>
          <p:cNvPr id="7" name="Shape 5"/>
          <p:cNvSpPr/>
          <p:nvPr/>
        </p:nvSpPr>
        <p:spPr>
          <a:xfrm>
            <a:off x="566928" y="1389888"/>
            <a:ext cx="5852160" cy="4206240"/>
          </a:xfrm>
          <a:prstGeom prst="roundRect">
            <a:avLst>
              <a:gd name="adj" fmla="val 2174"/>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841248" y="1609344"/>
            <a:ext cx="530352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What the officer sees</a:t>
            </a:r>
            <a:endParaRPr lang="en-US" sz="1600" dirty="0"/>
          </a:p>
        </p:txBody>
      </p:sp>
      <p:sp>
        <p:nvSpPr>
          <p:cNvPr id="9" name="Text 7"/>
          <p:cNvSpPr/>
          <p:nvPr/>
        </p:nvSpPr>
        <p:spPr>
          <a:xfrm>
            <a:off x="841248" y="2066544"/>
            <a:ext cx="5303520" cy="3200400"/>
          </a:xfrm>
          <a:prstGeom prst="rect">
            <a:avLst/>
          </a:prstGeom>
          <a:noFill/>
          <a:ln/>
        </p:spPr>
        <p:txBody>
          <a:bodyPr wrap="square" lIns="0" tIns="0" rIns="0" bIns="0" rtlCol="0" anchor="t"/>
          <a:lstStyle/>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Profile: roll number, program, department, CGPA, phone, skills</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Every application with its current stage and eligibility reason</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The placement offers attached to this student</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The offered package, editable in place</a:t>
            </a:r>
            <a:endParaRPr lang="en-US" sz="1250" dirty="0"/>
          </a:p>
          <a:p>
            <a:pPr marL="342900" indent="-342900">
              <a:lnSpc>
                <a:spcPts val="1800"/>
              </a:lnSpc>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A delete path that cascades to their applications, history and offers</a:t>
            </a:r>
            <a:endParaRPr lang="en-US" sz="1250" dirty="0"/>
          </a:p>
        </p:txBody>
      </p:sp>
      <p:sp>
        <p:nvSpPr>
          <p:cNvPr id="10" name="Shape 8"/>
          <p:cNvSpPr/>
          <p:nvPr/>
        </p:nvSpPr>
        <p:spPr>
          <a:xfrm>
            <a:off x="6647688" y="1389888"/>
            <a:ext cx="4977079" cy="4206240"/>
          </a:xfrm>
          <a:prstGeom prst="roundRect">
            <a:avLst>
              <a:gd name="adj" fmla="val 2174"/>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6903720" y="1609344"/>
            <a:ext cx="447415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Offer editor</a:t>
            </a:r>
            <a:endParaRPr lang="en-US" sz="1600" dirty="0"/>
          </a:p>
        </p:txBody>
      </p:sp>
      <p:sp>
        <p:nvSpPr>
          <p:cNvPr id="12" name="Text 10"/>
          <p:cNvSpPr/>
          <p:nvPr/>
        </p:nvSpPr>
        <p:spPr>
          <a:xfrm>
            <a:off x="6903720" y="1920240"/>
            <a:ext cx="4474159" cy="237744"/>
          </a:xfrm>
          <a:prstGeom prst="rect">
            <a:avLst/>
          </a:prstGeom>
          <a:noFill/>
          <a:ln/>
        </p:spPr>
        <p:txBody>
          <a:bodyPr wrap="square" lIns="0" tIns="0" rIns="0" bIns="0" rtlCol="0" anchor="ctr"/>
          <a:lstStyle/>
          <a:p>
            <a:pPr indent="0" marL="0">
              <a:buNone/>
            </a:pPr>
            <a:r>
              <a:rPr lang="en-US" sz="1050" dirty="0">
                <a:solidFill>
                  <a:srgbClr val="22C55E"/>
                </a:solidFill>
                <a:latin typeface="Courier New" pitchFamily="34" charset="0"/>
                <a:ea typeface="Courier New" pitchFamily="34" charset="-122"/>
                <a:cs typeface="Courier New" pitchFamily="34" charset="-120"/>
              </a:rPr>
              <a:t>PUT /api/admin/students/:id/offers/:rid</a:t>
            </a:r>
            <a:endParaRPr lang="en-US" sz="1050" dirty="0"/>
          </a:p>
        </p:txBody>
      </p:sp>
      <p:sp>
        <p:nvSpPr>
          <p:cNvPr id="13" name="Shape 11"/>
          <p:cNvSpPr/>
          <p:nvPr/>
        </p:nvSpPr>
        <p:spPr>
          <a:xfrm>
            <a:off x="6903720" y="2350008"/>
            <a:ext cx="4474159" cy="658368"/>
          </a:xfrm>
          <a:prstGeom prst="roundRect">
            <a:avLst>
              <a:gd name="adj" fmla="val 13889"/>
            </a:avLst>
          </a:prstGeom>
          <a:solidFill>
            <a:srgbClr val="132A20"/>
          </a:solidFill>
          <a:ln w="9525">
            <a:solidFill>
              <a:srgbClr val="274A3C"/>
            </a:solidFill>
            <a:prstDash val="solid"/>
          </a:ln>
        </p:spPr>
      </p:sp>
      <p:sp>
        <p:nvSpPr>
          <p:cNvPr id="14" name="Text 12"/>
          <p:cNvSpPr/>
          <p:nvPr/>
        </p:nvSpPr>
        <p:spPr>
          <a:xfrm>
            <a:off x="7086600" y="2423160"/>
            <a:ext cx="21945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Nimbus Analytics</a:t>
            </a:r>
            <a:endParaRPr lang="en-US" sz="1150" dirty="0"/>
          </a:p>
        </p:txBody>
      </p:sp>
      <p:sp>
        <p:nvSpPr>
          <p:cNvPr id="15" name="Text 13"/>
          <p:cNvSpPr/>
          <p:nvPr/>
        </p:nvSpPr>
        <p:spPr>
          <a:xfrm>
            <a:off x="7086600" y="2679192"/>
            <a:ext cx="2194560" cy="219456"/>
          </a:xfrm>
          <a:prstGeom prst="rect">
            <a:avLst/>
          </a:prstGeom>
          <a:noFill/>
          <a:ln/>
        </p:spPr>
        <p:txBody>
          <a:bodyPr wrap="square" lIns="0" tIns="0" rIns="0" bIns="0" rtlCol="0" anchor="ctr"/>
          <a:lstStyle/>
          <a:p>
            <a:pPr indent="0" marL="0">
              <a:buNone/>
            </a:pPr>
            <a:r>
              <a:rPr lang="en-US" sz="1000" dirty="0">
                <a:solidFill>
                  <a:srgbClr val="A8BDB2"/>
                </a:solidFill>
                <a:latin typeface="Calibri" pitchFamily="34" charset="0"/>
                <a:ea typeface="Calibri" pitchFamily="34" charset="-122"/>
                <a:cs typeface="Calibri" pitchFamily="34" charset="-120"/>
              </a:rPr>
              <a:t>Advertised</a:t>
            </a:r>
            <a:endParaRPr lang="en-US" sz="1000" dirty="0"/>
          </a:p>
        </p:txBody>
      </p:sp>
      <p:sp>
        <p:nvSpPr>
          <p:cNvPr id="16" name="Text 14"/>
          <p:cNvSpPr/>
          <p:nvPr/>
        </p:nvSpPr>
        <p:spPr>
          <a:xfrm>
            <a:off x="9436608" y="2532888"/>
            <a:ext cx="1280160" cy="292608"/>
          </a:xfrm>
          <a:prstGeom prst="rect">
            <a:avLst/>
          </a:prstGeom>
          <a:noFill/>
          <a:ln/>
        </p:spPr>
        <p:txBody>
          <a:bodyPr wrap="square" lIns="0" tIns="0" rIns="0" bIns="0" rtlCol="0" anchor="ctr"/>
          <a:lstStyle/>
          <a:p>
            <a:pPr algn="r" indent="0" marL="0">
              <a:buNone/>
            </a:pPr>
            <a:r>
              <a:rPr lang="en-US" sz="1500" b="1" dirty="0">
                <a:solidFill>
                  <a:srgbClr val="A8BDB2"/>
                </a:solidFill>
                <a:latin typeface="Cambria" pitchFamily="34" charset="0"/>
                <a:ea typeface="Cambria" pitchFamily="34" charset="-122"/>
                <a:cs typeface="Cambria" pitchFamily="34" charset="-120"/>
              </a:rPr>
              <a:t>8.5 LPA</a:t>
            </a:r>
            <a:endParaRPr lang="en-US" sz="1500" dirty="0"/>
          </a:p>
        </p:txBody>
      </p:sp>
      <p:sp>
        <p:nvSpPr>
          <p:cNvPr id="17" name="Shape 15"/>
          <p:cNvSpPr/>
          <p:nvPr/>
        </p:nvSpPr>
        <p:spPr>
          <a:xfrm>
            <a:off x="6903720" y="3136392"/>
            <a:ext cx="4474159" cy="658368"/>
          </a:xfrm>
          <a:prstGeom prst="roundRect">
            <a:avLst>
              <a:gd name="adj" fmla="val 13889"/>
            </a:avLst>
          </a:prstGeom>
          <a:solidFill>
            <a:srgbClr val="132A20"/>
          </a:solidFill>
          <a:ln w="9525">
            <a:solidFill>
              <a:srgbClr val="274A3C"/>
            </a:solidFill>
            <a:prstDash val="solid"/>
          </a:ln>
        </p:spPr>
      </p:sp>
      <p:sp>
        <p:nvSpPr>
          <p:cNvPr id="18" name="Text 16"/>
          <p:cNvSpPr/>
          <p:nvPr/>
        </p:nvSpPr>
        <p:spPr>
          <a:xfrm>
            <a:off x="7086600" y="3209544"/>
            <a:ext cx="21945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Nimbus Analytics</a:t>
            </a:r>
            <a:endParaRPr lang="en-US" sz="1150" dirty="0"/>
          </a:p>
        </p:txBody>
      </p:sp>
      <p:sp>
        <p:nvSpPr>
          <p:cNvPr id="19" name="Text 17"/>
          <p:cNvSpPr/>
          <p:nvPr/>
        </p:nvSpPr>
        <p:spPr>
          <a:xfrm>
            <a:off x="7086600" y="3465576"/>
            <a:ext cx="2194560" cy="219456"/>
          </a:xfrm>
          <a:prstGeom prst="rect">
            <a:avLst/>
          </a:prstGeom>
          <a:noFill/>
          <a:ln/>
        </p:spPr>
        <p:txBody>
          <a:bodyPr wrap="square" lIns="0" tIns="0" rIns="0" bIns="0" rtlCol="0" anchor="ctr"/>
          <a:lstStyle/>
          <a:p>
            <a:pPr indent="0" marL="0">
              <a:buNone/>
            </a:pPr>
            <a:r>
              <a:rPr lang="en-US" sz="1000" dirty="0">
                <a:solidFill>
                  <a:srgbClr val="A8BDB2"/>
                </a:solidFill>
                <a:latin typeface="Calibri" pitchFamily="34" charset="0"/>
                <a:ea typeface="Calibri" pitchFamily="34" charset="-122"/>
                <a:cs typeface="Calibri" pitchFamily="34" charset="-120"/>
              </a:rPr>
              <a:t>Actual CTC</a:t>
            </a:r>
            <a:endParaRPr lang="en-US" sz="1000" dirty="0"/>
          </a:p>
        </p:txBody>
      </p:sp>
      <p:sp>
        <p:nvSpPr>
          <p:cNvPr id="20" name="Text 18"/>
          <p:cNvSpPr/>
          <p:nvPr/>
        </p:nvSpPr>
        <p:spPr>
          <a:xfrm>
            <a:off x="9436608" y="3319272"/>
            <a:ext cx="1280160" cy="292608"/>
          </a:xfrm>
          <a:prstGeom prst="rect">
            <a:avLst/>
          </a:prstGeom>
          <a:noFill/>
          <a:ln/>
        </p:spPr>
        <p:txBody>
          <a:bodyPr wrap="square" lIns="0" tIns="0" rIns="0" bIns="0" rtlCol="0" anchor="ctr"/>
          <a:lstStyle/>
          <a:p>
            <a:pPr algn="r" indent="0" marL="0">
              <a:buNone/>
            </a:pPr>
            <a:r>
              <a:rPr lang="en-US" sz="1500" b="1" dirty="0">
                <a:solidFill>
                  <a:srgbClr val="D3EF4C"/>
                </a:solidFill>
                <a:latin typeface="Cambria" pitchFamily="34" charset="0"/>
                <a:ea typeface="Cambria" pitchFamily="34" charset="-122"/>
                <a:cs typeface="Cambria" pitchFamily="34" charset="-120"/>
              </a:rPr>
              <a:t>9.2 LPA</a:t>
            </a:r>
            <a:endParaRPr lang="en-US" sz="1500" dirty="0"/>
          </a:p>
        </p:txBody>
      </p:sp>
      <p:sp>
        <p:nvSpPr>
          <p:cNvPr id="21" name="Text 19"/>
          <p:cNvSpPr/>
          <p:nvPr/>
        </p:nvSpPr>
        <p:spPr>
          <a:xfrm>
            <a:off x="6903720" y="4041648"/>
            <a:ext cx="4428439" cy="1371600"/>
          </a:xfrm>
          <a:prstGeom prst="rect">
            <a:avLst/>
          </a:prstGeom>
          <a:noFill/>
          <a:ln/>
        </p:spPr>
        <p:txBody>
          <a:bodyPr wrap="square" lIns="0" tIns="0" rIns="0" bIns="0" rtlCol="0" anchor="ctr"/>
          <a:lstStyle/>
          <a:p>
            <a:pPr indent="0" marL="0">
              <a:lnSpc>
                <a:spcPts val="1650"/>
              </a:lnSpc>
              <a:buNone/>
            </a:pPr>
            <a:r>
              <a:rPr lang="en-US" sz="1150" dirty="0">
                <a:solidFill>
                  <a:srgbClr val="A8BDB2"/>
                </a:solidFill>
                <a:latin typeface="Calibri" pitchFamily="34" charset="0"/>
                <a:ea typeface="Calibri" pitchFamily="34" charset="-122"/>
                <a:cs typeface="Calibri" pitchFamily="34" charset="-120"/>
              </a:rPr>
              <a:t>The recorded CTC is what the ladder measures against, and what the dashboard's highest and average package figures use. Drives with no advertised package stay exempt until a figure is recorded.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ADMIN PORTAL  ·  6 OF 6</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Notices, exports and account tools</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The communication surface, plus the escape hatches offices genuinely need.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24</a:t>
            </a:r>
            <a:endParaRPr lang="en-US" sz="1000" dirty="0"/>
          </a:p>
        </p:txBody>
      </p:sp>
      <p:sp>
        <p:nvSpPr>
          <p:cNvPr id="7" name="Shape 5"/>
          <p:cNvSpPr/>
          <p:nvPr/>
        </p:nvSpPr>
        <p:spPr>
          <a:xfrm>
            <a:off x="566928" y="1389888"/>
            <a:ext cx="3478682" cy="4206240"/>
          </a:xfrm>
          <a:prstGeom prst="roundRect">
            <a:avLst>
              <a:gd name="adj" fmla="val 2629"/>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22960" y="1664208"/>
            <a:ext cx="493776" cy="493776"/>
          </a:xfrm>
          <a:prstGeom prst="ellipse">
            <a:avLst/>
          </a:prstGeom>
          <a:solidFill>
            <a:srgbClr val="22C55E"/>
          </a:solidFill>
          <a:ln w="12700">
            <a:solidFill>
              <a:srgbClr val="22C55E"/>
            </a:solidFill>
            <a:prstDash val="solid"/>
          </a:ln>
        </p:spPr>
      </p:sp>
      <p:sp>
        <p:nvSpPr>
          <p:cNvPr id="9" name="Text 7"/>
          <p:cNvSpPr/>
          <p:nvPr/>
        </p:nvSpPr>
        <p:spPr>
          <a:xfrm>
            <a:off x="822960" y="1764792"/>
            <a:ext cx="493776" cy="292608"/>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N</a:t>
            </a:r>
            <a:endParaRPr lang="en-US" sz="1400" dirty="0"/>
          </a:p>
        </p:txBody>
      </p:sp>
      <p:sp>
        <p:nvSpPr>
          <p:cNvPr id="10" name="Text 8"/>
          <p:cNvSpPr/>
          <p:nvPr/>
        </p:nvSpPr>
        <p:spPr>
          <a:xfrm>
            <a:off x="822960" y="2304288"/>
            <a:ext cx="2966618"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Notices board</a:t>
            </a:r>
            <a:endParaRPr lang="en-US" sz="1650" dirty="0"/>
          </a:p>
        </p:txBody>
      </p:sp>
      <p:sp>
        <p:nvSpPr>
          <p:cNvPr id="11" name="Text 9"/>
          <p:cNvSpPr/>
          <p:nvPr/>
        </p:nvSpPr>
        <p:spPr>
          <a:xfrm>
            <a:off x="822960" y="2724912"/>
            <a:ext cx="2966618" cy="2651760"/>
          </a:xfrm>
          <a:prstGeom prst="rect">
            <a:avLst/>
          </a:prstGeom>
          <a:noFill/>
          <a:ln/>
        </p:spPr>
        <p:txBody>
          <a:bodyPr wrap="square" lIns="0" tIns="0" rIns="0" bIns="0" rtlCol="0" anchor="t"/>
          <a:lstStyle/>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Post an announcement with a title and body</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Visible to students on their home screen and notices list</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Delete a notice when it is stale</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The natural home for drive reminders and policy changes</a:t>
            </a:r>
            <a:endParaRPr lang="en-US" sz="1200" dirty="0"/>
          </a:p>
        </p:txBody>
      </p:sp>
      <p:sp>
        <p:nvSpPr>
          <p:cNvPr id="12" name="Shape 10"/>
          <p:cNvSpPr/>
          <p:nvPr/>
        </p:nvSpPr>
        <p:spPr>
          <a:xfrm>
            <a:off x="4356506" y="1389888"/>
            <a:ext cx="3478682" cy="4206240"/>
          </a:xfrm>
          <a:prstGeom prst="roundRect">
            <a:avLst>
              <a:gd name="adj" fmla="val 2629"/>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4612538" y="1664208"/>
            <a:ext cx="493776" cy="493776"/>
          </a:xfrm>
          <a:prstGeom prst="ellipse">
            <a:avLst/>
          </a:prstGeom>
          <a:solidFill>
            <a:srgbClr val="D3EF4C"/>
          </a:solidFill>
          <a:ln w="12700">
            <a:solidFill>
              <a:srgbClr val="D3EF4C"/>
            </a:solidFill>
            <a:prstDash val="solid"/>
          </a:ln>
        </p:spPr>
      </p:sp>
      <p:sp>
        <p:nvSpPr>
          <p:cNvPr id="14" name="Text 12"/>
          <p:cNvSpPr/>
          <p:nvPr/>
        </p:nvSpPr>
        <p:spPr>
          <a:xfrm>
            <a:off x="4612538" y="1764792"/>
            <a:ext cx="493776" cy="292608"/>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4612538" y="2304288"/>
            <a:ext cx="2966618"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CSV export</a:t>
            </a:r>
            <a:endParaRPr lang="en-US" sz="1650" dirty="0"/>
          </a:p>
        </p:txBody>
      </p:sp>
      <p:sp>
        <p:nvSpPr>
          <p:cNvPr id="16" name="Text 14"/>
          <p:cNvSpPr/>
          <p:nvPr/>
        </p:nvSpPr>
        <p:spPr>
          <a:xfrm>
            <a:off x="4612538" y="2724912"/>
            <a:ext cx="2966618" cy="2651760"/>
          </a:xfrm>
          <a:prstGeom prst="rect">
            <a:avLst/>
          </a:prstGeom>
          <a:noFill/>
          <a:ln/>
        </p:spPr>
        <p:txBody>
          <a:bodyPr wrap="square" lIns="0" tIns="0" rIns="0" bIns="0" rtlCol="0" anchor="t"/>
          <a:lstStyle/>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Students, companies, drives and applications</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Honours the filters currently applied</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Formula-prefixed cells neutralised for Excel and Sheets</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Lets the office keep its own reporting workflow</a:t>
            </a:r>
            <a:endParaRPr lang="en-US" sz="1200" dirty="0"/>
          </a:p>
        </p:txBody>
      </p:sp>
      <p:sp>
        <p:nvSpPr>
          <p:cNvPr id="17" name="Shape 15"/>
          <p:cNvSpPr/>
          <p:nvPr/>
        </p:nvSpPr>
        <p:spPr>
          <a:xfrm>
            <a:off x="8146085" y="1389888"/>
            <a:ext cx="3478682" cy="4206240"/>
          </a:xfrm>
          <a:prstGeom prst="roundRect">
            <a:avLst>
              <a:gd name="adj" fmla="val 2629"/>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8" name="Shape 16"/>
          <p:cNvSpPr/>
          <p:nvPr/>
        </p:nvSpPr>
        <p:spPr>
          <a:xfrm>
            <a:off x="8402117" y="1664208"/>
            <a:ext cx="493776" cy="493776"/>
          </a:xfrm>
          <a:prstGeom prst="ellipse">
            <a:avLst/>
          </a:prstGeom>
          <a:solidFill>
            <a:srgbClr val="D9A13B"/>
          </a:solidFill>
          <a:ln w="12700">
            <a:solidFill>
              <a:srgbClr val="D9A13B"/>
            </a:solidFill>
            <a:prstDash val="solid"/>
          </a:ln>
        </p:spPr>
      </p:sp>
      <p:sp>
        <p:nvSpPr>
          <p:cNvPr id="19" name="Text 17"/>
          <p:cNvSpPr/>
          <p:nvPr/>
        </p:nvSpPr>
        <p:spPr>
          <a:xfrm>
            <a:off x="8402117" y="1764792"/>
            <a:ext cx="493776" cy="292608"/>
          </a:xfrm>
          <a:prstGeom prst="rect">
            <a:avLst/>
          </a:prstGeom>
          <a:noFill/>
          <a:ln/>
        </p:spPr>
        <p:txBody>
          <a:bodyPr wrap="square" lIns="0" tIns="0" rIns="0" bIns="0" rtlCol="0" anchor="ctr"/>
          <a:lstStyle/>
          <a:p>
            <a:pPr algn="ctr" indent="0" marL="0">
              <a:buNone/>
            </a:pPr>
            <a:r>
              <a:rPr lang="en-US" sz="1400" b="1" dirty="0">
                <a:solidFill>
                  <a:srgbClr val="0B1814"/>
                </a:solidFill>
                <a:latin typeface="Calibri" pitchFamily="34" charset="0"/>
                <a:ea typeface="Calibri" pitchFamily="34" charset="-122"/>
                <a:cs typeface="Calibri" pitchFamily="34" charset="-120"/>
              </a:rPr>
              <a:t>A</a:t>
            </a:r>
            <a:endParaRPr lang="en-US" sz="1400" dirty="0"/>
          </a:p>
        </p:txBody>
      </p:sp>
      <p:sp>
        <p:nvSpPr>
          <p:cNvPr id="20" name="Text 18"/>
          <p:cNvSpPr/>
          <p:nvPr/>
        </p:nvSpPr>
        <p:spPr>
          <a:xfrm>
            <a:off x="8402117" y="2304288"/>
            <a:ext cx="2966618"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Accounts &amp; self-service</a:t>
            </a:r>
            <a:endParaRPr lang="en-US" sz="1650" dirty="0"/>
          </a:p>
        </p:txBody>
      </p:sp>
      <p:sp>
        <p:nvSpPr>
          <p:cNvPr id="21" name="Text 19"/>
          <p:cNvSpPr/>
          <p:nvPr/>
        </p:nvSpPr>
        <p:spPr>
          <a:xfrm>
            <a:off x="8402117" y="2724912"/>
            <a:ext cx="2966618" cy="2651760"/>
          </a:xfrm>
          <a:prstGeom prst="rect">
            <a:avLst/>
          </a:prstGeom>
          <a:noFill/>
          <a:ln/>
        </p:spPr>
        <p:txBody>
          <a:bodyPr wrap="square" lIns="0" tIns="0" rIns="0" bIns="0" rtlCol="0" anchor="t"/>
          <a:lstStyle/>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Change own password from any portal</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Reset a student's password, returning a fresh one-time value</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Admin account auto-seeded on first backend start</a:t>
            </a:r>
            <a:endParaRPr lang="en-US" sz="1200" dirty="0"/>
          </a:p>
          <a:p>
            <a:pPr marL="342900" indent="-342900">
              <a:lnSpc>
                <a:spcPts val="17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Student logins auto-provisioned with the student record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COMPARISON</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Feature matrix: who can do what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Role-checking is enforced server-side on every route, not by hiding buttons.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4754880"/>
                <a:gridCol w="3163824"/>
                <a:gridCol w="3172968"/>
              </a:tblGrid>
              <a:tr h="274320">
                <a:tc>
                  <a:txBody>
                    <a:bodyPr/>
                    <a:lstStyle/>
                    <a:p>
                      <a:pPr indent="0" marL="0">
                        <a:buNone/>
                      </a:pPr>
                      <a:r>
                        <a:rPr lang="en-US" sz="1200" b="1" dirty="0">
                          <a:solidFill>
                            <a:srgbClr val="0B1814"/>
                          </a:solidFill>
                        </a:rPr>
                        <a:t>Capability</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Student</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Teacher / cell</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r>
              <a:tr h="274320">
                <a:tc>
                  <a:txBody>
                    <a:bodyPr/>
                    <a:lstStyle/>
                    <a:p>
                      <a:pPr algn="l" indent="0" marL="0">
                        <a:buNone/>
                      </a:pPr>
                      <a:r>
                        <a:rPr lang="en-US" sz="1150" dirty="0">
                          <a:solidFill>
                            <a:srgbClr val="FFFFFF"/>
                          </a:solidFill>
                        </a:rPr>
                        <a:t>Sign in, change own password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Manage students, companies, drives, notices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Browse drives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Only those passing eligibility</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All, including inactive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Apply to a drive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One click, server-validated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See the ineligibility reason</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Yes, on the card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Yes, as a badge</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Track application stage history</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Own applications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Every application</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Read notices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Posts and deletes them</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Record / override an offer's CTC</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Offer ladder enforced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Blocks their apply</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Excluded from targets view</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Import a cohort / export CSV</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Yes</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Season analytics dashboard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Personal counters only</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Full dashboard</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EVALUATION  ·  1 OF 3</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Functional verification</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A scripted integration suite drove the running application over real HTTP against a scratch database.</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26</a:t>
            </a:r>
            <a:endParaRPr lang="en-US" sz="1000" dirty="0"/>
          </a:p>
        </p:txBody>
      </p:sp>
      <p:sp>
        <p:nvSpPr>
          <p:cNvPr id="7" name="Shape 5"/>
          <p:cNvSpPr/>
          <p:nvPr/>
        </p:nvSpPr>
        <p:spPr>
          <a:xfrm>
            <a:off x="566928" y="1389888"/>
            <a:ext cx="2651760" cy="1463040"/>
          </a:xfrm>
          <a:prstGeom prst="roundRect">
            <a:avLst>
              <a:gd name="adj" fmla="val 625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Text 6"/>
          <p:cNvSpPr/>
          <p:nvPr/>
        </p:nvSpPr>
        <p:spPr>
          <a:xfrm>
            <a:off x="786384" y="1536192"/>
            <a:ext cx="2212848" cy="585216"/>
          </a:xfrm>
          <a:prstGeom prst="rect">
            <a:avLst/>
          </a:prstGeom>
          <a:noFill/>
          <a:ln/>
        </p:spPr>
        <p:txBody>
          <a:bodyPr wrap="square" lIns="0" tIns="0" rIns="0" bIns="0" rtlCol="0" anchor="ctr"/>
          <a:lstStyle/>
          <a:p>
            <a:pPr indent="0" marL="0">
              <a:buNone/>
            </a:pPr>
            <a:r>
              <a:rPr lang="en-US" sz="4000" b="1" dirty="0">
                <a:solidFill>
                  <a:srgbClr val="D3EF4C"/>
                </a:solidFill>
                <a:latin typeface="Cambria" pitchFamily="34" charset="0"/>
                <a:ea typeface="Cambria" pitchFamily="34" charset="-122"/>
                <a:cs typeface="Cambria" pitchFamily="34" charset="-120"/>
              </a:rPr>
              <a:t>23</a:t>
            </a:r>
            <a:endParaRPr lang="en-US" sz="4000" dirty="0"/>
          </a:p>
        </p:txBody>
      </p:sp>
      <p:sp>
        <p:nvSpPr>
          <p:cNvPr id="9" name="Text 7"/>
          <p:cNvSpPr/>
          <p:nvPr/>
        </p:nvSpPr>
        <p:spPr>
          <a:xfrm>
            <a:off x="786384" y="2231136"/>
            <a:ext cx="221284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REST-level assertions in the development integration suite, passing before and after the performance work</a:t>
            </a:r>
            <a:endParaRPr lang="en-US" sz="1050" dirty="0"/>
          </a:p>
        </p:txBody>
      </p:sp>
      <p:sp>
        <p:nvSpPr>
          <p:cNvPr id="10" name="Shape 8"/>
          <p:cNvSpPr/>
          <p:nvPr/>
        </p:nvSpPr>
        <p:spPr>
          <a:xfrm>
            <a:off x="3438144" y="1389888"/>
            <a:ext cx="2651760" cy="1463040"/>
          </a:xfrm>
          <a:prstGeom prst="roundRect">
            <a:avLst>
              <a:gd name="adj" fmla="val 625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1" name="Text 9"/>
          <p:cNvSpPr/>
          <p:nvPr/>
        </p:nvSpPr>
        <p:spPr>
          <a:xfrm>
            <a:off x="3657600" y="1536192"/>
            <a:ext cx="2212848" cy="585216"/>
          </a:xfrm>
          <a:prstGeom prst="rect">
            <a:avLst/>
          </a:prstGeom>
          <a:noFill/>
          <a:ln/>
        </p:spPr>
        <p:txBody>
          <a:bodyPr wrap="square" lIns="0" tIns="0" rIns="0" bIns="0" rtlCol="0" anchor="ctr"/>
          <a:lstStyle/>
          <a:p>
            <a:pPr indent="0" marL="0">
              <a:buNone/>
            </a:pPr>
            <a:r>
              <a:rPr lang="en-US" sz="4000" b="1" dirty="0">
                <a:solidFill>
                  <a:srgbClr val="22C55E"/>
                </a:solidFill>
                <a:latin typeface="Cambria" pitchFamily="34" charset="0"/>
                <a:ea typeface="Cambria" pitchFamily="34" charset="-122"/>
                <a:cs typeface="Cambria" pitchFamily="34" charset="-120"/>
              </a:rPr>
              <a:t>2×</a:t>
            </a:r>
            <a:endParaRPr lang="en-US" sz="4000" dirty="0"/>
          </a:p>
        </p:txBody>
      </p:sp>
      <p:sp>
        <p:nvSpPr>
          <p:cNvPr id="12" name="Text 10"/>
          <p:cNvSpPr/>
          <p:nvPr/>
        </p:nvSpPr>
        <p:spPr>
          <a:xfrm>
            <a:off x="3657600" y="2231136"/>
            <a:ext cx="221284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The suite was run twice — the second run is the evidence that optimisation changed cost, not behaviour</a:t>
            </a:r>
            <a:endParaRPr lang="en-US" sz="1050" dirty="0"/>
          </a:p>
        </p:txBody>
      </p:sp>
      <p:sp>
        <p:nvSpPr>
          <p:cNvPr id="13" name="Shape 11"/>
          <p:cNvSpPr/>
          <p:nvPr/>
        </p:nvSpPr>
        <p:spPr>
          <a:xfrm>
            <a:off x="6309360" y="1389888"/>
            <a:ext cx="2651760" cy="1463040"/>
          </a:xfrm>
          <a:prstGeom prst="roundRect">
            <a:avLst>
              <a:gd name="adj" fmla="val 625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4" name="Text 12"/>
          <p:cNvSpPr/>
          <p:nvPr/>
        </p:nvSpPr>
        <p:spPr>
          <a:xfrm>
            <a:off x="6528816" y="1536192"/>
            <a:ext cx="2212848" cy="585216"/>
          </a:xfrm>
          <a:prstGeom prst="rect">
            <a:avLst/>
          </a:prstGeom>
          <a:noFill/>
          <a:ln/>
        </p:spPr>
        <p:txBody>
          <a:bodyPr wrap="square" lIns="0" tIns="0" rIns="0" bIns="0" rtlCol="0" anchor="ctr"/>
          <a:lstStyle/>
          <a:p>
            <a:pPr indent="0" marL="0">
              <a:buNone/>
            </a:pPr>
            <a:r>
              <a:rPr lang="en-US" sz="4000" b="1" dirty="0">
                <a:solidFill>
                  <a:srgbClr val="D9A13B"/>
                </a:solidFill>
                <a:latin typeface="Cambria" pitchFamily="34" charset="0"/>
                <a:ea typeface="Cambria" pitchFamily="34" charset="-122"/>
                <a:cs typeface="Cambria" pitchFamily="34" charset="-120"/>
              </a:rPr>
              <a:t>403</a:t>
            </a:r>
            <a:endParaRPr lang="en-US" sz="4000" dirty="0"/>
          </a:p>
        </p:txBody>
      </p:sp>
      <p:sp>
        <p:nvSpPr>
          <p:cNvPr id="15" name="Text 13"/>
          <p:cNvSpPr/>
          <p:nvPr/>
        </p:nvSpPr>
        <p:spPr>
          <a:xfrm>
            <a:off x="6528816" y="2231136"/>
            <a:ext cx="2212848" cy="475488"/>
          </a:xfrm>
          <a:prstGeom prst="rect">
            <a:avLst/>
          </a:prstGeom>
          <a:noFill/>
          <a:ln/>
        </p:spPr>
        <p:txBody>
          <a:bodyPr wrap="square" lIns="0" tIns="0" rIns="0" bIns="0" rtlCol="0" anchor="ctr"/>
          <a:lstStyle/>
          <a:p>
            <a:pPr indent="0" marL="0">
              <a:lnSpc>
                <a:spcPts val="1350"/>
              </a:lnSpc>
              <a:buNone/>
            </a:pPr>
            <a:r>
              <a:rPr lang="en-US" sz="1050" dirty="0">
                <a:solidFill>
                  <a:srgbClr val="A8BDB2"/>
                </a:solidFill>
                <a:latin typeface="Calibri" pitchFamily="34" charset="0"/>
                <a:ea typeface="Calibri" pitchFamily="34" charset="-122"/>
                <a:cs typeface="Calibri" pitchFamily="34" charset="-120"/>
              </a:rPr>
              <a:t>Returned to a foreign origin, while the configured origin and header-less clients pass</a:t>
            </a:r>
            <a:endParaRPr lang="en-US" sz="1050" dirty="0"/>
          </a:p>
        </p:txBody>
      </p:sp>
      <p:sp>
        <p:nvSpPr>
          <p:cNvPr id="16" name="Shape 14"/>
          <p:cNvSpPr/>
          <p:nvPr/>
        </p:nvSpPr>
        <p:spPr>
          <a:xfrm>
            <a:off x="9180576" y="1389888"/>
            <a:ext cx="2444191" cy="1463040"/>
          </a:xfrm>
          <a:prstGeom prst="roundRect">
            <a:avLst>
              <a:gd name="adj" fmla="val 6250"/>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7" name="Text 15"/>
          <p:cNvSpPr/>
          <p:nvPr/>
        </p:nvSpPr>
        <p:spPr>
          <a:xfrm>
            <a:off x="9400032" y="1645920"/>
            <a:ext cx="2005279" cy="274320"/>
          </a:xfrm>
          <a:prstGeom prst="rect">
            <a:avLst/>
          </a:prstGeom>
          <a:noFill/>
          <a:ln/>
        </p:spPr>
        <p:txBody>
          <a:bodyPr wrap="square" lIns="0" tIns="0" rIns="0" bIns="0" rtlCol="0" anchor="ctr"/>
          <a:lstStyle/>
          <a:p>
            <a:pPr indent="0" marL="0">
              <a:buNone/>
            </a:pPr>
            <a:r>
              <a:rPr lang="en-US" sz="1500" b="1" dirty="0">
                <a:solidFill>
                  <a:srgbClr val="D3EF4C"/>
                </a:solidFill>
                <a:latin typeface="Cambria" pitchFamily="34" charset="0"/>
                <a:ea typeface="Cambria" pitchFamily="34" charset="-122"/>
                <a:cs typeface="Cambria" pitchFamily="34" charset="-120"/>
              </a:rPr>
              <a:t>Scratch DB</a:t>
            </a:r>
            <a:endParaRPr lang="en-US" sz="1500" dirty="0"/>
          </a:p>
        </p:txBody>
      </p:sp>
      <p:sp>
        <p:nvSpPr>
          <p:cNvPr id="18" name="Text 16"/>
          <p:cNvSpPr/>
          <p:nvPr/>
        </p:nvSpPr>
        <p:spPr>
          <a:xfrm>
            <a:off x="9400032" y="1975104"/>
            <a:ext cx="2005279" cy="640080"/>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Created for the run and dropped afterwards — no demo data was touched.</a:t>
            </a:r>
            <a:endParaRPr lang="en-US" sz="1100" dirty="0"/>
          </a:p>
        </p:txBody>
      </p:sp>
      <p:sp>
        <p:nvSpPr>
          <p:cNvPr id="19" name="Shape 17"/>
          <p:cNvSpPr/>
          <p:nvPr/>
        </p:nvSpPr>
        <p:spPr>
          <a:xfrm>
            <a:off x="566928" y="3090672"/>
            <a:ext cx="11057839" cy="2505456"/>
          </a:xfrm>
          <a:prstGeom prst="roundRect">
            <a:avLst>
              <a:gd name="adj" fmla="val 3650"/>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0" name="Text 18"/>
          <p:cNvSpPr/>
          <p:nvPr/>
        </p:nvSpPr>
        <p:spPr>
          <a:xfrm>
            <a:off x="841248" y="3273552"/>
            <a:ext cx="731520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What the assertions covered</a:t>
            </a:r>
            <a:endParaRPr lang="en-US" sz="1600" dirty="0"/>
          </a:p>
        </p:txBody>
      </p:sp>
      <p:sp>
        <p:nvSpPr>
          <p:cNvPr id="21" name="Text 19"/>
          <p:cNvSpPr/>
          <p:nvPr/>
        </p:nvSpPr>
        <p:spPr>
          <a:xfrm>
            <a:off x="841248" y="3675888"/>
            <a:ext cx="5394960" cy="1828800"/>
          </a:xfrm>
          <a:prstGeom prst="rect">
            <a:avLst/>
          </a:prstGeom>
          <a:noFill/>
          <a:ln/>
        </p:spPr>
        <p:txBody>
          <a:bodyPr wrap="square" lIns="0" tIns="0" rIns="0" bIns="0" rtlCol="0" anchor="t"/>
          <a:lstStyle/>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Admin login, then creating companies and drives</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Creating a student and retrieving the one-time password</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Student login with that password</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Portal drive listing and drive detail</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Applying to a drive</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The offer appearing when the application is marked selected</a:t>
            </a:r>
            <a:endParaRPr lang="en-US" sz="1150" dirty="0"/>
          </a:p>
        </p:txBody>
      </p:sp>
      <p:sp>
        <p:nvSpPr>
          <p:cNvPr id="22" name="Text 20"/>
          <p:cNvSpPr/>
          <p:nvPr/>
        </p:nvSpPr>
        <p:spPr>
          <a:xfrm>
            <a:off x="6419088" y="3675888"/>
            <a:ext cx="5394960" cy="1828800"/>
          </a:xfrm>
          <a:prstGeom prst="rect">
            <a:avLst/>
          </a:prstGeom>
          <a:noFill/>
          <a:ln/>
        </p:spPr>
        <p:txBody>
          <a:bodyPr wrap="square" lIns="0" tIns="0" rIns="0" bIns="0" rtlCol="0" anchor="t"/>
          <a:lstStyle/>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The ladder refusing a lower-paying drive, with its reason</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The offer disappearing when the decision is walked back</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Dashboard figures reflecting the overridden CTC</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Cascade deletion of students, drives and companies, including history and offer rows</a:t>
            </a:r>
            <a:endParaRPr lang="en-US" sz="1150" dirty="0"/>
          </a:p>
          <a:p>
            <a:pPr marL="342900" indent="-342900">
              <a:lnSpc>
                <a:spcPts val="145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The origin guard: 403 for a foreign origin, pass for the configured origin and header-less clients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EVALUATION  ·  2 OF 3</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Client payload after code splitting</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The charting library used to ride along with every route. Now it arrives on demand.</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27</a:t>
            </a:r>
            <a:endParaRPr lang="en-US" sz="1000" dirty="0"/>
          </a:p>
        </p:txBody>
      </p:sp>
      <p:graphicFrame>
        <p:nvGraphicFramePr>
          <p:cNvPr id="7" name="Chart 0" descr=""/>
          <p:cNvGraphicFramePr/>
          <p:nvPr/>
        </p:nvGraphicFramePr>
        <p:xfrm>
          <a:off x="566928" y="1389888"/>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62088" y="1389888"/>
            <a:ext cx="4062679" cy="1481328"/>
          </a:xfrm>
          <a:prstGeom prst="roundRect">
            <a:avLst>
              <a:gd name="adj" fmla="val 6173"/>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9" name="Text 6"/>
          <p:cNvSpPr/>
          <p:nvPr/>
        </p:nvSpPr>
        <p:spPr>
          <a:xfrm>
            <a:off x="7781544" y="1536192"/>
            <a:ext cx="3834079" cy="548640"/>
          </a:xfrm>
          <a:prstGeom prst="rect">
            <a:avLst/>
          </a:prstGeom>
          <a:noFill/>
          <a:ln/>
        </p:spPr>
        <p:txBody>
          <a:bodyPr wrap="square" lIns="0" tIns="0" rIns="0" bIns="0" rtlCol="0" anchor="ctr"/>
          <a:lstStyle/>
          <a:p>
            <a:pPr indent="0" marL="0">
              <a:buNone/>
            </a:pPr>
            <a:r>
              <a:rPr lang="en-US" sz="3200" b="1" dirty="0">
                <a:solidFill>
                  <a:srgbClr val="D3EF4C"/>
                </a:solidFill>
                <a:latin typeface="Cambria" pitchFamily="34" charset="0"/>
                <a:ea typeface="Cambria" pitchFamily="34" charset="-122"/>
                <a:cs typeface="Cambria" pitchFamily="34" charset="-120"/>
              </a:rPr>
              <a:t>−55%</a:t>
            </a:r>
            <a:endParaRPr lang="en-US" sz="3200" dirty="0"/>
          </a:p>
        </p:txBody>
      </p:sp>
      <p:sp>
        <p:nvSpPr>
          <p:cNvPr id="10" name="Text 7"/>
          <p:cNvSpPr/>
          <p:nvPr/>
        </p:nvSpPr>
        <p:spPr>
          <a:xfrm>
            <a:off x="7781544" y="2139696"/>
            <a:ext cx="3834079" cy="548640"/>
          </a:xfrm>
          <a:prstGeom prst="rect">
            <a:avLst/>
          </a:prstGeom>
          <a:noFill/>
          <a:ln/>
        </p:spPr>
        <p:txBody>
          <a:bodyPr wrap="square" lIns="0" tIns="0" rIns="0" bIns="0" rtlCol="0" anchor="ctr"/>
          <a:lstStyle/>
          <a:p>
            <a:pPr indent="0" marL="0">
              <a:lnSpc>
                <a:spcPts val="1500"/>
              </a:lnSpc>
              <a:buNone/>
            </a:pPr>
            <a:r>
              <a:rPr lang="en-US" sz="1150" dirty="0">
                <a:solidFill>
                  <a:srgbClr val="A8BDB2"/>
                </a:solidFill>
                <a:latin typeface="Calibri" pitchFamily="34" charset="0"/>
                <a:ea typeface="Calibri" pitchFamily="34" charset="-122"/>
                <a:cs typeface="Calibri" pitchFamily="34" charset="-120"/>
              </a:rPr>
              <a:t>raw entry bundle;  −56% compressed</a:t>
            </a:r>
            <a:endParaRPr lang="en-US" sz="1150" dirty="0"/>
          </a:p>
        </p:txBody>
      </p:sp>
      <p:sp>
        <p:nvSpPr>
          <p:cNvPr id="11" name="Shape 8"/>
          <p:cNvSpPr/>
          <p:nvPr/>
        </p:nvSpPr>
        <p:spPr>
          <a:xfrm>
            <a:off x="7562088" y="3090672"/>
            <a:ext cx="4062679" cy="1499616"/>
          </a:xfrm>
          <a:prstGeom prst="roundRect">
            <a:avLst>
              <a:gd name="adj" fmla="val 609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2" name="Text 9"/>
          <p:cNvSpPr/>
          <p:nvPr/>
        </p:nvSpPr>
        <p:spPr>
          <a:xfrm>
            <a:off x="7781544" y="3218688"/>
            <a:ext cx="3834079" cy="548640"/>
          </a:xfrm>
          <a:prstGeom prst="rect">
            <a:avLst/>
          </a:prstGeom>
          <a:noFill/>
          <a:ln/>
        </p:spPr>
        <p:txBody>
          <a:bodyPr wrap="square" lIns="0" tIns="0" rIns="0" bIns="0" rtlCol="0" anchor="ctr"/>
          <a:lstStyle/>
          <a:p>
            <a:pPr indent="0" marL="0">
              <a:buNone/>
            </a:pPr>
            <a:r>
              <a:rPr lang="en-US" sz="3000" b="1" dirty="0">
                <a:solidFill>
                  <a:srgbClr val="D9A13B"/>
                </a:solidFill>
                <a:latin typeface="Cambria" pitchFamily="34" charset="0"/>
                <a:ea typeface="Cambria" pitchFamily="34" charset="-122"/>
                <a:cs typeface="Cambria" pitchFamily="34" charset="-120"/>
              </a:rPr>
              <a:t>404 kB</a:t>
            </a:r>
            <a:endParaRPr lang="en-US" sz="3000" dirty="0"/>
          </a:p>
        </p:txBody>
      </p:sp>
      <p:sp>
        <p:nvSpPr>
          <p:cNvPr id="13" name="Text 10"/>
          <p:cNvSpPr/>
          <p:nvPr/>
        </p:nvSpPr>
        <p:spPr>
          <a:xfrm>
            <a:off x="7781544" y="3803904"/>
            <a:ext cx="3834079" cy="658368"/>
          </a:xfrm>
          <a:prstGeom prst="rect">
            <a:avLst/>
          </a:prstGeom>
          <a:noFill/>
          <a:ln/>
        </p:spPr>
        <p:txBody>
          <a:bodyPr wrap="square" lIns="0" tIns="0" rIns="0" bIns="0" rtlCol="0" anchor="ctr"/>
          <a:lstStyle/>
          <a:p>
            <a:pPr indent="0" marL="0">
              <a:lnSpc>
                <a:spcPts val="1500"/>
              </a:lnSpc>
              <a:buNone/>
            </a:pPr>
            <a:r>
              <a:rPr lang="en-US" sz="1150" dirty="0">
                <a:solidFill>
                  <a:srgbClr val="A8BDB2"/>
                </a:solidFill>
                <a:latin typeface="Calibri" pitchFamily="34" charset="0"/>
                <a:ea typeface="Calibri" pitchFamily="34" charset="-122"/>
                <a:cs typeface="Calibri" pitchFamily="34" charset="-120"/>
              </a:rPr>
              <a:t>dashboard chunk (114 kB gzip), fetched once on first visit and cached by the browser</a:t>
            </a:r>
            <a:endParaRPr lang="en-US" sz="1150" dirty="0"/>
          </a:p>
        </p:txBody>
      </p:sp>
      <p:sp>
        <p:nvSpPr>
          <p:cNvPr id="14" name="Shape 11"/>
          <p:cNvSpPr/>
          <p:nvPr/>
        </p:nvSpPr>
        <p:spPr>
          <a:xfrm>
            <a:off x="566928" y="4773168"/>
            <a:ext cx="11057839" cy="822960"/>
          </a:xfrm>
          <a:prstGeom prst="roundRect">
            <a:avLst>
              <a:gd name="adj" fmla="val 11111"/>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5" name="Text 12"/>
          <p:cNvSpPr/>
          <p:nvPr/>
        </p:nvSpPr>
        <p:spPr>
          <a:xfrm>
            <a:off x="841248" y="4919472"/>
            <a:ext cx="10509199" cy="5486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Every route other than the dashboard now paints from the smaller entry chunk, and the dashboard is loaded through a dynamic import with a suspense fallback.</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EVALUATION  ·  3 OF 3</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Database queries per request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Three list endpoints were doing per-row work. Each now issues a constant number of queries.</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6858000" cy="914400"/>
        </p:xfrm>
        <a:graphic>
          <a:graphicData uri="http://schemas.openxmlformats.org/drawingml/2006/table">
            <a:tbl>
              <a:tblPr/>
              <a:tblGrid>
                <a:gridCol w="2834640"/>
                <a:gridCol w="2011680"/>
                <a:gridCol w="2011680"/>
              </a:tblGrid>
              <a:tr h="274320">
                <a:tc>
                  <a:txBody>
                    <a:bodyPr/>
                    <a:lstStyle/>
                    <a:p>
                      <a:pPr indent="0" marL="0">
                        <a:buNone/>
                      </a:pPr>
                      <a:r>
                        <a:rPr lang="en-US" sz="1200" b="1" dirty="0">
                          <a:solidFill>
                            <a:srgbClr val="0B1814"/>
                          </a:solidFill>
                        </a:rPr>
                        <a:t>Endpoint</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Before</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c>
                  <a:txBody>
                    <a:bodyPr/>
                    <a:lstStyle/>
                    <a:p>
                      <a:pPr indent="0" marL="0">
                        <a:buNone/>
                      </a:pPr>
                      <a:r>
                        <a:rPr lang="en-US" sz="1200" b="1" dirty="0">
                          <a:solidFill>
                            <a:srgbClr val="0B1814"/>
                          </a:solidFill>
                        </a:rPr>
                        <a:t>After</a:t>
                      </a:r>
                      <a:endParaRPr lang="en-US" sz="120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D3EF4C"/>
                    </a:solidFill>
                  </a:tcPr>
                </a:tc>
              </a:tr>
              <a:tr h="274320">
                <a:tc>
                  <a:txBody>
                    <a:bodyPr/>
                    <a:lstStyle/>
                    <a:p>
                      <a:pPr algn="l" indent="0" marL="0">
                        <a:buNone/>
                      </a:pPr>
                      <a:r>
                        <a:rPr lang="en-US" sz="1150" dirty="0">
                          <a:solidFill>
                            <a:srgbClr val="FFFFFF"/>
                          </a:solidFill>
                        </a:rPr>
                        <a:t>Drives list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N + 2</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3</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Applications list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3N + 1</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1</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r h="274320">
                <a:tc>
                  <a:txBody>
                    <a:bodyPr/>
                    <a:lstStyle/>
                    <a:p>
                      <a:pPr algn="l" indent="0" marL="0">
                        <a:buNone/>
                      </a:pPr>
                      <a:r>
                        <a:rPr lang="en-US" sz="1150" dirty="0">
                          <a:solidFill>
                            <a:srgbClr val="FFFFFF"/>
                          </a:solidFill>
                        </a:rPr>
                        <a:t>Student detail</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≈2N + 4</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c>
                  <a:txBody>
                    <a:bodyPr/>
                    <a:lstStyle/>
                    <a:p>
                      <a:pPr algn="ctr" indent="0" marL="0">
                        <a:buNone/>
                      </a:pPr>
                      <a:r>
                        <a:rPr lang="en-US" sz="1150" dirty="0">
                          <a:solidFill>
                            <a:srgbClr val="FFFFFF"/>
                          </a:solidFill>
                        </a:rPr>
                        <a:t>constant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32A20"/>
                    </a:solidFill>
                  </a:tcPr>
                </a:tc>
              </a:tr>
              <a:tr h="274320">
                <a:tc>
                  <a:txBody>
                    <a:bodyPr/>
                    <a:lstStyle/>
                    <a:p>
                      <a:pPr algn="l" indent="0" marL="0">
                        <a:buNone/>
                      </a:pPr>
                      <a:r>
                        <a:rPr lang="en-US" sz="1150" dirty="0">
                          <a:solidFill>
                            <a:srgbClr val="FFFFFF"/>
                          </a:solidFill>
                        </a:rPr>
                        <a:t>Companies list</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N + 1</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c>
                  <a:txBody>
                    <a:bodyPr/>
                    <a:lstStyle/>
                    <a:p>
                      <a:pPr algn="ctr" indent="0" marL="0">
                        <a:buNone/>
                      </a:pPr>
                      <a:r>
                        <a:rPr lang="en-US" sz="1150" dirty="0">
                          <a:solidFill>
                            <a:srgbClr val="FFFFFF"/>
                          </a:solidFill>
                        </a:rPr>
                        <a:t>2</a:t>
                      </a:r>
                      <a:endParaRPr lang="en-US" sz="1150" dirty="0"/>
                    </a:p>
                  </a:txBody>
                  <a:tcPr marL="64008" marR="64008" marT="64008" marB="64008" anchor="ctr">
                    <a:lnL w="6350" cap="flat" cmpd="sng" algn="ctr">
                      <a:solidFill>
                        <a:srgbClr val="274A3C"/>
                      </a:solidFill>
                      <a:prstDash val="solid"/>
                      <a:round/>
                      <a:headEnd type="none" w="med" len="med"/>
                      <a:tailEnd type="none" w="med" len="med"/>
                    </a:lnL>
                    <a:lnR w="6350" cap="flat" cmpd="sng" algn="ctr">
                      <a:solidFill>
                        <a:srgbClr val="274A3C"/>
                      </a:solidFill>
                      <a:prstDash val="solid"/>
                      <a:round/>
                      <a:headEnd type="none" w="med" len="med"/>
                      <a:tailEnd type="none" w="med" len="med"/>
                    </a:lnR>
                    <a:lnT w="6350" cap="flat" cmpd="sng" algn="ctr">
                      <a:solidFill>
                        <a:srgbClr val="274A3C"/>
                      </a:solidFill>
                      <a:prstDash val="solid"/>
                      <a:round/>
                      <a:headEnd type="none" w="med" len="med"/>
                      <a:tailEnd type="none" w="med" len="med"/>
                    </a:lnT>
                    <a:lnB w="6350" cap="flat" cmpd="sng" algn="ctr">
                      <a:solidFill>
                        <a:srgbClr val="274A3C"/>
                      </a:solidFill>
                      <a:prstDash val="solid"/>
                      <a:round/>
                      <a:headEnd type="none" w="med" len="med"/>
                      <a:tailEnd type="none" w="med" len="med"/>
                    </a:lnB>
                    <a:solidFill>
                      <a:srgbClr val="173328"/>
                    </a:solidFill>
                  </a:tcPr>
                </a:tc>
              </a:tr>
            </a:tbl>
          </a:graphicData>
        </a:graphic>
      </p:graphicFrame>
      <p:sp>
        <p:nvSpPr>
          <p:cNvPr id="8" name="Shape 5"/>
          <p:cNvSpPr/>
          <p:nvPr/>
        </p:nvSpPr>
        <p:spPr>
          <a:xfrm>
            <a:off x="7772400" y="1389888"/>
            <a:ext cx="3852367" cy="2194560"/>
          </a:xfrm>
          <a:prstGeom prst="roundRect">
            <a:avLst>
              <a:gd name="adj" fmla="val 4167"/>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9" name="Text 6"/>
          <p:cNvSpPr/>
          <p:nvPr/>
        </p:nvSpPr>
        <p:spPr>
          <a:xfrm>
            <a:off x="7991856" y="1609344"/>
            <a:ext cx="3605479"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How</a:t>
            </a:r>
            <a:endParaRPr lang="en-US" sz="1600" dirty="0"/>
          </a:p>
        </p:txBody>
      </p:sp>
      <p:sp>
        <p:nvSpPr>
          <p:cNvPr id="10" name="Text 7"/>
          <p:cNvSpPr/>
          <p:nvPr/>
        </p:nvSpPr>
        <p:spPr>
          <a:xfrm>
            <a:off x="7991856" y="1993392"/>
            <a:ext cx="3559759" cy="1463040"/>
          </a:xfrm>
          <a:prstGeom prst="rect">
            <a:avLst/>
          </a:prstGeom>
          <a:noFill/>
          <a:ln/>
        </p:spPr>
        <p:txBody>
          <a:bodyPr wrap="square" lIns="0" tIns="0" rIns="0" bIns="0" rtlCol="0" anchor="t"/>
          <a:lstStyle/>
          <a:p>
            <a:pPr marL="342900" indent="-342900">
              <a:lnSpc>
                <a:spcPts val="155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Joined eager loads for row data</a:t>
            </a:r>
            <a:endParaRPr lang="en-US" sz="1150" dirty="0"/>
          </a:p>
          <a:p>
            <a:pPr marL="342900" indent="-342900">
              <a:lnSpc>
                <a:spcPts val="155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One grouped aggregate for counts</a:t>
            </a:r>
            <a:endParaRPr lang="en-US" sz="1150" dirty="0"/>
          </a:p>
          <a:p>
            <a:pPr marL="342900" indent="-342900">
              <a:lnSpc>
                <a:spcPts val="155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Scalar column queries for dashboard figures</a:t>
            </a:r>
            <a:endParaRPr lang="en-US" sz="1150" dirty="0"/>
          </a:p>
        </p:txBody>
      </p:sp>
      <p:sp>
        <p:nvSpPr>
          <p:cNvPr id="11" name="Shape 8"/>
          <p:cNvSpPr/>
          <p:nvPr/>
        </p:nvSpPr>
        <p:spPr>
          <a:xfrm>
            <a:off x="566928" y="3858768"/>
            <a:ext cx="11057839" cy="1737360"/>
          </a:xfrm>
          <a:prstGeom prst="roundRect">
            <a:avLst>
              <a:gd name="adj" fmla="val 5263"/>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2" name="Text 9"/>
          <p:cNvSpPr/>
          <p:nvPr/>
        </p:nvSpPr>
        <p:spPr>
          <a:xfrm>
            <a:off x="841248" y="4041648"/>
            <a:ext cx="5486400" cy="274320"/>
          </a:xfrm>
          <a:prstGeom prst="rect">
            <a:avLst/>
          </a:prstGeom>
          <a:noFill/>
          <a:ln/>
        </p:spPr>
        <p:txBody>
          <a:bodyPr wrap="square" lIns="0" tIns="0" rIns="0" bIns="0" rtlCol="0" anchor="ctr"/>
          <a:lstStyle/>
          <a:p>
            <a:pPr indent="0" marL="0">
              <a:buNone/>
            </a:pPr>
            <a:r>
              <a:rPr lang="en-US" sz="1600" b="1" dirty="0">
                <a:solidFill>
                  <a:srgbClr val="D3EF4C"/>
                </a:solidFill>
                <a:latin typeface="Cambria" pitchFamily="34" charset="0"/>
                <a:ea typeface="Cambria" pitchFamily="34" charset="-122"/>
                <a:cs typeface="Cambria" pitchFamily="34" charset="-120"/>
              </a:rPr>
              <a:t>Why it matters on this deployment</a:t>
            </a:r>
            <a:endParaRPr lang="en-US" sz="1600" dirty="0"/>
          </a:p>
        </p:txBody>
      </p:sp>
      <p:sp>
        <p:nvSpPr>
          <p:cNvPr id="13" name="Text 10"/>
          <p:cNvSpPr/>
          <p:nvPr/>
        </p:nvSpPr>
        <p:spPr>
          <a:xfrm>
            <a:off x="841248" y="4407408"/>
            <a:ext cx="10509199" cy="1097280"/>
          </a:xfrm>
          <a:prstGeom prst="rect">
            <a:avLst/>
          </a:prstGeom>
          <a:noFill/>
          <a:ln/>
        </p:spPr>
        <p:txBody>
          <a:bodyPr wrap="square" lIns="0" tIns="0" rIns="0" bIns="0" rtlCol="0" anchor="ctr"/>
          <a:lstStyle/>
          <a:p>
            <a:pPr indent="0" marL="0">
              <a:lnSpc>
                <a:spcPts val="1700"/>
              </a:lnSpc>
              <a:buNone/>
            </a:pPr>
            <a:r>
              <a:rPr lang="en-US" sz="1200" dirty="0">
                <a:solidFill>
                  <a:srgbClr val="A8BDB2"/>
                </a:solidFill>
                <a:latin typeface="Calibri" pitchFamily="34" charset="0"/>
                <a:ea typeface="Calibri" pitchFamily="34" charset="-122"/>
                <a:cs typeface="Calibri" pitchFamily="34" charset="-120"/>
              </a:rPr>
              <a:t>The API runs on a serverless host against Neon, a serverless Postgres whose compute and storage are separated. Every request pays connection setup to a remote database, so removing dozens of round trips per page load is worth more than micro-optimising any single query. N is the number of rows returned.</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LIMITATIONS</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this does not do yet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The gaps I would expect you to find, stated before you find them.</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29</a:t>
            </a:r>
            <a:endParaRPr lang="en-US" sz="1000" dirty="0"/>
          </a:p>
        </p:txBody>
      </p:sp>
      <p:sp>
        <p:nvSpPr>
          <p:cNvPr id="7" name="Shape 5"/>
          <p:cNvSpPr/>
          <p:nvPr/>
        </p:nvSpPr>
        <p:spPr>
          <a:xfrm>
            <a:off x="566928" y="1389888"/>
            <a:ext cx="5364328" cy="1261872"/>
          </a:xfrm>
          <a:prstGeom prst="roundRect">
            <a:avLst>
              <a:gd name="adj" fmla="val 724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804672" y="1627632"/>
            <a:ext cx="384048" cy="384048"/>
          </a:xfrm>
          <a:prstGeom prst="ellipse">
            <a:avLst/>
          </a:prstGeom>
          <a:solidFill>
            <a:srgbClr val="D9A13B"/>
          </a:solidFill>
          <a:ln w="12700">
            <a:solidFill>
              <a:srgbClr val="D9A13B"/>
            </a:solidFill>
            <a:prstDash val="solid"/>
          </a:ln>
        </p:spPr>
      </p:sp>
      <p:sp>
        <p:nvSpPr>
          <p:cNvPr id="9" name="Text 7"/>
          <p:cNvSpPr/>
          <p:nvPr/>
        </p:nvSpPr>
        <p:spPr>
          <a:xfrm>
            <a:off x="804672" y="167335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335024" y="160934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Unbounded lists</a:t>
            </a:r>
            <a:endParaRPr lang="en-US" sz="1350" dirty="0"/>
          </a:p>
        </p:txBody>
      </p:sp>
      <p:sp>
        <p:nvSpPr>
          <p:cNvPr id="11" name="Text 9"/>
          <p:cNvSpPr/>
          <p:nvPr/>
        </p:nvSpPr>
        <p:spPr>
          <a:xfrm>
            <a:off x="804672" y="201168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List endpoints return everything; real pagination is needed as a cohort approaches the importer's 5 000-row ceiling.</a:t>
            </a:r>
            <a:endParaRPr lang="en-US" sz="1100" dirty="0"/>
          </a:p>
        </p:txBody>
      </p:sp>
      <p:sp>
        <p:nvSpPr>
          <p:cNvPr id="12" name="Shape 10"/>
          <p:cNvSpPr/>
          <p:nvPr/>
        </p:nvSpPr>
        <p:spPr>
          <a:xfrm>
            <a:off x="6260440" y="1389888"/>
            <a:ext cx="5364328" cy="1261872"/>
          </a:xfrm>
          <a:prstGeom prst="roundRect">
            <a:avLst>
              <a:gd name="adj" fmla="val 7246"/>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Shape 11"/>
          <p:cNvSpPr/>
          <p:nvPr/>
        </p:nvSpPr>
        <p:spPr>
          <a:xfrm>
            <a:off x="6498184" y="1627632"/>
            <a:ext cx="384048" cy="384048"/>
          </a:xfrm>
          <a:prstGeom prst="ellipse">
            <a:avLst/>
          </a:prstGeom>
          <a:solidFill>
            <a:srgbClr val="D9A13B"/>
          </a:solidFill>
          <a:ln w="12700">
            <a:solidFill>
              <a:srgbClr val="D9A13B"/>
            </a:solidFill>
            <a:prstDash val="solid"/>
          </a:ln>
        </p:spPr>
      </p:sp>
      <p:sp>
        <p:nvSpPr>
          <p:cNvPr id="14" name="Text 12"/>
          <p:cNvSpPr/>
          <p:nvPr/>
        </p:nvSpPr>
        <p:spPr>
          <a:xfrm>
            <a:off x="6498184" y="167335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7028536" y="160934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login rate limiting</a:t>
            </a:r>
            <a:endParaRPr lang="en-US" sz="1350" dirty="0"/>
          </a:p>
        </p:txBody>
      </p:sp>
      <p:sp>
        <p:nvSpPr>
          <p:cNvPr id="16" name="Text 14"/>
          <p:cNvSpPr/>
          <p:nvPr/>
        </p:nvSpPr>
        <p:spPr>
          <a:xfrm>
            <a:off x="6498184" y="201168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Tolerable for a campus tool behind institutional access; not sufficient for a public service.</a:t>
            </a:r>
            <a:endParaRPr lang="en-US" sz="1100" dirty="0"/>
          </a:p>
        </p:txBody>
      </p:sp>
      <p:sp>
        <p:nvSpPr>
          <p:cNvPr id="17" name="Shape 15"/>
          <p:cNvSpPr/>
          <p:nvPr/>
        </p:nvSpPr>
        <p:spPr>
          <a:xfrm>
            <a:off x="566928" y="2807208"/>
            <a:ext cx="5364328" cy="1261872"/>
          </a:xfrm>
          <a:prstGeom prst="roundRect">
            <a:avLst>
              <a:gd name="adj" fmla="val 724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8" name="Shape 16"/>
          <p:cNvSpPr/>
          <p:nvPr/>
        </p:nvSpPr>
        <p:spPr>
          <a:xfrm>
            <a:off x="804672" y="3044952"/>
            <a:ext cx="384048" cy="384048"/>
          </a:xfrm>
          <a:prstGeom prst="ellipse">
            <a:avLst/>
          </a:prstGeom>
          <a:solidFill>
            <a:srgbClr val="D9A13B"/>
          </a:solidFill>
          <a:ln w="12700">
            <a:solidFill>
              <a:srgbClr val="D9A13B"/>
            </a:solidFill>
            <a:prstDash val="solid"/>
          </a:ln>
        </p:spPr>
      </p:sp>
      <p:sp>
        <p:nvSpPr>
          <p:cNvPr id="19" name="Text 17"/>
          <p:cNvSpPr/>
          <p:nvPr/>
        </p:nvSpPr>
        <p:spPr>
          <a:xfrm>
            <a:off x="804672" y="309067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1335024" y="302666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UI logout leaves the cookie</a:t>
            </a:r>
            <a:endParaRPr lang="en-US" sz="1350" dirty="0"/>
          </a:p>
        </p:txBody>
      </p:sp>
      <p:sp>
        <p:nvSpPr>
          <p:cNvPr id="21" name="Text 19"/>
          <p:cNvSpPr/>
          <p:nvPr/>
        </p:nvSpPr>
        <p:spPr>
          <a:xfrm>
            <a:off x="804672" y="342900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Signing out clears the client state but does not yet call the logout endpoint, so the session cookie stays valid until it expires.</a:t>
            </a:r>
            <a:endParaRPr lang="en-US" sz="1100" dirty="0"/>
          </a:p>
        </p:txBody>
      </p:sp>
      <p:sp>
        <p:nvSpPr>
          <p:cNvPr id="22" name="Shape 20"/>
          <p:cNvSpPr/>
          <p:nvPr/>
        </p:nvSpPr>
        <p:spPr>
          <a:xfrm>
            <a:off x="6260440" y="2807208"/>
            <a:ext cx="5364328" cy="1261872"/>
          </a:xfrm>
          <a:prstGeom prst="roundRect">
            <a:avLst>
              <a:gd name="adj" fmla="val 7246"/>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3" name="Shape 21"/>
          <p:cNvSpPr/>
          <p:nvPr/>
        </p:nvSpPr>
        <p:spPr>
          <a:xfrm>
            <a:off x="6498184" y="3044952"/>
            <a:ext cx="384048" cy="384048"/>
          </a:xfrm>
          <a:prstGeom prst="ellipse">
            <a:avLst/>
          </a:prstGeom>
          <a:solidFill>
            <a:srgbClr val="D9A13B"/>
          </a:solidFill>
          <a:ln w="12700">
            <a:solidFill>
              <a:srgbClr val="D9A13B"/>
            </a:solidFill>
            <a:prstDash val="solid"/>
          </a:ln>
        </p:spPr>
      </p:sp>
      <p:sp>
        <p:nvSpPr>
          <p:cNvPr id="24" name="Text 22"/>
          <p:cNvSpPr/>
          <p:nvPr/>
        </p:nvSpPr>
        <p:spPr>
          <a:xfrm>
            <a:off x="6498184" y="309067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7028536" y="302666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Tests are on demand</a:t>
            </a:r>
            <a:endParaRPr lang="en-US" sz="1350" dirty="0"/>
          </a:p>
        </p:txBody>
      </p:sp>
      <p:sp>
        <p:nvSpPr>
          <p:cNvPr id="26" name="Text 24"/>
          <p:cNvSpPr/>
          <p:nvPr/>
        </p:nvSpPr>
        <p:spPr>
          <a:xfrm>
            <a:off x="6498184" y="342900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The integration suite is development-owned and not yet wired into continuous integration, so its guarantee depends on it being run.</a:t>
            </a:r>
            <a:endParaRPr lang="en-US" sz="1100" dirty="0"/>
          </a:p>
        </p:txBody>
      </p:sp>
      <p:sp>
        <p:nvSpPr>
          <p:cNvPr id="27" name="Shape 25"/>
          <p:cNvSpPr/>
          <p:nvPr/>
        </p:nvSpPr>
        <p:spPr>
          <a:xfrm>
            <a:off x="566928" y="4224528"/>
            <a:ext cx="5364328" cy="1261872"/>
          </a:xfrm>
          <a:prstGeom prst="roundRect">
            <a:avLst>
              <a:gd name="adj" fmla="val 7246"/>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8" name="Shape 26"/>
          <p:cNvSpPr/>
          <p:nvPr/>
        </p:nvSpPr>
        <p:spPr>
          <a:xfrm>
            <a:off x="804672" y="4462272"/>
            <a:ext cx="384048" cy="384048"/>
          </a:xfrm>
          <a:prstGeom prst="ellipse">
            <a:avLst/>
          </a:prstGeom>
          <a:solidFill>
            <a:srgbClr val="D9A13B"/>
          </a:solidFill>
          <a:ln w="12700">
            <a:solidFill>
              <a:srgbClr val="D9A13B"/>
            </a:solidFill>
            <a:prstDash val="solid"/>
          </a:ln>
        </p:spPr>
      </p:sp>
      <p:sp>
        <p:nvSpPr>
          <p:cNvPr id="29" name="Text 27"/>
          <p:cNvSpPr/>
          <p:nvPr/>
        </p:nvSpPr>
        <p:spPr>
          <a:xfrm>
            <a:off x="804672" y="450799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1335024" y="444398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Analytics are descriptive</a:t>
            </a:r>
            <a:endParaRPr lang="en-US" sz="1350" dirty="0"/>
          </a:p>
        </p:txBody>
      </p:sp>
      <p:sp>
        <p:nvSpPr>
          <p:cNvPr id="31" name="Text 29"/>
          <p:cNvSpPr/>
          <p:nvPr/>
        </p:nvSpPr>
        <p:spPr>
          <a:xfrm>
            <a:off x="804672" y="484632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Package averages use every offer record rather than one best offer per student, and the funnel is a current-state snapshot, not a round-by-round conversion.</a:t>
            </a:r>
            <a:endParaRPr lang="en-US" sz="1100" dirty="0"/>
          </a:p>
        </p:txBody>
      </p:sp>
      <p:sp>
        <p:nvSpPr>
          <p:cNvPr id="32" name="Shape 30"/>
          <p:cNvSpPr/>
          <p:nvPr/>
        </p:nvSpPr>
        <p:spPr>
          <a:xfrm>
            <a:off x="6260440" y="4224528"/>
            <a:ext cx="5364328" cy="1261872"/>
          </a:xfrm>
          <a:prstGeom prst="roundRect">
            <a:avLst>
              <a:gd name="adj" fmla="val 7246"/>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3" name="Shape 31"/>
          <p:cNvSpPr/>
          <p:nvPr/>
        </p:nvSpPr>
        <p:spPr>
          <a:xfrm>
            <a:off x="6498184" y="4462272"/>
            <a:ext cx="384048" cy="384048"/>
          </a:xfrm>
          <a:prstGeom prst="ellipse">
            <a:avLst/>
          </a:prstGeom>
          <a:solidFill>
            <a:srgbClr val="D9A13B"/>
          </a:solidFill>
          <a:ln w="12700">
            <a:solidFill>
              <a:srgbClr val="D9A13B"/>
            </a:solidFill>
            <a:prstDash val="solid"/>
          </a:ln>
        </p:spPr>
      </p:sp>
      <p:sp>
        <p:nvSpPr>
          <p:cNvPr id="34" name="Text 32"/>
          <p:cNvSpPr/>
          <p:nvPr/>
        </p:nvSpPr>
        <p:spPr>
          <a:xfrm>
            <a:off x="6498184" y="4507992"/>
            <a:ext cx="384048" cy="292608"/>
          </a:xfrm>
          <a:prstGeom prst="rect">
            <a:avLst/>
          </a:prstGeom>
          <a:noFill/>
          <a:ln/>
        </p:spPr>
        <p:txBody>
          <a:bodyPr wrap="square" lIns="0" tIns="0" rIns="0" bIns="0" rtlCol="0" anchor="ctr"/>
          <a:lstStyle/>
          <a:p>
            <a:pPr algn="ctr" indent="0" marL="0">
              <a:buNone/>
            </a:pPr>
            <a:r>
              <a:rPr lang="en-US" sz="1300" b="1" dirty="0">
                <a:solidFill>
                  <a:srgbClr val="0B1814"/>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7028536" y="4443984"/>
            <a:ext cx="4358488"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Ladder trusts the advertised package</a:t>
            </a:r>
            <a:endParaRPr lang="en-US" sz="1350" dirty="0"/>
          </a:p>
        </p:txBody>
      </p:sp>
      <p:sp>
        <p:nvSpPr>
          <p:cNvPr id="36" name="Text 34"/>
          <p:cNvSpPr/>
          <p:nvPr/>
        </p:nvSpPr>
        <p:spPr>
          <a:xfrm>
            <a:off x="6498184" y="4846320"/>
            <a:ext cx="4888840" cy="566928"/>
          </a:xfrm>
          <a:prstGeom prst="rect">
            <a:avLst/>
          </a:prstGeom>
          <a:noFill/>
          <a:ln/>
        </p:spPr>
        <p:txBody>
          <a:bodyPr wrap="square" lIns="0" tIns="0" rIns="0" bIns="0" rtlCol="0" anchor="ctr"/>
          <a:lstStyle/>
          <a:p>
            <a:pPr indent="0" marL="0">
              <a:lnSpc>
                <a:spcPts val="1450"/>
              </a:lnSpc>
              <a:buNone/>
            </a:pPr>
            <a:r>
              <a:rPr lang="en-US" sz="1100" dirty="0">
                <a:solidFill>
                  <a:srgbClr val="A8BDB2"/>
                </a:solidFill>
                <a:latin typeface="Calibri" pitchFamily="34" charset="0"/>
                <a:ea typeface="Calibri" pitchFamily="34" charset="-122"/>
                <a:cs typeface="Calibri" pitchFamily="34" charset="-120"/>
              </a:rPr>
              <a:t>Until the cell overrides it, an inflated listing can temporarily admit students the rule would otherwise exclude.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FUTURE WORK</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Where the project goes next</a:t>
            </a:r>
            <a:endParaRPr lang="en-US" sz="3100" dirty="0"/>
          </a:p>
        </p:txBody>
      </p:sp>
      <p:sp>
        <p:nvSpPr>
          <p:cNvPr id="4" name="Text 2"/>
          <p:cNvSpPr/>
          <p:nvPr/>
        </p:nvSpPr>
        <p:spPr>
          <a:xfrm>
            <a:off x="566928" y="1097280"/>
            <a:ext cx="11057839" cy="274320"/>
          </a:xfrm>
          <a:prstGeom prst="rect">
            <a:avLst/>
          </a:prstGeom>
          <a:noFill/>
          <a:ln/>
        </p:spPr>
        <p:txBody>
          <a:bodyPr wrap="square" lIns="0" tIns="0" rIns="0" bIns="0" rtlCol="0" anchor="ctr"/>
          <a:lstStyle/>
          <a:p>
            <a:pPr indent="0" marL="0">
              <a:buNone/>
            </a:pPr>
            <a:r>
              <a:rPr lang="en-US" sz="1350" dirty="0">
                <a:solidFill>
                  <a:srgbClr val="A8BDB2"/>
                </a:solidFill>
                <a:latin typeface="Calibri" pitchFamily="34" charset="0"/>
                <a:ea typeface="Calibri" pitchFamily="34" charset="-122"/>
                <a:cs typeface="Calibri" pitchFamily="34" charset="-120"/>
              </a:rPr>
              <a:t>Ordered by what the deployment actually needs first.</a:t>
            </a:r>
            <a:endParaRPr lang="en-US" sz="1350" dirty="0"/>
          </a:p>
        </p:txBody>
      </p:sp>
      <p:sp>
        <p:nvSpPr>
          <p:cNvPr id="5" name="Text 3"/>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6" name="Text 4"/>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30</a:t>
            </a:r>
            <a:endParaRPr lang="en-US" sz="1000" dirty="0"/>
          </a:p>
        </p:txBody>
      </p:sp>
      <p:sp>
        <p:nvSpPr>
          <p:cNvPr id="7" name="Shape 5"/>
          <p:cNvSpPr/>
          <p:nvPr/>
        </p:nvSpPr>
        <p:spPr>
          <a:xfrm>
            <a:off x="566928" y="1389888"/>
            <a:ext cx="11057839" cy="694944"/>
          </a:xfrm>
          <a:prstGeom prst="roundRect">
            <a:avLst>
              <a:gd name="adj" fmla="val 1315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8" name="Shape 6"/>
          <p:cNvSpPr/>
          <p:nvPr/>
        </p:nvSpPr>
        <p:spPr>
          <a:xfrm>
            <a:off x="786384" y="1536192"/>
            <a:ext cx="402336" cy="402336"/>
          </a:xfrm>
          <a:prstGeom prst="ellipse">
            <a:avLst/>
          </a:prstGeom>
          <a:solidFill>
            <a:srgbClr val="22C55E"/>
          </a:solidFill>
          <a:ln w="12700">
            <a:solidFill>
              <a:srgbClr val="22C55E"/>
            </a:solidFill>
            <a:prstDash val="solid"/>
          </a:ln>
        </p:spPr>
      </p:sp>
      <p:sp>
        <p:nvSpPr>
          <p:cNvPr id="9" name="Text 7"/>
          <p:cNvSpPr/>
          <p:nvPr/>
        </p:nvSpPr>
        <p:spPr>
          <a:xfrm>
            <a:off x="786384" y="1591056"/>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335024" y="1481328"/>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Server-side pagination</a:t>
            </a:r>
            <a:endParaRPr lang="en-US" sz="1350" dirty="0"/>
          </a:p>
        </p:txBody>
      </p:sp>
      <p:sp>
        <p:nvSpPr>
          <p:cNvPr id="11" name="Text 9"/>
          <p:cNvSpPr/>
          <p:nvPr/>
        </p:nvSpPr>
        <p:spPr>
          <a:xfrm>
            <a:off x="5230368" y="1481328"/>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Keeps list endpoints predictable as cohorts grow</a:t>
            </a:r>
            <a:endParaRPr lang="en-US" sz="1150" dirty="0"/>
          </a:p>
        </p:txBody>
      </p:sp>
      <p:sp>
        <p:nvSpPr>
          <p:cNvPr id="12" name="Shape 10"/>
          <p:cNvSpPr/>
          <p:nvPr/>
        </p:nvSpPr>
        <p:spPr>
          <a:xfrm>
            <a:off x="10253167" y="1563624"/>
            <a:ext cx="1097280" cy="347472"/>
          </a:xfrm>
          <a:prstGeom prst="roundRect">
            <a:avLst>
              <a:gd name="adj" fmla="val 50000"/>
            </a:avLst>
          </a:prstGeom>
          <a:solidFill>
            <a:srgbClr val="16382A"/>
          </a:solidFill>
          <a:ln w="9525">
            <a:solidFill>
              <a:srgbClr val="274A3C"/>
            </a:solidFill>
            <a:prstDash val="solid"/>
          </a:ln>
        </p:spPr>
      </p:sp>
      <p:sp>
        <p:nvSpPr>
          <p:cNvPr id="13" name="Text 11"/>
          <p:cNvSpPr/>
          <p:nvPr/>
        </p:nvSpPr>
        <p:spPr>
          <a:xfrm>
            <a:off x="10253167" y="1627632"/>
            <a:ext cx="1097280" cy="237744"/>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Next</a:t>
            </a:r>
            <a:endParaRPr lang="en-US" sz="1050" dirty="0"/>
          </a:p>
        </p:txBody>
      </p:sp>
      <p:sp>
        <p:nvSpPr>
          <p:cNvPr id="14" name="Shape 12"/>
          <p:cNvSpPr/>
          <p:nvPr/>
        </p:nvSpPr>
        <p:spPr>
          <a:xfrm>
            <a:off x="566928" y="2194560"/>
            <a:ext cx="11057839" cy="694944"/>
          </a:xfrm>
          <a:prstGeom prst="roundRect">
            <a:avLst>
              <a:gd name="adj" fmla="val 13158"/>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5" name="Shape 13"/>
          <p:cNvSpPr/>
          <p:nvPr/>
        </p:nvSpPr>
        <p:spPr>
          <a:xfrm>
            <a:off x="786384" y="2340864"/>
            <a:ext cx="402336" cy="402336"/>
          </a:xfrm>
          <a:prstGeom prst="ellipse">
            <a:avLst/>
          </a:prstGeom>
          <a:solidFill>
            <a:srgbClr val="22C55E"/>
          </a:solidFill>
          <a:ln w="12700">
            <a:solidFill>
              <a:srgbClr val="22C55E"/>
            </a:solidFill>
            <a:prstDash val="solid"/>
          </a:ln>
        </p:spPr>
      </p:sp>
      <p:sp>
        <p:nvSpPr>
          <p:cNvPr id="16" name="Text 14"/>
          <p:cNvSpPr/>
          <p:nvPr/>
        </p:nvSpPr>
        <p:spPr>
          <a:xfrm>
            <a:off x="786384" y="2395728"/>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1335024" y="2286000"/>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Logout invalidates the session</a:t>
            </a:r>
            <a:endParaRPr lang="en-US" sz="1350" dirty="0"/>
          </a:p>
        </p:txBody>
      </p:sp>
      <p:sp>
        <p:nvSpPr>
          <p:cNvPr id="18" name="Text 16"/>
          <p:cNvSpPr/>
          <p:nvPr/>
        </p:nvSpPr>
        <p:spPr>
          <a:xfrm>
            <a:off x="5230368" y="2286000"/>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Call the logout endpoint from the UI so signing out ends the cookie</a:t>
            </a:r>
            <a:endParaRPr lang="en-US" sz="1150" dirty="0"/>
          </a:p>
        </p:txBody>
      </p:sp>
      <p:sp>
        <p:nvSpPr>
          <p:cNvPr id="19" name="Shape 17"/>
          <p:cNvSpPr/>
          <p:nvPr/>
        </p:nvSpPr>
        <p:spPr>
          <a:xfrm>
            <a:off x="10253167" y="2368296"/>
            <a:ext cx="1097280" cy="347472"/>
          </a:xfrm>
          <a:prstGeom prst="roundRect">
            <a:avLst>
              <a:gd name="adj" fmla="val 50000"/>
            </a:avLst>
          </a:prstGeom>
          <a:solidFill>
            <a:srgbClr val="16382A"/>
          </a:solidFill>
          <a:ln w="9525">
            <a:solidFill>
              <a:srgbClr val="274A3C"/>
            </a:solidFill>
            <a:prstDash val="solid"/>
          </a:ln>
        </p:spPr>
      </p:sp>
      <p:sp>
        <p:nvSpPr>
          <p:cNvPr id="20" name="Text 18"/>
          <p:cNvSpPr/>
          <p:nvPr/>
        </p:nvSpPr>
        <p:spPr>
          <a:xfrm>
            <a:off x="10253167" y="2432304"/>
            <a:ext cx="1097280" cy="237744"/>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Next</a:t>
            </a:r>
            <a:endParaRPr lang="en-US" sz="1050" dirty="0"/>
          </a:p>
        </p:txBody>
      </p:sp>
      <p:sp>
        <p:nvSpPr>
          <p:cNvPr id="21" name="Shape 19"/>
          <p:cNvSpPr/>
          <p:nvPr/>
        </p:nvSpPr>
        <p:spPr>
          <a:xfrm>
            <a:off x="566928" y="2999232"/>
            <a:ext cx="11057839" cy="694944"/>
          </a:xfrm>
          <a:prstGeom prst="roundRect">
            <a:avLst>
              <a:gd name="adj" fmla="val 1315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2" name="Shape 20"/>
          <p:cNvSpPr/>
          <p:nvPr/>
        </p:nvSpPr>
        <p:spPr>
          <a:xfrm>
            <a:off x="786384" y="3145536"/>
            <a:ext cx="402336" cy="402336"/>
          </a:xfrm>
          <a:prstGeom prst="ellipse">
            <a:avLst/>
          </a:prstGeom>
          <a:solidFill>
            <a:srgbClr val="22C55E"/>
          </a:solidFill>
          <a:ln w="12700">
            <a:solidFill>
              <a:srgbClr val="22C55E"/>
            </a:solidFill>
            <a:prstDash val="solid"/>
          </a:ln>
        </p:spPr>
      </p:sp>
      <p:sp>
        <p:nvSpPr>
          <p:cNvPr id="23" name="Text 21"/>
          <p:cNvSpPr/>
          <p:nvPr/>
        </p:nvSpPr>
        <p:spPr>
          <a:xfrm>
            <a:off x="786384" y="3200400"/>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1335024" y="3090672"/>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Login rate limiting</a:t>
            </a:r>
            <a:endParaRPr lang="en-US" sz="1350" dirty="0"/>
          </a:p>
        </p:txBody>
      </p:sp>
      <p:sp>
        <p:nvSpPr>
          <p:cNvPr id="25" name="Text 23"/>
          <p:cNvSpPr/>
          <p:nvPr/>
        </p:nvSpPr>
        <p:spPr>
          <a:xfrm>
            <a:off x="5230368" y="3090672"/>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Closes the remaining security gap before any public exposure</a:t>
            </a:r>
            <a:endParaRPr lang="en-US" sz="1150" dirty="0"/>
          </a:p>
        </p:txBody>
      </p:sp>
      <p:sp>
        <p:nvSpPr>
          <p:cNvPr id="26" name="Shape 24"/>
          <p:cNvSpPr/>
          <p:nvPr/>
        </p:nvSpPr>
        <p:spPr>
          <a:xfrm>
            <a:off x="10253167" y="3172968"/>
            <a:ext cx="1097280" cy="347472"/>
          </a:xfrm>
          <a:prstGeom prst="roundRect">
            <a:avLst>
              <a:gd name="adj" fmla="val 50000"/>
            </a:avLst>
          </a:prstGeom>
          <a:solidFill>
            <a:srgbClr val="16382A"/>
          </a:solidFill>
          <a:ln w="9525">
            <a:solidFill>
              <a:srgbClr val="274A3C"/>
            </a:solidFill>
            <a:prstDash val="solid"/>
          </a:ln>
        </p:spPr>
      </p:sp>
      <p:sp>
        <p:nvSpPr>
          <p:cNvPr id="27" name="Text 25"/>
          <p:cNvSpPr/>
          <p:nvPr/>
        </p:nvSpPr>
        <p:spPr>
          <a:xfrm>
            <a:off x="10253167" y="3236976"/>
            <a:ext cx="1097280" cy="237744"/>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Next</a:t>
            </a:r>
            <a:endParaRPr lang="en-US" sz="1050" dirty="0"/>
          </a:p>
        </p:txBody>
      </p:sp>
      <p:sp>
        <p:nvSpPr>
          <p:cNvPr id="28" name="Shape 26"/>
          <p:cNvSpPr/>
          <p:nvPr/>
        </p:nvSpPr>
        <p:spPr>
          <a:xfrm>
            <a:off x="566928" y="3803904"/>
            <a:ext cx="11057839" cy="694944"/>
          </a:xfrm>
          <a:prstGeom prst="roundRect">
            <a:avLst>
              <a:gd name="adj" fmla="val 13158"/>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29" name="Shape 27"/>
          <p:cNvSpPr/>
          <p:nvPr/>
        </p:nvSpPr>
        <p:spPr>
          <a:xfrm>
            <a:off x="786384" y="3950208"/>
            <a:ext cx="402336" cy="402336"/>
          </a:xfrm>
          <a:prstGeom prst="ellipse">
            <a:avLst/>
          </a:prstGeom>
          <a:solidFill>
            <a:srgbClr val="D3EF4C"/>
          </a:solidFill>
          <a:ln w="12700">
            <a:solidFill>
              <a:srgbClr val="D3EF4C"/>
            </a:solidFill>
            <a:prstDash val="solid"/>
          </a:ln>
        </p:spPr>
      </p:sp>
      <p:sp>
        <p:nvSpPr>
          <p:cNvPr id="30" name="Text 28"/>
          <p:cNvSpPr/>
          <p:nvPr/>
        </p:nvSpPr>
        <p:spPr>
          <a:xfrm>
            <a:off x="786384" y="4005072"/>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1335024" y="3895344"/>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Resume upload</a:t>
            </a:r>
            <a:endParaRPr lang="en-US" sz="1350" dirty="0"/>
          </a:p>
        </p:txBody>
      </p:sp>
      <p:sp>
        <p:nvSpPr>
          <p:cNvPr id="32" name="Text 30"/>
          <p:cNvSpPr/>
          <p:nvPr/>
        </p:nvSpPr>
        <p:spPr>
          <a:xfrm>
            <a:off x="5230368" y="3895344"/>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Attach a CV to the student record so the cell stops chasing email attachments</a:t>
            </a:r>
            <a:endParaRPr lang="en-US" sz="1150" dirty="0"/>
          </a:p>
        </p:txBody>
      </p:sp>
      <p:sp>
        <p:nvSpPr>
          <p:cNvPr id="33" name="Shape 31"/>
          <p:cNvSpPr/>
          <p:nvPr/>
        </p:nvSpPr>
        <p:spPr>
          <a:xfrm>
            <a:off x="10253167" y="3977640"/>
            <a:ext cx="1097280" cy="347472"/>
          </a:xfrm>
          <a:prstGeom prst="roundRect">
            <a:avLst>
              <a:gd name="adj" fmla="val 50000"/>
            </a:avLst>
          </a:prstGeom>
          <a:solidFill>
            <a:srgbClr val="16382A"/>
          </a:solidFill>
          <a:ln w="9525">
            <a:solidFill>
              <a:srgbClr val="274A3C"/>
            </a:solidFill>
            <a:prstDash val="solid"/>
          </a:ln>
        </p:spPr>
      </p:sp>
      <p:sp>
        <p:nvSpPr>
          <p:cNvPr id="34" name="Text 32"/>
          <p:cNvSpPr/>
          <p:nvPr/>
        </p:nvSpPr>
        <p:spPr>
          <a:xfrm>
            <a:off x="10253167" y="4041648"/>
            <a:ext cx="1097280" cy="237744"/>
          </a:xfrm>
          <a:prstGeom prst="rect">
            <a:avLst/>
          </a:prstGeom>
          <a:noFill/>
          <a:ln/>
        </p:spPr>
        <p:txBody>
          <a:bodyPr wrap="square" lIns="0" tIns="0" rIns="0" bIns="0" rtlCol="0" anchor="ctr"/>
          <a:lstStyle/>
          <a:p>
            <a:pPr algn="ctr" indent="0" marL="0">
              <a:buNone/>
            </a:pPr>
            <a:r>
              <a:rPr lang="en-US" sz="1050" b="1" dirty="0">
                <a:solidFill>
                  <a:srgbClr val="D3EF4C"/>
                </a:solidFill>
                <a:latin typeface="Calibri" pitchFamily="34" charset="0"/>
                <a:ea typeface="Calibri" pitchFamily="34" charset="-122"/>
                <a:cs typeface="Calibri" pitchFamily="34" charset="-120"/>
              </a:rPr>
              <a:t>Then</a:t>
            </a:r>
            <a:endParaRPr lang="en-US" sz="1050" dirty="0"/>
          </a:p>
        </p:txBody>
      </p:sp>
      <p:sp>
        <p:nvSpPr>
          <p:cNvPr id="35" name="Shape 33"/>
          <p:cNvSpPr/>
          <p:nvPr/>
        </p:nvSpPr>
        <p:spPr>
          <a:xfrm>
            <a:off x="566928" y="4608576"/>
            <a:ext cx="11057839" cy="694944"/>
          </a:xfrm>
          <a:prstGeom prst="roundRect">
            <a:avLst>
              <a:gd name="adj" fmla="val 13158"/>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36" name="Shape 34"/>
          <p:cNvSpPr/>
          <p:nvPr/>
        </p:nvSpPr>
        <p:spPr>
          <a:xfrm>
            <a:off x="786384" y="4754880"/>
            <a:ext cx="402336" cy="402336"/>
          </a:xfrm>
          <a:prstGeom prst="ellipse">
            <a:avLst/>
          </a:prstGeom>
          <a:solidFill>
            <a:srgbClr val="D3EF4C"/>
          </a:solidFill>
          <a:ln w="12700">
            <a:solidFill>
              <a:srgbClr val="D3EF4C"/>
            </a:solidFill>
            <a:prstDash val="solid"/>
          </a:ln>
        </p:spPr>
      </p:sp>
      <p:sp>
        <p:nvSpPr>
          <p:cNvPr id="37" name="Text 35"/>
          <p:cNvSpPr/>
          <p:nvPr/>
        </p:nvSpPr>
        <p:spPr>
          <a:xfrm>
            <a:off x="786384" y="4809744"/>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5</a:t>
            </a:r>
            <a:endParaRPr lang="en-US" sz="1200" dirty="0"/>
          </a:p>
        </p:txBody>
      </p:sp>
      <p:sp>
        <p:nvSpPr>
          <p:cNvPr id="38" name="Text 36"/>
          <p:cNvSpPr/>
          <p:nvPr/>
        </p:nvSpPr>
        <p:spPr>
          <a:xfrm>
            <a:off x="1335024" y="4700016"/>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Notifications from history</a:t>
            </a:r>
            <a:endParaRPr lang="en-US" sz="1350" dirty="0"/>
          </a:p>
        </p:txBody>
      </p:sp>
      <p:sp>
        <p:nvSpPr>
          <p:cNvPr id="39" name="Text 37"/>
          <p:cNvSpPr/>
          <p:nvPr/>
        </p:nvSpPr>
        <p:spPr>
          <a:xfrm>
            <a:off x="5230368" y="4700016"/>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Drive the audit table into student notifications, so nobody misses a deadline</a:t>
            </a:r>
            <a:endParaRPr lang="en-US" sz="1150" dirty="0"/>
          </a:p>
        </p:txBody>
      </p:sp>
      <p:sp>
        <p:nvSpPr>
          <p:cNvPr id="40" name="Shape 38"/>
          <p:cNvSpPr/>
          <p:nvPr/>
        </p:nvSpPr>
        <p:spPr>
          <a:xfrm>
            <a:off x="10253167" y="4782312"/>
            <a:ext cx="1097280" cy="347472"/>
          </a:xfrm>
          <a:prstGeom prst="roundRect">
            <a:avLst>
              <a:gd name="adj" fmla="val 50000"/>
            </a:avLst>
          </a:prstGeom>
          <a:solidFill>
            <a:srgbClr val="16382A"/>
          </a:solidFill>
          <a:ln w="9525">
            <a:solidFill>
              <a:srgbClr val="274A3C"/>
            </a:solidFill>
            <a:prstDash val="solid"/>
          </a:ln>
        </p:spPr>
      </p:sp>
      <p:sp>
        <p:nvSpPr>
          <p:cNvPr id="41" name="Text 39"/>
          <p:cNvSpPr/>
          <p:nvPr/>
        </p:nvSpPr>
        <p:spPr>
          <a:xfrm>
            <a:off x="10253167" y="4846320"/>
            <a:ext cx="1097280" cy="237744"/>
          </a:xfrm>
          <a:prstGeom prst="rect">
            <a:avLst/>
          </a:prstGeom>
          <a:noFill/>
          <a:ln/>
        </p:spPr>
        <p:txBody>
          <a:bodyPr wrap="square" lIns="0" tIns="0" rIns="0" bIns="0" rtlCol="0" anchor="ctr"/>
          <a:lstStyle/>
          <a:p>
            <a:pPr algn="ctr" indent="0" marL="0">
              <a:buNone/>
            </a:pPr>
            <a:r>
              <a:rPr lang="en-US" sz="1050" b="1" dirty="0">
                <a:solidFill>
                  <a:srgbClr val="D3EF4C"/>
                </a:solidFill>
                <a:latin typeface="Calibri" pitchFamily="34" charset="0"/>
                <a:ea typeface="Calibri" pitchFamily="34" charset="-122"/>
                <a:cs typeface="Calibri" pitchFamily="34" charset="-120"/>
              </a:rPr>
              <a:t>Then</a:t>
            </a:r>
            <a:endParaRPr lang="en-US" sz="1050" dirty="0"/>
          </a:p>
        </p:txBody>
      </p:sp>
      <p:sp>
        <p:nvSpPr>
          <p:cNvPr id="42" name="Shape 40"/>
          <p:cNvSpPr/>
          <p:nvPr/>
        </p:nvSpPr>
        <p:spPr>
          <a:xfrm>
            <a:off x="566928" y="5413248"/>
            <a:ext cx="11057839" cy="694944"/>
          </a:xfrm>
          <a:prstGeom prst="roundRect">
            <a:avLst>
              <a:gd name="adj" fmla="val 13158"/>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43" name="Shape 41"/>
          <p:cNvSpPr/>
          <p:nvPr/>
        </p:nvSpPr>
        <p:spPr>
          <a:xfrm>
            <a:off x="786384" y="5559552"/>
            <a:ext cx="402336" cy="402336"/>
          </a:xfrm>
          <a:prstGeom prst="ellipse">
            <a:avLst/>
          </a:prstGeom>
          <a:solidFill>
            <a:srgbClr val="D9A13B"/>
          </a:solidFill>
          <a:ln w="12700">
            <a:solidFill>
              <a:srgbClr val="D9A13B"/>
            </a:solidFill>
            <a:prstDash val="solid"/>
          </a:ln>
        </p:spPr>
      </p:sp>
      <p:sp>
        <p:nvSpPr>
          <p:cNvPr id="44" name="Text 42"/>
          <p:cNvSpPr/>
          <p:nvPr/>
        </p:nvSpPr>
        <p:spPr>
          <a:xfrm>
            <a:off x="786384" y="5614416"/>
            <a:ext cx="402336" cy="292608"/>
          </a:xfrm>
          <a:prstGeom prst="rect">
            <a:avLst/>
          </a:prstGeom>
          <a:noFill/>
          <a:ln/>
        </p:spPr>
        <p:txBody>
          <a:bodyPr wrap="square" lIns="0" tIns="0" rIns="0" bIns="0" rtlCol="0" anchor="ctr"/>
          <a:lstStyle/>
          <a:p>
            <a:pPr algn="ctr" indent="0" marL="0">
              <a:buNone/>
            </a:pPr>
            <a:r>
              <a:rPr lang="en-US" sz="1200" b="1" dirty="0">
                <a:solidFill>
                  <a:srgbClr val="0B1814"/>
                </a:solidFill>
                <a:latin typeface="Calibri" pitchFamily="34" charset="0"/>
                <a:ea typeface="Calibri" pitchFamily="34" charset="-122"/>
                <a:cs typeface="Calibri" pitchFamily="34" charset="-120"/>
              </a:rPr>
              <a:t>6</a:t>
            </a:r>
            <a:endParaRPr lang="en-US" sz="1200" dirty="0"/>
          </a:p>
        </p:txBody>
      </p:sp>
      <p:sp>
        <p:nvSpPr>
          <p:cNvPr id="45" name="Text 43"/>
          <p:cNvSpPr/>
          <p:nvPr/>
        </p:nvSpPr>
        <p:spPr>
          <a:xfrm>
            <a:off x="1335024" y="5504688"/>
            <a:ext cx="3749040" cy="51206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Skill-based matching</a:t>
            </a:r>
            <a:endParaRPr lang="en-US" sz="1350" dirty="0"/>
          </a:p>
        </p:txBody>
      </p:sp>
      <p:sp>
        <p:nvSpPr>
          <p:cNvPr id="46" name="Text 44"/>
          <p:cNvSpPr/>
          <p:nvPr/>
        </p:nvSpPr>
        <p:spPr>
          <a:xfrm>
            <a:off x="5230368" y="5504688"/>
            <a:ext cx="4291279" cy="512064"/>
          </a:xfrm>
          <a:prstGeom prst="rect">
            <a:avLst/>
          </a:prstGeom>
          <a:noFill/>
          <a:ln/>
        </p:spPr>
        <p:txBody>
          <a:bodyPr wrap="square" lIns="0" tIns="0" rIns="0" bIns="0" rtlCol="0" anchor="ctr"/>
          <a:lstStyle/>
          <a:p>
            <a:pPr indent="0" marL="0">
              <a:buNone/>
            </a:pPr>
            <a:r>
              <a:rPr lang="en-US" sz="1150" dirty="0">
                <a:solidFill>
                  <a:srgbClr val="A8BDB2"/>
                </a:solidFill>
                <a:latin typeface="Calibri" pitchFamily="34" charset="0"/>
                <a:ea typeface="Calibri" pitchFamily="34" charset="-122"/>
                <a:cs typeface="Calibri" pitchFamily="34" charset="-120"/>
              </a:rPr>
              <a:t>Match student skill profiles against drive requirements to suggest drives</a:t>
            </a:r>
            <a:endParaRPr lang="en-US" sz="1150" dirty="0"/>
          </a:p>
        </p:txBody>
      </p:sp>
      <p:sp>
        <p:nvSpPr>
          <p:cNvPr id="47" name="Shape 45"/>
          <p:cNvSpPr/>
          <p:nvPr/>
        </p:nvSpPr>
        <p:spPr>
          <a:xfrm>
            <a:off x="10253167" y="5586984"/>
            <a:ext cx="1097280" cy="347472"/>
          </a:xfrm>
          <a:prstGeom prst="roundRect">
            <a:avLst>
              <a:gd name="adj" fmla="val 50000"/>
            </a:avLst>
          </a:prstGeom>
          <a:solidFill>
            <a:srgbClr val="16382A"/>
          </a:solidFill>
          <a:ln w="9525">
            <a:solidFill>
              <a:srgbClr val="274A3C"/>
            </a:solidFill>
            <a:prstDash val="solid"/>
          </a:ln>
        </p:spPr>
      </p:sp>
      <p:sp>
        <p:nvSpPr>
          <p:cNvPr id="48" name="Text 46"/>
          <p:cNvSpPr/>
          <p:nvPr/>
        </p:nvSpPr>
        <p:spPr>
          <a:xfrm>
            <a:off x="10253167" y="5650992"/>
            <a:ext cx="1097280" cy="237744"/>
          </a:xfrm>
          <a:prstGeom prst="rect">
            <a:avLst/>
          </a:prstGeom>
          <a:noFill/>
          <a:ln/>
        </p:spPr>
        <p:txBody>
          <a:bodyPr wrap="square" lIns="0" tIns="0" rIns="0" bIns="0" rtlCol="0" anchor="ctr"/>
          <a:lstStyle/>
          <a:p>
            <a:pPr algn="ctr" indent="0" marL="0">
              <a:buNone/>
            </a:pPr>
            <a:r>
              <a:rPr lang="en-US" sz="1050" b="1" dirty="0">
                <a:solidFill>
                  <a:srgbClr val="D9A13B"/>
                </a:solidFill>
                <a:latin typeface="Calibri" pitchFamily="34" charset="0"/>
                <a:ea typeface="Calibri" pitchFamily="34" charset="-122"/>
                <a:cs typeface="Calibri" pitchFamily="34" charset="-120"/>
              </a:rPr>
              <a:t>Later</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814"/>
        </a:solidFill>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indent="0" marL="0">
              <a:buNone/>
            </a:pPr>
            <a:r>
              <a:rPr lang="en-US" sz="1150" b="1" spc="240" kern="0" dirty="0">
                <a:solidFill>
                  <a:srgbClr val="D3EF4C"/>
                </a:solidFill>
                <a:latin typeface="Calibri" pitchFamily="34" charset="0"/>
                <a:ea typeface="Calibri" pitchFamily="34" charset="-122"/>
                <a:cs typeface="Calibri" pitchFamily="34" charset="-120"/>
              </a:rPr>
              <a:t>CONCLUSION</a:t>
            </a:r>
            <a:endParaRPr lang="en-US" sz="1150" dirty="0"/>
          </a:p>
        </p:txBody>
      </p:sp>
      <p:sp>
        <p:nvSpPr>
          <p:cNvPr id="3" name="Text 1"/>
          <p:cNvSpPr/>
          <p:nvPr/>
        </p:nvSpPr>
        <p:spPr>
          <a:xfrm>
            <a:off x="566928" y="566928"/>
            <a:ext cx="11057839"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was built, and what it demonstrates</a:t>
            </a:r>
            <a:endParaRPr lang="en-US" sz="3100" dirty="0"/>
          </a:p>
        </p:txBody>
      </p:sp>
      <p:sp>
        <p:nvSpPr>
          <p:cNvPr id="4" name="Text 2"/>
          <p:cNvSpPr/>
          <p:nvPr/>
        </p:nvSpPr>
        <p:spPr>
          <a:xfrm>
            <a:off x="566928" y="6428232"/>
            <a:ext cx="7315200" cy="237744"/>
          </a:xfrm>
          <a:prstGeom prst="rect">
            <a:avLst/>
          </a:prstGeom>
          <a:noFill/>
          <a:ln/>
        </p:spPr>
        <p:txBody>
          <a:bodyPr wrap="square" lIns="0" tIns="0" rIns="0" bIns="0" rtlCol="0" anchor="ctr"/>
          <a:lstStyle/>
          <a:p>
            <a:pPr indent="0" marL="0">
              <a:buNone/>
            </a:pPr>
            <a:r>
              <a:rPr lang="en-US" sz="1000" dirty="0">
                <a:solidFill>
                  <a:srgbClr val="5C7A6B"/>
                </a:solidFill>
                <a:latin typeface="Calibri" pitchFamily="34" charset="0"/>
                <a:ea typeface="Calibri" pitchFamily="34" charset="-122"/>
                <a:cs typeface="Calibri" pitchFamily="34" charset="-120"/>
              </a:rPr>
              <a:t>PlaceMate  ·  Tushar Kumar  ·  BCA</a:t>
            </a:r>
            <a:endParaRPr lang="en-US" sz="1000" dirty="0"/>
          </a:p>
        </p:txBody>
      </p:sp>
      <p:sp>
        <p:nvSpPr>
          <p:cNvPr id="5" name="Text 3"/>
          <p:cNvSpPr/>
          <p:nvPr/>
        </p:nvSpPr>
        <p:spPr>
          <a:xfrm>
            <a:off x="10527487" y="6428232"/>
            <a:ext cx="1097280" cy="237744"/>
          </a:xfrm>
          <a:prstGeom prst="rect">
            <a:avLst/>
          </a:prstGeom>
          <a:noFill/>
          <a:ln/>
        </p:spPr>
        <p:txBody>
          <a:bodyPr wrap="square" lIns="0" tIns="0" rIns="0" bIns="0" rtlCol="0" anchor="ctr"/>
          <a:lstStyle/>
          <a:p>
            <a:pPr algn="r" indent="0" marL="0">
              <a:buNone/>
            </a:pPr>
            <a:r>
              <a:rPr lang="en-US" sz="1000" dirty="0">
                <a:solidFill>
                  <a:srgbClr val="5C7A6B"/>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566928" y="1389888"/>
            <a:ext cx="3466490" cy="3200400"/>
          </a:xfrm>
          <a:prstGeom prst="roundRect">
            <a:avLst>
              <a:gd name="adj" fmla="val 285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7" name="Text 5"/>
          <p:cNvSpPr/>
          <p:nvPr/>
        </p:nvSpPr>
        <p:spPr>
          <a:xfrm>
            <a:off x="841248" y="1645920"/>
            <a:ext cx="2917850" cy="329184"/>
          </a:xfrm>
          <a:prstGeom prst="rect">
            <a:avLst/>
          </a:prstGeom>
          <a:noFill/>
          <a:ln/>
        </p:spPr>
        <p:txBody>
          <a:bodyPr wrap="square" lIns="0" tIns="0" rIns="0" bIns="0" rtlCol="0" anchor="ctr"/>
          <a:lstStyle/>
          <a:p>
            <a:pPr indent="0" marL="0">
              <a:buNone/>
            </a:pPr>
            <a:r>
              <a:rPr lang="en-US" sz="1800" b="1" dirty="0">
                <a:solidFill>
                  <a:srgbClr val="22C55E"/>
                </a:solidFill>
                <a:latin typeface="Cambria" pitchFamily="34" charset="0"/>
                <a:ea typeface="Cambria" pitchFamily="34" charset="-122"/>
                <a:cs typeface="Cambria" pitchFamily="34" charset="-120"/>
              </a:rPr>
              <a:t>The system</a:t>
            </a:r>
            <a:endParaRPr lang="en-US" sz="1800" dirty="0"/>
          </a:p>
        </p:txBody>
      </p:sp>
      <p:sp>
        <p:nvSpPr>
          <p:cNvPr id="8" name="Text 6"/>
          <p:cNvSpPr/>
          <p:nvPr/>
        </p:nvSpPr>
        <p:spPr>
          <a:xfrm>
            <a:off x="841248" y="2157984"/>
            <a:ext cx="2917850" cy="2286000"/>
          </a:xfrm>
          <a:prstGeom prst="rect">
            <a:avLst/>
          </a:prstGeom>
          <a:noFill/>
          <a:ln/>
        </p:spPr>
        <p:txBody>
          <a:bodyPr wrap="square" lIns="0" tIns="0" rIns="0" bIns="0" rtlCol="0" anchor="t"/>
          <a:lstStyle/>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Two working portals over one role-guarded REST API</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Six core tables plus an offer table and an audit table</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Deployed on Vercel against Neon serverless Postgres</a:t>
            </a:r>
            <a:endParaRPr lang="en-US" sz="1250" dirty="0"/>
          </a:p>
        </p:txBody>
      </p:sp>
      <p:sp>
        <p:nvSpPr>
          <p:cNvPr id="9" name="Shape 7"/>
          <p:cNvSpPr/>
          <p:nvPr/>
        </p:nvSpPr>
        <p:spPr>
          <a:xfrm>
            <a:off x="4362602" y="1389888"/>
            <a:ext cx="3466490" cy="3200400"/>
          </a:xfrm>
          <a:prstGeom prst="roundRect">
            <a:avLst>
              <a:gd name="adj" fmla="val 2857"/>
            </a:avLst>
          </a:prstGeom>
          <a:solidFill>
            <a:srgbClr val="173328"/>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0" name="Text 8"/>
          <p:cNvSpPr/>
          <p:nvPr/>
        </p:nvSpPr>
        <p:spPr>
          <a:xfrm>
            <a:off x="4636922" y="1645920"/>
            <a:ext cx="2917850" cy="329184"/>
          </a:xfrm>
          <a:prstGeom prst="rect">
            <a:avLst/>
          </a:prstGeom>
          <a:noFill/>
          <a:ln/>
        </p:spPr>
        <p:txBody>
          <a:bodyPr wrap="square" lIns="0" tIns="0" rIns="0" bIns="0" rtlCol="0" anchor="ctr"/>
          <a:lstStyle/>
          <a:p>
            <a:pPr indent="0" marL="0">
              <a:buNone/>
            </a:pPr>
            <a:r>
              <a:rPr lang="en-US" sz="1800" b="1" dirty="0">
                <a:solidFill>
                  <a:srgbClr val="D3EF4C"/>
                </a:solidFill>
                <a:latin typeface="Cambria" pitchFamily="34" charset="0"/>
                <a:ea typeface="Cambria" pitchFamily="34" charset="-122"/>
                <a:cs typeface="Cambria" pitchFamily="34" charset="-120"/>
              </a:rPr>
              <a:t>The contribution</a:t>
            </a:r>
            <a:endParaRPr lang="en-US" sz="1800" dirty="0"/>
          </a:p>
        </p:txBody>
      </p:sp>
      <p:sp>
        <p:nvSpPr>
          <p:cNvPr id="11" name="Text 9"/>
          <p:cNvSpPr/>
          <p:nvPr/>
        </p:nvSpPr>
        <p:spPr>
          <a:xfrm>
            <a:off x="4636922" y="2157984"/>
            <a:ext cx="2917850" cy="2286000"/>
          </a:xfrm>
          <a:prstGeom prst="rect">
            <a:avLst/>
          </a:prstGeom>
          <a:noFill/>
          <a:ln/>
        </p:spPr>
        <p:txBody>
          <a:bodyPr wrap="square" lIns="0" tIns="0" rIns="0" bIns="0" rtlCol="0" anchor="t"/>
          <a:lstStyle/>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Eligibility concentrated in one server-side function with four call sites</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An offer ladder backed by automatically maintained placement records</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An append-only history that makes every decision replayable</a:t>
            </a:r>
            <a:endParaRPr lang="en-US" sz="1250" dirty="0"/>
          </a:p>
        </p:txBody>
      </p:sp>
      <p:sp>
        <p:nvSpPr>
          <p:cNvPr id="12" name="Shape 10"/>
          <p:cNvSpPr/>
          <p:nvPr/>
        </p:nvSpPr>
        <p:spPr>
          <a:xfrm>
            <a:off x="8158277" y="1389888"/>
            <a:ext cx="3466490" cy="3200400"/>
          </a:xfrm>
          <a:prstGeom prst="roundRect">
            <a:avLst>
              <a:gd name="adj" fmla="val 2857"/>
            </a:avLst>
          </a:prstGeom>
          <a:solidFill>
            <a:srgbClr val="132A20"/>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3" name="Text 11"/>
          <p:cNvSpPr/>
          <p:nvPr/>
        </p:nvSpPr>
        <p:spPr>
          <a:xfrm>
            <a:off x="8432597" y="1645920"/>
            <a:ext cx="2917850" cy="329184"/>
          </a:xfrm>
          <a:prstGeom prst="rect">
            <a:avLst/>
          </a:prstGeom>
          <a:noFill/>
          <a:ln/>
        </p:spPr>
        <p:txBody>
          <a:bodyPr wrap="square" lIns="0" tIns="0" rIns="0" bIns="0" rtlCol="0" anchor="ctr"/>
          <a:lstStyle/>
          <a:p>
            <a:pPr indent="0" marL="0">
              <a:buNone/>
            </a:pPr>
            <a:r>
              <a:rPr lang="en-US" sz="1800" b="1" dirty="0">
                <a:solidFill>
                  <a:srgbClr val="D9A13B"/>
                </a:solidFill>
                <a:latin typeface="Cambria" pitchFamily="34" charset="0"/>
                <a:ea typeface="Cambria" pitchFamily="34" charset="-122"/>
                <a:cs typeface="Cambria" pitchFamily="34" charset="-120"/>
              </a:rPr>
              <a:t>The engineering</a:t>
            </a:r>
            <a:endParaRPr lang="en-US" sz="1800" dirty="0"/>
          </a:p>
        </p:txBody>
      </p:sp>
      <p:sp>
        <p:nvSpPr>
          <p:cNvPr id="14" name="Text 12"/>
          <p:cNvSpPr/>
          <p:nvPr/>
        </p:nvSpPr>
        <p:spPr>
          <a:xfrm>
            <a:off x="8432597" y="2157984"/>
            <a:ext cx="2917850" cy="2286000"/>
          </a:xfrm>
          <a:prstGeom prst="rect">
            <a:avLst/>
          </a:prstGeom>
          <a:noFill/>
          <a:ln/>
        </p:spPr>
        <p:txBody>
          <a:bodyPr wrap="square" lIns="0" tIns="0" rIns="0" bIns="0" rtlCol="0" anchor="t"/>
          <a:lstStyle/>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 development integration suite of 23 REST-level assertions</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Entry payload cut from 740 kB to 336 kB (−56% compressed)</a:t>
            </a:r>
            <a:endParaRPr lang="en-US" sz="1250" dirty="0"/>
          </a:p>
          <a:p>
            <a:pPr marL="342900" indent="-342900">
              <a:lnSpc>
                <a:spcPts val="18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Per-row database work replaced by joins and grouped aggregates</a:t>
            </a:r>
            <a:endParaRPr lang="en-US" sz="1250" dirty="0"/>
          </a:p>
        </p:txBody>
      </p:sp>
      <p:sp>
        <p:nvSpPr>
          <p:cNvPr id="15" name="Shape 13"/>
          <p:cNvSpPr/>
          <p:nvPr/>
        </p:nvSpPr>
        <p:spPr>
          <a:xfrm>
            <a:off x="566928" y="4846320"/>
            <a:ext cx="11057839" cy="768096"/>
          </a:xfrm>
          <a:prstGeom prst="roundRect">
            <a:avLst>
              <a:gd name="adj" fmla="val 11905"/>
            </a:avLst>
          </a:prstGeom>
          <a:solidFill>
            <a:srgbClr val="16382A"/>
          </a:solidFill>
          <a:ln w="9525">
            <a:solidFill>
              <a:srgbClr val="274A3C"/>
            </a:solidFill>
            <a:prstDash val="solid"/>
          </a:ln>
          <a:effectLst>
            <a:outerShdw sx="100000" sy="100000" kx="0" ky="0" algn="bl" rotWithShape="0" blurRad="114300" dist="38100" dir="5400000">
              <a:srgbClr val="000000">
                <a:alpha val="38000"/>
              </a:srgbClr>
            </a:outerShdw>
          </a:effectLst>
        </p:spPr>
      </p:sp>
      <p:sp>
        <p:nvSpPr>
          <p:cNvPr id="16" name="Text 14"/>
          <p:cNvSpPr/>
          <p:nvPr/>
        </p:nvSpPr>
        <p:spPr>
          <a:xfrm>
            <a:off x="841248" y="4992624"/>
            <a:ext cx="10509199" cy="493776"/>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PlaceMate replaces the spreadsheet season with a system whose rules live in one place, whose offers are recorded as data, and whose decisions can be replayed from a log.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814"/>
        </a:solidFill>
      </p:bgPr>
    </p:bg>
    <p:spTree>
      <p:nvGrpSpPr>
        <p:cNvPr id="1" name=""/>
        <p:cNvGrpSpPr/>
        <p:nvPr/>
      </p:nvGrpSpPr>
      <p:grpSpPr>
        <a:xfrm>
          <a:off x="0" y="0"/>
          <a:ext cx="0" cy="0"/>
          <a:chOff x="0" y="0"/>
          <a:chExt cx="0" cy="0"/>
        </a:xfrm>
      </p:grpSpPr>
      <p:sp>
        <p:nvSpPr>
          <p:cNvPr id="2" name="Shape 0"/>
          <p:cNvSpPr/>
          <p:nvPr/>
        </p:nvSpPr>
        <p:spPr>
          <a:xfrm>
            <a:off x="7863840" y="-2011680"/>
            <a:ext cx="6400800" cy="6400800"/>
          </a:xfrm>
          <a:prstGeom prst="ellipse">
            <a:avLst/>
          </a:prstGeom>
          <a:solidFill>
            <a:srgbClr val="1B4632"/>
          </a:solidFill>
          <a:ln w="12700">
            <a:solidFill>
              <a:srgbClr val="1B4632"/>
            </a:solidFill>
            <a:prstDash val="solid"/>
          </a:ln>
        </p:spPr>
      </p:sp>
      <p:sp>
        <p:nvSpPr>
          <p:cNvPr id="3" name="Shape 1"/>
          <p:cNvSpPr/>
          <p:nvPr/>
        </p:nvSpPr>
        <p:spPr>
          <a:xfrm>
            <a:off x="9966960" y="3108960"/>
            <a:ext cx="4754880" cy="4754880"/>
          </a:xfrm>
          <a:prstGeom prst="ellipse">
            <a:avLst/>
          </a:prstGeom>
          <a:solidFill>
            <a:srgbClr val="16382A"/>
          </a:solidFill>
          <a:ln w="12700">
            <a:solidFill>
              <a:srgbClr val="16382A"/>
            </a:solidFill>
            <a:prstDash val="solid"/>
          </a:ln>
        </p:spPr>
      </p:sp>
      <p:sp>
        <p:nvSpPr>
          <p:cNvPr id="4" name="Text 2"/>
          <p:cNvSpPr/>
          <p:nvPr/>
        </p:nvSpPr>
        <p:spPr>
          <a:xfrm>
            <a:off x="566928" y="2103120"/>
            <a:ext cx="7315200" cy="859536"/>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566928" y="3017520"/>
            <a:ext cx="7315200" cy="384048"/>
          </a:xfrm>
          <a:prstGeom prst="rect">
            <a:avLst/>
          </a:prstGeom>
          <a:noFill/>
          <a:ln/>
        </p:spPr>
        <p:txBody>
          <a:bodyPr wrap="square" lIns="0" tIns="0" rIns="0" bIns="0" rtlCol="0" anchor="ctr"/>
          <a:lstStyle/>
          <a:p>
            <a:pPr indent="0" marL="0">
              <a:buNone/>
            </a:pPr>
            <a:r>
              <a:rPr lang="en-US" sz="1900" dirty="0">
                <a:solidFill>
                  <a:srgbClr val="D3EF4C"/>
                </a:solidFill>
                <a:latin typeface="Calibri" pitchFamily="34" charset="0"/>
                <a:ea typeface="Calibri" pitchFamily="34" charset="-122"/>
                <a:cs typeface="Calibri" pitchFamily="34" charset="-120"/>
              </a:rPr>
              <a:t>Questions and demonstration</a:t>
            </a:r>
            <a:endParaRPr lang="en-US" sz="1900" dirty="0"/>
          </a:p>
        </p:txBody>
      </p:sp>
      <p:sp>
        <p:nvSpPr>
          <p:cNvPr id="6" name="Text 4"/>
          <p:cNvSpPr/>
          <p:nvPr/>
        </p:nvSpPr>
        <p:spPr>
          <a:xfrm>
            <a:off x="566928" y="3675888"/>
            <a:ext cx="7680960" cy="1005840"/>
          </a:xfrm>
          <a:prstGeom prst="rect">
            <a:avLst/>
          </a:prstGeom>
          <a:noFill/>
          <a:ln/>
        </p:spPr>
        <p:txBody>
          <a:bodyPr wrap="square" lIns="0" tIns="0" rIns="0" bIns="0" rtlCol="0" anchor="ctr"/>
          <a:lstStyle/>
          <a:p>
            <a:pPr indent="0" marL="0">
              <a:lnSpc>
                <a:spcPts val="1900"/>
              </a:lnSpc>
              <a:buNone/>
            </a:pPr>
            <a:r>
              <a:rPr lang="en-US" sz="1250" dirty="0">
                <a:solidFill>
                  <a:srgbClr val="A8BDB2"/>
                </a:solidFill>
                <a:latin typeface="Calibri" pitchFamily="34" charset="0"/>
                <a:ea typeface="Calibri" pitchFamily="34" charset="-122"/>
                <a:cs typeface="Calibri" pitchFamily="34" charset="-120"/>
              </a:rPr>
              <a:t>Tushar Kumar  ·  Department of Computer Applications (BCA)</a:t>
            </a:r>
            <a:endParaRPr lang="en-US" sz="1250" dirty="0"/>
          </a:p>
          <a:p>
            <a:pPr indent="0" marL="0">
              <a:lnSpc>
                <a:spcPts val="1900"/>
              </a:lnSpc>
              <a:buNone/>
            </a:pPr>
            <a:r>
              <a:rPr lang="en-US" sz="1250" dirty="0">
                <a:solidFill>
                  <a:srgbClr val="A8BDB2"/>
                </a:solidFill>
                <a:latin typeface="Calibri" pitchFamily="34" charset="0"/>
                <a:ea typeface="Calibri" pitchFamily="34" charset="-122"/>
                <a:cs typeface="Calibri" pitchFamily="34" charset="-120"/>
              </a:rPr>
              <a:t>Maharaja Surajmal Institute, C-4 Janakpuri, New Delhi – 110058</a:t>
            </a:r>
            <a:endParaRPr lang="en-US" sz="1250" dirty="0"/>
          </a:p>
          <a:p>
            <a:pPr indent="0" marL="0">
              <a:lnSpc>
                <a:spcPts val="1900"/>
              </a:lnSpc>
              <a:buNone/>
            </a:pPr>
            <a:r>
              <a:rPr lang="en-US" sz="1250" dirty="0">
                <a:solidFill>
                  <a:srgbClr val="A8BDB2"/>
                </a:solidFill>
                <a:latin typeface="Calibri" pitchFamily="34" charset="0"/>
                <a:ea typeface="Calibri" pitchFamily="34" charset="-122"/>
                <a:cs typeface="Calibri" pitchFamily="34" charset="-120"/>
              </a:rPr>
              <a:t>Affiliated to Guru Gobind Singh Indraprastha University, Delhi</a:t>
            </a:r>
            <a:endParaRPr lang="en-US" sz="1250" dirty="0"/>
          </a:p>
        </p:txBody>
      </p:sp>
      <p:sp>
        <p:nvSpPr>
          <p:cNvPr id="7" name="Text 5"/>
          <p:cNvSpPr/>
          <p:nvPr/>
        </p:nvSpPr>
        <p:spPr>
          <a:xfrm>
            <a:off x="566928" y="4937760"/>
            <a:ext cx="7315200" cy="310896"/>
          </a:xfrm>
          <a:prstGeom prst="rect">
            <a:avLst/>
          </a:prstGeom>
          <a:noFill/>
          <a:ln/>
        </p:spPr>
        <p:txBody>
          <a:bodyPr wrap="square" lIns="0" tIns="0" rIns="0" bIns="0" rtlCol="0" anchor="ctr"/>
          <a:lstStyle/>
          <a:p>
            <a:pPr indent="0" marL="0">
              <a:buNone/>
            </a:pPr>
            <a:r>
              <a:rPr lang="en-US" sz="1200" i="1" dirty="0">
                <a:solidFill>
                  <a:srgbClr val="5C7A6B"/>
                </a:solidFill>
                <a:latin typeface="Calibri" pitchFamily="34" charset="0"/>
                <a:ea typeface="Calibri" pitchFamily="34" charset="-122"/>
                <a:cs typeface="Calibri" pitchFamily="34" charset="-120"/>
              </a:rPr>
              <a:t>A live walkthrough of both portals is available on request.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PlaceMate — Placement Cell Management System</dc:title>
  <dc:subject>BCA Major Project Presentation</dc:subject>
  <dc:creator>Tushar Kumar</dc:creator>
  <cp:lastModifiedBy>Tushar Kumar</cp:lastModifiedBy>
  <cp:revision>1</cp:revision>
  <dcterms:created xsi:type="dcterms:W3CDTF">2026-09-17T07:23:11Z</dcterms:created>
  <dcterms:modified xsi:type="dcterms:W3CDTF">2026-09-17T07:23:11Z</dcterms:modified>
</cp:coreProperties>
</file>